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0cc93cec-2a19-1f95-0b0c-bed178bf7326}">
          <p14:sldIdLst>
            <p14:sldId id="256"/>
            <p14:sldId id="257"/>
            <p14:sldId id="258"/>
            <p14:sldId id="259"/>
            <p14:sldId id="260"/>
          </p14:sldIdLst>
        </p14:section>
        <p14:section name="Data" id="{80b71e79-ce8a-d83c-03e3-7b5f7e25002c}">
          <p14:sldIdLst>
            <p14:sldId id="261"/>
            <p14:sldId id="262"/>
            <p14:sldId id="263"/>
          </p14:sldIdLst>
        </p14:section>
        <p14:section name="Design" id="{1007d14a-6b34-ce1f-e301-23d4d88b756d}">
          <p14:sldIdLst>
            <p14:sldId id="264"/>
          </p14:sldIdLst>
        </p14:section>
        <p14:section name="Fit with the labs" id="{521909f0-acc9-6d9e-70fe-6287b99ad653}">
          <p14:sldIdLst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C2733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C2733"/>
                </a:solidFill>
                <a:latin typeface="+mn-lt"/>
              </a:rPr>
              <a:t>Credit reporting, % of complaint texts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Credit reporting share</c:v>
                </c:pt>
              </c:strCache>
            </c:strRef>
          </c:tx>
          <c:spPr>
            <a:solidFill>
              <a:srgbClr val="2F6F8F"/>
            </a:solidFill>
            <a:ln w="31750" cap="flat">
              <a:solidFill>
                <a:srgbClr val="2F6F8F"/>
              </a:solidFill>
              <a:prstDash val="solid"/>
              <a:round/>
            </a:ln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C2733"/>
                    </a:solidFill>
                    <a:latin typeface="+mn-lt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F6F8F"/>
              </a:solidFill>
              <a:ln w="9525" cap="flat">
                <a:solidFill>
                  <a:srgbClr val="2F6F8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2015</c:v>
                  </c:pt>
                  <c:pt idx="1">
                    <c:v>2016</c:v>
                  </c:pt>
                  <c:pt idx="2">
                    <c:v>2017</c:v>
                  </c:pt>
                  <c:pt idx="3">
                    <c:v>2018</c:v>
                  </c:pt>
                  <c:pt idx="4">
                    <c:v>2019</c:v>
                  </c:pt>
                  <c:pt idx="5">
                    <c:v>2020</c:v>
                  </c:pt>
                  <c:pt idx="6">
                    <c:v>2021</c:v>
                  </c:pt>
                  <c:pt idx="7">
                    <c:v>2022</c:v>
                  </c:pt>
                  <c:pt idx="8">
                    <c:v>2023</c:v>
                  </c:pt>
                  <c:pt idx="9">
                    <c:v>2024</c:v>
                  </c:pt>
                  <c:pt idx="10">
                    <c:v>2025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18.8</c:v>
                </c:pt>
                <c:pt idx="1">
                  <c:v>19.4</c:v>
                </c:pt>
                <c:pt idx="2">
                  <c:v>36.9</c:v>
                </c:pt>
                <c:pt idx="3">
                  <c:v>41.4</c:v>
                </c:pt>
                <c:pt idx="4">
                  <c:v>46.9</c:v>
                </c:pt>
                <c:pt idx="5">
                  <c:v>55</c:v>
                </c:pt>
                <c:pt idx="6">
                  <c:v>53.6</c:v>
                </c:pt>
                <c:pt idx="7">
                  <c:v>69.3</c:v>
                </c:pt>
                <c:pt idx="8">
                  <c:v>71.4</c:v>
                </c:pt>
                <c:pt idx="9">
                  <c:v>77.4</c:v>
                </c:pt>
                <c:pt idx="10">
                  <c:v>74.7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b="0" i="0" strike="noStrike" sz="1000" u="none">
                  <a:solidFill>
                    <a:srgbClr val="1C2733"/>
                  </a:solidFill>
                  <a:latin typeface="+mn-lt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77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3E8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77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C2733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C2733"/>
                </a:solidFill>
                <a:latin typeface="+mn-lt"/>
              </a:rPr>
              <a:t>Complaints with text, % per month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 with text, %</c:v>
                </c:pt>
              </c:strCache>
            </c:strRef>
          </c:tx>
          <c:spPr>
            <a:solidFill>
              <a:srgbClr val="2F6F8F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C27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Sheet1!$A$2:$A$20</c:f>
              <c:multiLvlStrCache>
                <c:ptCount val="19"/>
                <c:lvl>
                  <c:pt idx="0">
                    <c:v>25/01</c:v>
                  </c:pt>
                  <c:pt idx="1">
                    <c:v>25/02</c:v>
                  </c:pt>
                  <c:pt idx="2">
                    <c:v>25/03</c:v>
                  </c:pt>
                  <c:pt idx="3">
                    <c:v>25/04</c:v>
                  </c:pt>
                  <c:pt idx="4">
                    <c:v>25/05</c:v>
                  </c:pt>
                  <c:pt idx="5">
                    <c:v>25/06</c:v>
                  </c:pt>
                  <c:pt idx="6">
                    <c:v>25/07</c:v>
                  </c:pt>
                  <c:pt idx="7">
                    <c:v>25/08</c:v>
                  </c:pt>
                  <c:pt idx="8">
                    <c:v>25/09</c:v>
                  </c:pt>
                  <c:pt idx="9">
                    <c:v>25/10</c:v>
                  </c:pt>
                  <c:pt idx="10">
                    <c:v>25/11</c:v>
                  </c:pt>
                  <c:pt idx="11">
                    <c:v>25/12</c:v>
                  </c:pt>
                  <c:pt idx="12">
                    <c:v>26/01</c:v>
                  </c:pt>
                  <c:pt idx="13">
                    <c:v>26/02</c:v>
                  </c:pt>
                  <c:pt idx="14">
                    <c:v>26/03</c:v>
                  </c:pt>
                  <c:pt idx="15">
                    <c:v>26/04</c:v>
                  </c:pt>
                  <c:pt idx="16">
                    <c:v>26/05</c:v>
                  </c:pt>
                  <c:pt idx="17">
                    <c:v>26/06</c:v>
                  </c:pt>
                  <c:pt idx="18">
                    <c:v>26/07</c:v>
                  </c:pt>
                </c:lvl>
              </c:multiLvlStrCache>
            </c:multiLvlStrRef>
          </c:cat>
          <c:val>
            <c:numRef>
              <c:f>Sheet1!$B$2:$B$20</c:f>
              <c:numCache>
                <c:formatCode>General</c:formatCode>
                <c:ptCount val="19"/>
                <c:pt idx="0">
                  <c:v>36.3</c:v>
                </c:pt>
                <c:pt idx="1">
                  <c:v>27.6</c:v>
                </c:pt>
                <c:pt idx="2">
                  <c:v>26.5</c:v>
                </c:pt>
                <c:pt idx="3">
                  <c:v>25.9</c:v>
                </c:pt>
                <c:pt idx="4">
                  <c:v>25.8</c:v>
                </c:pt>
                <c:pt idx="5">
                  <c:v>27.3</c:v>
                </c:pt>
                <c:pt idx="6">
                  <c:v>26.5</c:v>
                </c:pt>
                <c:pt idx="7">
                  <c:v>22</c:v>
                </c:pt>
                <c:pt idx="8">
                  <c:v>16.2</c:v>
                </c:pt>
                <c:pt idx="9">
                  <c:v>14.7</c:v>
                </c:pt>
                <c:pt idx="10">
                  <c:v>15.7</c:v>
                </c:pt>
                <c:pt idx="11">
                  <c:v>11</c:v>
                </c:pt>
                <c:pt idx="12">
                  <c:v>4.1</c:v>
                </c:pt>
                <c:pt idx="13">
                  <c:v>2.4</c:v>
                </c:pt>
                <c:pt idx="14">
                  <c:v>3.5</c:v>
                </c:pt>
                <c:pt idx="15">
                  <c:v>3.3</c:v>
                </c:pt>
                <c:pt idx="16">
                  <c:v>1</c:v>
                </c:pt>
                <c:pt idx="17">
                  <c:v>0.2</c:v>
                </c:pt>
                <c:pt idx="18">
                  <c:v>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900" u="none">
                  <a:solidFill>
                    <a:srgbClr val="1C27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77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0"/>
        </c:scaling>
        <c:delete val="0"/>
        <c:axPos val="l"/>
        <c:majorGridlines>
          <c:spPr>
            <a:ln w="6350" cap="flat">
              <a:solidFill>
                <a:srgbClr val="E3E8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77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C27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143000"/>
            <a:ext cx="804672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148840"/>
            <a:ext cx="73152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Overview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01168"/>
            <a:ext cx="822960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3" name="Text 0"/>
          <p:cNvSpPr/>
          <p:nvPr/>
        </p:nvSpPr>
        <p:spPr>
          <a:xfrm>
            <a:off x="45720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OVERVIEW  ·  complaint-router  ·  KSE MLOps Lab 1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7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Dat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01168"/>
            <a:ext cx="822960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3" name="Text 0"/>
          <p:cNvSpPr/>
          <p:nvPr/>
        </p:nvSpPr>
        <p:spPr>
          <a:xfrm>
            <a:off x="45720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DATA  ·  complaint-router  ·  KSE MLOps Lab 1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7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Desig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01168"/>
            <a:ext cx="822960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3" name="Text 0"/>
          <p:cNvSpPr/>
          <p:nvPr/>
        </p:nvSpPr>
        <p:spPr>
          <a:xfrm>
            <a:off x="45720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DESIGN  ·  complaint-router  ·  KSE MLOps Lab 1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7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Fit with the lab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01168"/>
            <a:ext cx="822960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3" name="Text 0"/>
          <p:cNvSpPr/>
          <p:nvPr/>
        </p:nvSpPr>
        <p:spPr>
          <a:xfrm>
            <a:off x="45720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FIT WITH THE LABS  ·  complaint-router  ·  KSE MLOps Lab 1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7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7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14300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complaint-router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1488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Routing consumer financial complaints to the right team, with a system that keeps learning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9260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KSE MLOps · Lab 1 · Zakhar Staryk · github.com/goodfrog33/kse-mlops-complaint-router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6576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18.5 M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1148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complaints in the CFPB database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3246120" y="36576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3.8 M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3246120" y="41148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with complaint text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943600" y="36576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10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5943600" y="41148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product queues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011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At a glance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4023360" cy="169164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0972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Problem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463040"/>
            <a:ext cx="3657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~21,000 complaints a day to the US regulator CFPB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Each must reach the team that owns the product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663440" y="960120"/>
            <a:ext cx="4023360" cy="169164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46320" y="10972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System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463040"/>
            <a:ext cx="3657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Predicts 1 of 10 product queues from the complaint text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Confident → auto-routed; otherwise → human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Retrained on drift, monitored before labels arrive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788920"/>
            <a:ext cx="4023360" cy="169164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29260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6"/>
                </a:solidFill>
              </a:rPr>
              <a:t>Data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291840"/>
            <a:ext cx="3657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CFPB Consumer Complaint Database (public)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3.8 M complaint texts, 2015–2025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Replayed month by month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63440" y="2788920"/>
            <a:ext cx="4023360" cy="169164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46320" y="29260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Fit with the 5 labs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3291840"/>
            <a:ext cx="3657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Yes: pipeline, LLM, serving and agent all have real material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Caveat: no new complaint text after 2025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7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011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Every complaint has to reach the team that owns it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325880"/>
            <a:ext cx="1828800" cy="82296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rgbClr val="D3DAE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4173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New complaint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7373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free text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286000" y="1737360"/>
            <a:ext cx="502920" cy="0"/>
          </a:xfrm>
          <a:prstGeom prst="line">
            <a:avLst/>
          </a:prstGeom>
          <a:noFill/>
          <a:ln w="15875">
            <a:solidFill>
              <a:srgbClr val="6B7785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788920" y="1188720"/>
            <a:ext cx="1920240" cy="1097280"/>
          </a:xfrm>
          <a:prstGeom prst="roundRect">
            <a:avLst>
              <a:gd name="adj" fmla="val 5000"/>
            </a:avLst>
          </a:prstGeom>
          <a:solidFill>
            <a:schemeClr val="accent2"/>
          </a:solidFill>
          <a:ln w="12700">
            <a:solidFill>
              <a:srgbClr val="2F6F8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926080" y="13258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complaint-router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2926080" y="164592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product + confidence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&lt; 0.3 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 flipV="1">
            <a:off x="4709160" y="1188720"/>
            <a:ext cx="502920" cy="320040"/>
          </a:xfrm>
          <a:prstGeom prst="line">
            <a:avLst/>
          </a:prstGeom>
          <a:noFill/>
          <a:ln w="15875">
            <a:solidFill>
              <a:srgbClr val="6B7785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709160" y="1965960"/>
            <a:ext cx="502920" cy="365760"/>
          </a:xfrm>
          <a:prstGeom prst="line">
            <a:avLst/>
          </a:prstGeom>
          <a:noFill/>
          <a:ln w="15875">
            <a:solidFill>
              <a:srgbClr val="6B7785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212080" y="914400"/>
            <a:ext cx="2011680" cy="50292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 w="19050">
            <a:solidFill>
              <a:srgbClr val="3F7D4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349240" y="9144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Team queue (auto)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212080" y="2103120"/>
            <a:ext cx="2011680" cy="50292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 w="19050">
            <a:solidFill>
              <a:srgbClr val="C9741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349240" y="21031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Human triage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154680"/>
            <a:ext cx="2606040" cy="132588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32918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~21,000 / day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37947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complaints in 2026 (measured)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246120" y="3154680"/>
            <a:ext cx="2606040" cy="132588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429000" y="32918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15 days</a:t>
            </a:r>
            <a:endParaRPr lang="en-US" sz="2400" dirty="0"/>
          </a:p>
        </p:txBody>
      </p:sp>
      <p:sp>
        <p:nvSpPr>
          <p:cNvPr id="21" name="Text 19"/>
          <p:cNvSpPr txBox="1"/>
          <p:nvPr/>
        </p:nvSpPr>
        <p:spPr>
          <a:xfrm>
            <a:off x="3429000" y="37947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response window per complaint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035040" y="3154680"/>
            <a:ext cx="2606040" cy="132588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217920" y="32918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Systematic</a:t>
            </a:r>
            <a:endParaRPr lang="en-US" sz="2400" dirty="0"/>
          </a:p>
        </p:txBody>
      </p:sp>
      <p:sp>
        <p:nvSpPr>
          <p:cNvPr id="24" name="Text 22"/>
          <p:cNvSpPr txBox="1"/>
          <p:nvPr/>
        </p:nvSpPr>
        <p:spPr>
          <a:xfrm>
            <a:off x="6217920" y="37947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errors hide until labels return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7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011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The data keeps moving, so a one-off notebook would decay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868680"/>
          <a:ext cx="484632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5440680" y="914400"/>
            <a:ext cx="3246120" cy="82296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596128" y="1005840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2 taxonomy changes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5596128" y="137160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2017-04 and 2023-08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440680" y="1847088"/>
            <a:ext cx="3246120" cy="82296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596128" y="1938528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19% → 77%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5596128" y="230428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credit reporting share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440680" y="2779776"/>
            <a:ext cx="3246120" cy="82296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596128" y="2871216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30× volume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5596128" y="3236976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0.17 M → 5.4 M a year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440680" y="3712464"/>
            <a:ext cx="3246120" cy="82296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596128" y="3803904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Text stopped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5596128" y="4169664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CFPB, 2026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7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011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Success is measured on three separate layers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2606040" cy="3611880"/>
          </a:xfrm>
          <a:prstGeom prst="roundRect">
            <a:avLst>
              <a:gd name="adj" fmla="val 2105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0972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Business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002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≤ 8%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0299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routed to the wrong queue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9718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≥ 60%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4015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routed without a human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46120" y="960120"/>
            <a:ext cx="2606040" cy="3611880"/>
          </a:xfrm>
          <a:prstGeom prst="roundRect">
            <a:avLst>
              <a:gd name="adj" fmla="val 2105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29000" y="10972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Model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16002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≥ 0.80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3429000" y="20299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macro-F1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429000" y="29718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≥ 0.95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3429000" y="34015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precision on auto-routed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035040" y="960120"/>
            <a:ext cx="2606040" cy="3611880"/>
          </a:xfrm>
          <a:prstGeom prst="roundRect">
            <a:avLst>
              <a:gd name="adj" fmla="val 2105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17920" y="10972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6"/>
                </a:solidFill>
              </a:rPr>
              <a:t>System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6217920" y="16002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≤ 300 ms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6217920" y="20299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p95 latency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217920" y="25603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≥ 99.5%</a:t>
            </a:r>
            <a:endParaRPr lang="en-US" sz="2600" dirty="0"/>
          </a:p>
        </p:txBody>
      </p:sp>
      <p:sp>
        <p:nvSpPr>
          <p:cNvPr id="20" name="Text 18"/>
          <p:cNvSpPr txBox="1"/>
          <p:nvPr/>
        </p:nvSpPr>
        <p:spPr>
          <a:xfrm>
            <a:off x="6217920" y="29900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availability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217920" y="35204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≤ 3 days</a:t>
            </a:r>
            <a:endParaRPr lang="en-US" sz="2600" dirty="0"/>
          </a:p>
        </p:txBody>
      </p:sp>
      <p:sp>
        <p:nvSpPr>
          <p:cNvPr id="22" name="Text 20"/>
          <p:cNvSpPr txBox="1"/>
          <p:nvPr/>
        </p:nvSpPr>
        <p:spPr>
          <a:xfrm>
            <a:off x="6217920" y="39502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data freshness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7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011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Data sample: one real complaint per class</a:t>
            </a:r>
            <a:endParaRPr lang="en-US" sz="2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86968"/>
          <a:ext cx="8229600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1188720"/>
                <a:gridCol w="53492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Class (label)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Company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Complaint text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2"/>
                          </a:solidFill>
                        </a:rPr>
                        <a:t>Checking or savings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KeyCorp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chemeClr val="tx1"/>
                          </a:solidFill>
                        </a:rPr>
                        <a:t>I am disputing a negative account reported by KeyBank that is blocking me from opening any bank accounts…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2"/>
                          </a:solidFill>
                        </a:rPr>
                        <a:t>Credit or prepaid card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Synchrony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chemeClr val="tx1"/>
                          </a:solidFill>
                        </a:rPr>
                        <a:t>I submitted proof of product return as requested. I received letters from Synchrony Bank…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2"/>
                          </a:solidFill>
                        </a:rPr>
                        <a:t>Credit reporting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TransUnion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chemeClr val="tx1"/>
                          </a:solidFill>
                        </a:rPr>
                        <a:t>The information listed below, which appears on my credit report, is the result of that…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2"/>
                          </a:solidFill>
                        </a:rPr>
                        <a:t>Debt collection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Experian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chemeClr val="tx1"/>
                          </a:solidFill>
                        </a:rPr>
                        <a:t>There are collection accounts on my report that I believe contain inaccurate information…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2"/>
                          </a:solidFill>
                        </a:rPr>
                        <a:t>Debt or credit mgmt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TransUnion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chemeClr val="tx1"/>
                          </a:solidFill>
                        </a:rPr>
                        <a:t>I requested proof of late payments. I requested the late payments be investigated…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2"/>
                          </a:solidFill>
                        </a:rPr>
                        <a:t>Money transfer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Block, Inc.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chemeClr val="tx1"/>
                          </a:solidFill>
                        </a:rPr>
                        <a:t>I contacted Cash app and they refuse to give my money back even after I showed proof it was a scam…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2"/>
                          </a:solidFill>
                        </a:rPr>
                        <a:t>Mortgage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Shellpoint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chemeClr val="tx1"/>
                          </a:solidFill>
                        </a:rPr>
                        <a:t>I have paid more than XXXX of my mortgage… but the Newrez refused to cancel my PMI payment…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2"/>
                          </a:solidFill>
                        </a:rPr>
                        <a:t>Payday / personal loan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Regional Mgmt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chemeClr val="tx1"/>
                          </a:solidFill>
                        </a:rPr>
                        <a:t>They changed the approved loan amount &amp; terms 3 different times…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2"/>
                          </a:solidFill>
                        </a:rPr>
                        <a:t>Student loan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MOHELA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chemeClr val="tx1"/>
                          </a:solidFill>
                        </a:rPr>
                        <a:t>Errors in loan balances, misapplied payments, and wrongful denials of repayment plans…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2"/>
                          </a:solidFill>
                        </a:rPr>
                        <a:t>Vehicle loan or lease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Ford Credit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chemeClr val="tx1"/>
                          </a:solidFill>
                        </a:rPr>
                        <a:t>I set this account up on autopay… for some reason it was not set…</a:t>
                      </a:r>
                      <a:endParaRPr lang="en-US" sz="11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7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011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3.8 M usable texts; CFPB stopped publishing text in 2026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868680"/>
          <a:ext cx="521208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5806440" y="914400"/>
            <a:ext cx="2880360" cy="1097280"/>
          </a:xfrm>
          <a:prstGeom prst="roundRect">
            <a:avLst>
              <a:gd name="adj" fmla="val 5000"/>
            </a:avLst>
          </a:prstGeom>
          <a:solidFill>
            <a:srgbClr val="E4EEF3"/>
          </a:solidFill>
          <a:ln w="9525">
            <a:solidFill>
              <a:srgbClr val="E4EEF3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989320" y="10058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</a:rPr>
              <a:t>3.8 M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5989320" y="15087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complaint texts, 2015–2025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806440" y="2148840"/>
            <a:ext cx="2880360" cy="1097280"/>
          </a:xfrm>
          <a:prstGeom prst="roundRect">
            <a:avLst>
              <a:gd name="adj" fmla="val 5000"/>
            </a:avLst>
          </a:prstGeom>
          <a:solidFill>
            <a:srgbClr val="FBEDEC"/>
          </a:solidFill>
          <a:ln w="9525">
            <a:solidFill>
              <a:srgbClr val="FBEDE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989320" y="22402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3"/>
                </a:solidFill>
              </a:rPr>
              <a:t>26% → 0%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5989320" y="27432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share with text, 2025-07 → 2026-07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806440" y="3383280"/>
            <a:ext cx="2880360" cy="123444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989320" y="34747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Design response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989320" y="37947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Snapshot text in DVC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Replay one month per run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7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011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The data passes all four checks the labs require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512064"/>
          </a:xfrm>
          <a:prstGeom prst="roundRect">
            <a:avLst>
              <a:gd name="adj" fmla="val 10714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051560"/>
            <a:ext cx="594360" cy="237744"/>
          </a:xfrm>
          <a:prstGeom prst="roundRect">
            <a:avLst>
              <a:gd name="adj" fmla="val 50000"/>
            </a:avLst>
          </a:prstGeom>
          <a:solidFill>
            <a:srgbClr val="3F7D4E"/>
          </a:solidFill>
          <a:ln w="6350">
            <a:solidFill>
              <a:srgbClr val="3F7D4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051560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PASS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02412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Time axis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3566160" y="102412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daily dates since 2011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517904"/>
            <a:ext cx="8229600" cy="512064"/>
          </a:xfrm>
          <a:prstGeom prst="roundRect">
            <a:avLst>
              <a:gd name="adj" fmla="val 10714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" y="1655064"/>
            <a:ext cx="594360" cy="237744"/>
          </a:xfrm>
          <a:prstGeom prst="roundRect">
            <a:avLst>
              <a:gd name="adj" fmla="val 50000"/>
            </a:avLst>
          </a:prstGeom>
          <a:solidFill>
            <a:srgbClr val="3F7D4E"/>
          </a:solidFill>
          <a:ln w="6350">
            <a:solidFill>
              <a:srgbClr val="3F7D4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1655064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PASS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162763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History to hold out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566160" y="162763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3.8 M texts; quarter-long val and test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121408"/>
            <a:ext cx="8229600" cy="512064"/>
          </a:xfrm>
          <a:prstGeom prst="roundRect">
            <a:avLst>
              <a:gd name="adj" fmla="val 10714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" y="2258568"/>
            <a:ext cx="594360" cy="237744"/>
          </a:xfrm>
          <a:prstGeom prst="roundRect">
            <a:avLst>
              <a:gd name="adj" fmla="val 50000"/>
            </a:avLst>
          </a:prstGeom>
          <a:solidFill>
            <a:srgbClr val="3F7D4E"/>
          </a:solidFill>
          <a:ln w="6350">
            <a:solidFill>
              <a:srgbClr val="3F7D4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94360" y="2258568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PASS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1371600" y="223113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Label delay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3566160" y="2231136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15 days (CFPB publication rule)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2724912"/>
            <a:ext cx="8229600" cy="512064"/>
          </a:xfrm>
          <a:prstGeom prst="roundRect">
            <a:avLst>
              <a:gd name="adj" fmla="val 10714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4360" y="2862072"/>
            <a:ext cx="594360" cy="237744"/>
          </a:xfrm>
          <a:prstGeom prst="roundRect">
            <a:avLst>
              <a:gd name="adj" fmla="val 50000"/>
            </a:avLst>
          </a:prstGeom>
          <a:solidFill>
            <a:srgbClr val="3F7D4E"/>
          </a:solidFill>
          <a:ln w="6350">
            <a:solidFill>
              <a:srgbClr val="3F7D4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94360" y="2862072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PASS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371600" y="28346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Text corpus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3566160" y="283464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narratives + Ask CFPB + eCFR regulations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3520440"/>
            <a:ext cx="4937760" cy="457200"/>
          </a:xfrm>
          <a:prstGeom prst="rect">
            <a:avLst/>
          </a:prstGeom>
          <a:solidFill>
            <a:srgbClr val="2F6F8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57200" y="35204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Train · 1.54 M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394960" y="3520440"/>
            <a:ext cx="617220" cy="457200"/>
          </a:xfrm>
          <a:prstGeom prst="rect">
            <a:avLst/>
          </a:prstGeom>
          <a:solidFill>
            <a:srgbClr val="C9741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394960" y="3520440"/>
            <a:ext cx="617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Val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012180" y="3520440"/>
            <a:ext cx="617220" cy="457200"/>
          </a:xfrm>
          <a:prstGeom prst="rect">
            <a:avLst/>
          </a:prstGeom>
          <a:solidFill>
            <a:srgbClr val="3F7D4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012180" y="3520440"/>
            <a:ext cx="617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Test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629400" y="3520440"/>
            <a:ext cx="2057400" cy="457200"/>
          </a:xfrm>
          <a:prstGeom prst="rect">
            <a:avLst/>
          </a:prstGeom>
          <a:solidFill>
            <a:srgbClr val="9AA6B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629400" y="35204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Replay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404164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2023-04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5394960" y="404164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2025-04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6629400" y="404164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2025-10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7955280" y="404164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2026-07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7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011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Data flow on the seven layers, with the three marks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1143000"/>
            <a:ext cx="1600200" cy="731520"/>
          </a:xfrm>
          <a:prstGeom prst="rect">
            <a:avLst/>
          </a:prstGeom>
          <a:solidFill>
            <a:schemeClr val="bg1"/>
          </a:solidFill>
          <a:ln w="12700">
            <a:solidFill>
              <a:srgbClr val="6B778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38912" y="1197864"/>
            <a:ext cx="14538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1 · Ingestion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38912" y="1490472"/>
            <a:ext cx="1453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Airflow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514600" y="1143000"/>
            <a:ext cx="1737360" cy="731520"/>
          </a:xfrm>
          <a:prstGeom prst="rect">
            <a:avLst/>
          </a:prstGeom>
          <a:solidFill>
            <a:schemeClr val="bg1"/>
          </a:solidFill>
          <a:ln w="12700">
            <a:solidFill>
              <a:srgbClr val="6B778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587752" y="1197864"/>
            <a:ext cx="15910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2 · Preprocessing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2587752" y="1490472"/>
            <a:ext cx="1591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taxonomy, PII mask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800600" y="1143000"/>
            <a:ext cx="2377440" cy="731520"/>
          </a:xfrm>
          <a:prstGeom prst="rect">
            <a:avLst/>
          </a:prstGeom>
          <a:solidFill>
            <a:schemeClr val="bg1"/>
          </a:solidFill>
          <a:ln w="12700">
            <a:solidFill>
              <a:srgbClr val="6B778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73752" y="1197864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3 · Feature store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873752" y="1463040"/>
            <a:ext cx="1069848" cy="329184"/>
          </a:xfrm>
          <a:prstGeom prst="rect">
            <a:avLst/>
          </a:prstGeom>
          <a:solidFill>
            <a:srgbClr val="E4EEF3"/>
          </a:solidFill>
          <a:ln w="12700">
            <a:solidFill>
              <a:srgbClr val="2F6F8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73752" y="1463040"/>
            <a:ext cx="1069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offline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035040" y="1463040"/>
            <a:ext cx="1069848" cy="329184"/>
          </a:xfrm>
          <a:prstGeom prst="rect">
            <a:avLst/>
          </a:prstGeom>
          <a:solidFill>
            <a:srgbClr val="E4EEF3"/>
          </a:solidFill>
          <a:ln w="12700">
            <a:solidFill>
              <a:srgbClr val="2F6F8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035040" y="1463040"/>
            <a:ext cx="1069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online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965960" y="1508760"/>
            <a:ext cx="45720" cy="0"/>
          </a:xfrm>
          <a:prstGeom prst="line">
            <a:avLst/>
          </a:prstGeom>
          <a:noFill/>
          <a:ln w="15875">
            <a:solidFill>
              <a:srgbClr val="6B778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468880" y="1508760"/>
            <a:ext cx="45720" cy="0"/>
          </a:xfrm>
          <a:prstGeom prst="line">
            <a:avLst/>
          </a:prstGeom>
          <a:noFill/>
          <a:ln w="15875">
            <a:solidFill>
              <a:srgbClr val="6B7785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2011680" y="1280160"/>
            <a:ext cx="457200" cy="457200"/>
          </a:xfrm>
          <a:prstGeom prst="ellipse">
            <a:avLst/>
          </a:prstGeom>
          <a:solidFill>
            <a:srgbClr val="FBF0E3"/>
          </a:solidFill>
          <a:ln w="25400">
            <a:solidFill>
              <a:srgbClr val="C9741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01168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accent1"/>
                </a:solidFill>
              </a:rPr>
              <a:t>DVC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645920" y="93268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accent1"/>
                </a:solidFill>
              </a:rPr>
              <a:t>VERSION POINT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251960" y="1508760"/>
            <a:ext cx="45720" cy="0"/>
          </a:xfrm>
          <a:prstGeom prst="line">
            <a:avLst/>
          </a:prstGeom>
          <a:noFill/>
          <a:ln w="15875">
            <a:solidFill>
              <a:srgbClr val="6B778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54880" y="1508760"/>
            <a:ext cx="45720" cy="0"/>
          </a:xfrm>
          <a:prstGeom prst="line">
            <a:avLst/>
          </a:prstGeom>
          <a:noFill/>
          <a:ln w="15875">
            <a:solidFill>
              <a:srgbClr val="6B7785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4297680" y="1280160"/>
            <a:ext cx="457200" cy="457200"/>
          </a:xfrm>
          <a:prstGeom prst="ellipse">
            <a:avLst/>
          </a:prstGeom>
          <a:solidFill>
            <a:srgbClr val="FBF0E3"/>
          </a:solidFill>
          <a:ln w="25400">
            <a:solidFill>
              <a:srgbClr val="C9741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29768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accent1"/>
                </a:solidFill>
              </a:rPr>
              <a:t>QG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3931920" y="93268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accent1"/>
                </a:solidFill>
              </a:rPr>
              <a:t>QUALITY GATE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440680" y="1965960"/>
            <a:ext cx="1143000" cy="256032"/>
          </a:xfrm>
          <a:prstGeom prst="roundRect">
            <a:avLst>
              <a:gd name="adj" fmla="val 50000"/>
            </a:avLst>
          </a:prstGeom>
          <a:solidFill>
            <a:srgbClr val="FBEDEC"/>
          </a:solidFill>
          <a:ln w="15875">
            <a:solidFill>
              <a:srgbClr val="B3261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440680" y="196596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accent3"/>
                </a:solidFill>
              </a:rPr>
              <a:t>TRAIN ≠ SERVE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65760" y="2514600"/>
            <a:ext cx="1600200" cy="731520"/>
          </a:xfrm>
          <a:prstGeom prst="rect">
            <a:avLst/>
          </a:prstGeom>
          <a:solidFill>
            <a:schemeClr val="bg1"/>
          </a:solidFill>
          <a:ln w="12700">
            <a:solidFill>
              <a:srgbClr val="6B7785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38912" y="2569464"/>
            <a:ext cx="14538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4 · Training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438912" y="2862072"/>
            <a:ext cx="1453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MLflow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514600" y="2514600"/>
            <a:ext cx="1737360" cy="731520"/>
          </a:xfrm>
          <a:prstGeom prst="rect">
            <a:avLst/>
          </a:prstGeom>
          <a:solidFill>
            <a:schemeClr val="bg1"/>
          </a:solidFill>
          <a:ln w="12700">
            <a:solidFill>
              <a:srgbClr val="6B7785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2587752" y="2569464"/>
            <a:ext cx="15910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5 · Registry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2587752" y="2862072"/>
            <a:ext cx="1591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@champion by human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800600" y="2514600"/>
            <a:ext cx="2377440" cy="731520"/>
          </a:xfrm>
          <a:prstGeom prst="rect">
            <a:avLst/>
          </a:prstGeom>
          <a:solidFill>
            <a:schemeClr val="bg1"/>
          </a:solidFill>
          <a:ln w="12700">
            <a:solidFill>
              <a:srgbClr val="6B7785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873752" y="2569464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6 · Inference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873752" y="2834640"/>
            <a:ext cx="1069848" cy="329184"/>
          </a:xfrm>
          <a:prstGeom prst="rect">
            <a:avLst/>
          </a:prstGeom>
          <a:solidFill>
            <a:srgbClr val="E4EEF3"/>
          </a:solidFill>
          <a:ln w="12700">
            <a:solidFill>
              <a:srgbClr val="2F6F8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873752" y="2834640"/>
            <a:ext cx="1069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batch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035040" y="2834640"/>
            <a:ext cx="1069848" cy="329184"/>
          </a:xfrm>
          <a:prstGeom prst="rect">
            <a:avLst/>
          </a:prstGeom>
          <a:solidFill>
            <a:schemeClr val="accent2"/>
          </a:solidFill>
          <a:ln w="12700">
            <a:solidFill>
              <a:srgbClr val="2F6F8F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035040" y="2834640"/>
            <a:ext cx="1069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real-time API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7680960" y="2514600"/>
            <a:ext cx="1097280" cy="731520"/>
          </a:xfrm>
          <a:prstGeom prst="rect">
            <a:avLst/>
          </a:prstGeom>
          <a:solidFill>
            <a:schemeClr val="bg1"/>
          </a:solidFill>
          <a:ln w="12700">
            <a:solidFill>
              <a:srgbClr val="6B7785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754112" y="2569464"/>
            <a:ext cx="9509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Triage desk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2514600" y="3703320"/>
            <a:ext cx="4663440" cy="731520"/>
          </a:xfrm>
          <a:prstGeom prst="rect">
            <a:avLst/>
          </a:prstGeom>
          <a:solidFill>
            <a:schemeClr val="bg1"/>
          </a:solidFill>
          <a:ln w="12700">
            <a:solidFill>
              <a:srgbClr val="6B7785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2587752" y="3758184"/>
            <a:ext cx="45171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7 · Monitoring and retraining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2587752" y="4050792"/>
            <a:ext cx="4517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Evidently drift · macro-F1 after 15 days · Grafana alerts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7680960" y="3703320"/>
            <a:ext cx="1097280" cy="731520"/>
          </a:xfrm>
          <a:prstGeom prst="rect">
            <a:avLst/>
          </a:prstGeom>
          <a:solidFill>
            <a:schemeClr val="bg1"/>
          </a:solidFill>
          <a:ln w="12700">
            <a:solidFill>
              <a:srgbClr val="6B7785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7754112" y="3758184"/>
            <a:ext cx="9509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Labels</a:t>
            </a:r>
            <a:endParaRPr lang="en-US" sz="1200" dirty="0"/>
          </a:p>
        </p:txBody>
      </p:sp>
      <p:sp>
        <p:nvSpPr>
          <p:cNvPr id="46" name="Text 44"/>
          <p:cNvSpPr txBox="1"/>
          <p:nvPr/>
        </p:nvSpPr>
        <p:spPr>
          <a:xfrm>
            <a:off x="7754112" y="4050792"/>
            <a:ext cx="9509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+15 days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413248" y="1792224"/>
            <a:ext cx="0" cy="356616"/>
          </a:xfrm>
          <a:prstGeom prst="line">
            <a:avLst/>
          </a:prstGeom>
          <a:noFill/>
          <a:ln w="15875">
            <a:solidFill>
              <a:srgbClr val="2F6F8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 flipH="1">
            <a:off x="1161288" y="2148840"/>
            <a:ext cx="4251960" cy="0"/>
          </a:xfrm>
          <a:prstGeom prst="line">
            <a:avLst/>
          </a:prstGeom>
          <a:noFill/>
          <a:ln w="15875">
            <a:solidFill>
              <a:srgbClr val="2F6F8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161288" y="2148840"/>
            <a:ext cx="0" cy="365760"/>
          </a:xfrm>
          <a:prstGeom prst="line">
            <a:avLst/>
          </a:prstGeom>
          <a:noFill/>
          <a:ln w="15875">
            <a:solidFill>
              <a:srgbClr val="2F6F8F"/>
            </a:solidFill>
            <a:prstDash val="solid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6565392" y="1792224"/>
            <a:ext cx="0" cy="1042416"/>
          </a:xfrm>
          <a:prstGeom prst="line">
            <a:avLst/>
          </a:prstGeom>
          <a:noFill/>
          <a:ln w="15875">
            <a:solidFill>
              <a:srgbClr val="2F6F8F"/>
            </a:solidFill>
            <a:prstDash val="solid"/>
            <a:tailEnd type="triangle"/>
          </a:ln>
        </p:spPr>
      </p:sp>
      <p:sp>
        <p:nvSpPr>
          <p:cNvPr id="51" name="Shape 49"/>
          <p:cNvSpPr/>
          <p:nvPr/>
        </p:nvSpPr>
        <p:spPr>
          <a:xfrm>
            <a:off x="1965960" y="2880360"/>
            <a:ext cx="548640" cy="0"/>
          </a:xfrm>
          <a:prstGeom prst="line">
            <a:avLst/>
          </a:prstGeom>
          <a:noFill/>
          <a:ln w="15875">
            <a:solidFill>
              <a:srgbClr val="6B7785"/>
            </a:solidFill>
            <a:prstDash val="solid"/>
            <a:tailEnd type="triangle"/>
          </a:ln>
        </p:spPr>
      </p:sp>
      <p:sp>
        <p:nvSpPr>
          <p:cNvPr id="52" name="Shape 50"/>
          <p:cNvSpPr/>
          <p:nvPr/>
        </p:nvSpPr>
        <p:spPr>
          <a:xfrm>
            <a:off x="4251960" y="2880360"/>
            <a:ext cx="548640" cy="0"/>
          </a:xfrm>
          <a:prstGeom prst="line">
            <a:avLst/>
          </a:prstGeom>
          <a:noFill/>
          <a:ln w="15875">
            <a:solidFill>
              <a:srgbClr val="6B7785"/>
            </a:solidFill>
            <a:prstDash val="solid"/>
            <a:tailEnd type="triangle"/>
          </a:ln>
        </p:spPr>
      </p:sp>
      <p:sp>
        <p:nvSpPr>
          <p:cNvPr id="53" name="Shape 51"/>
          <p:cNvSpPr/>
          <p:nvPr/>
        </p:nvSpPr>
        <p:spPr>
          <a:xfrm>
            <a:off x="7178040" y="2880360"/>
            <a:ext cx="502920" cy="0"/>
          </a:xfrm>
          <a:prstGeom prst="line">
            <a:avLst/>
          </a:prstGeom>
          <a:noFill/>
          <a:ln w="15875">
            <a:solidFill>
              <a:srgbClr val="6B7785"/>
            </a:solidFill>
            <a:prstDash val="solid"/>
            <a:tailEnd type="triangle"/>
          </a:ln>
        </p:spPr>
      </p:sp>
      <p:sp>
        <p:nvSpPr>
          <p:cNvPr id="54" name="Shape 52"/>
          <p:cNvSpPr/>
          <p:nvPr/>
        </p:nvSpPr>
        <p:spPr>
          <a:xfrm>
            <a:off x="5989320" y="3246120"/>
            <a:ext cx="0" cy="457200"/>
          </a:xfrm>
          <a:prstGeom prst="line">
            <a:avLst/>
          </a:prstGeom>
          <a:noFill/>
          <a:ln w="15875">
            <a:solidFill>
              <a:srgbClr val="6B7785"/>
            </a:solidFill>
            <a:prstDash val="solid"/>
            <a:tailEnd type="triangle"/>
          </a:ln>
        </p:spPr>
      </p:sp>
      <p:sp>
        <p:nvSpPr>
          <p:cNvPr id="55" name="Shape 53"/>
          <p:cNvSpPr/>
          <p:nvPr/>
        </p:nvSpPr>
        <p:spPr>
          <a:xfrm flipH="1">
            <a:off x="7178040" y="4069080"/>
            <a:ext cx="502920" cy="0"/>
          </a:xfrm>
          <a:prstGeom prst="line">
            <a:avLst/>
          </a:prstGeom>
          <a:noFill/>
          <a:ln w="15875">
            <a:solidFill>
              <a:srgbClr val="6B7785"/>
            </a:solidFill>
            <a:prstDash val="solid"/>
            <a:tailEnd type="triangle"/>
          </a:ln>
        </p:spPr>
      </p:sp>
      <p:sp>
        <p:nvSpPr>
          <p:cNvPr id="56" name="Shape 54"/>
          <p:cNvSpPr/>
          <p:nvPr/>
        </p:nvSpPr>
        <p:spPr>
          <a:xfrm flipH="1">
            <a:off x="1161288" y="4069080"/>
            <a:ext cx="1353312" cy="0"/>
          </a:xfrm>
          <a:prstGeom prst="line">
            <a:avLst/>
          </a:prstGeom>
          <a:noFill/>
          <a:ln w="15875">
            <a:solidFill>
              <a:srgbClr val="C9741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 flipV="1">
            <a:off x="1161288" y="3246120"/>
            <a:ext cx="0" cy="822960"/>
          </a:xfrm>
          <a:prstGeom prst="line">
            <a:avLst/>
          </a:prstGeom>
          <a:noFill/>
          <a:ln w="15875">
            <a:solidFill>
              <a:srgbClr val="C9741F"/>
            </a:solidFill>
            <a:prstDash val="solid"/>
            <a:tailEnd type="triangle"/>
          </a:ln>
        </p:spPr>
      </p:sp>
      <p:sp>
        <p:nvSpPr>
          <p:cNvPr id="58" name="Text 56"/>
          <p:cNvSpPr txBox="1"/>
          <p:nvPr/>
        </p:nvSpPr>
        <p:spPr>
          <a:xfrm>
            <a:off x="1234440" y="379476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1"/>
                </a:solidFill>
              </a:rPr>
              <a:t>retrain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7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011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This project carries all five labs</a:t>
            </a:r>
            <a:endParaRPr lang="en-US" sz="2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2148840"/>
                <a:gridCol w="3840480"/>
                <a:gridCol w="6400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Lab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Needs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This project provides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Fit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1 · Design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design + data justification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design.md, data profile, sample, CI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4"/>
                          </a:solidFill>
                        </a:rPr>
                        <a:t>Done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 · Data + MLflow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batches, held-out period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monthly replay of 3.8 M texts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4"/>
                          </a:solidFill>
                        </a:rPr>
                        <a:t>Fits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 · LLM + retrieval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LLM baseline, corpus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zero-shot LLM vs TF-IDF; Ask CFPB + eCFR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4"/>
                          </a:solidFill>
                        </a:rPr>
                        <a:t>Fits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 · Serving + drift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servable model, real drift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FastAPI; 2023 taxonomy change, volume surge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4"/>
                          </a:solidFill>
                        </a:rPr>
                        <a:t>Fits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5 · Agent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tasks to automate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drift review, model comparison, promotion note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4"/>
                          </a:solidFill>
                        </a:rPr>
                        <a:t>Fits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57200" y="3931920"/>
            <a:ext cx="8229600" cy="594360"/>
          </a:xfrm>
          <a:prstGeom prst="roundRect">
            <a:avLst>
              <a:gd name="adj" fmla="val 9231"/>
            </a:avLst>
          </a:prstGeom>
          <a:solidFill>
            <a:srgbClr val="FBF0E3"/>
          </a:solidFill>
          <a:ln w="9525">
            <a:solidFill>
              <a:srgbClr val="FBF0E3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40080" y="393192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Caveat: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no new complaint text after 2025, so new batches are replayed history.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7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mplaint Router">
  <a:themeElements>
    <a:clrScheme name="Complaint Router">
      <a:dk1>
        <a:srgbClr val="1C2733"/>
      </a:dk1>
      <a:lt1>
        <a:srgbClr val="FFFFFF"/>
      </a:lt1>
      <a:dk2>
        <a:srgbClr val="2A3B4D"/>
      </a:dk2>
      <a:lt2>
        <a:srgbClr val="F1F4F7"/>
      </a:lt2>
      <a:accent1>
        <a:srgbClr val="C9741F"/>
      </a:accent1>
      <a:accent2>
        <a:srgbClr val="2F6F8F"/>
      </a:accent2>
      <a:accent3>
        <a:srgbClr val="B3261E"/>
      </a:accent3>
      <a:accent4>
        <a:srgbClr val="3F7D4E"/>
      </a:accent4>
      <a:accent5>
        <a:srgbClr val="6B7785"/>
      </a:accent5>
      <a:accent6>
        <a:srgbClr val="6E5A8C"/>
      </a:accent6>
      <a:hlink>
        <a:srgbClr val="2F6F8F"/>
      </a:hlink>
      <a:folHlink>
        <a:srgbClr val="6E5A8C"/>
      </a:folHlink>
    </a:clrScheme>
    <a:fontScheme name="Complaint Router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complaint-router: Lab 1 use case and system design</dc:title>
  <dc:subject>PptxGenJS Presentation</dc:subject>
  <dc:creator>Zakhar Staryk</dc:creator>
  <cp:lastModifiedBy>Zakhar Staryk</cp:lastModifiedBy>
  <cp:revision>1</cp:revision>
  <dcterms:created xsi:type="dcterms:W3CDTF">2026-10-17T18:30:38Z</dcterms:created>
  <dcterms:modified xsi:type="dcterms:W3CDTF">2026-10-17T18:30:38Z</dcterms:modified>
</cp:coreProperties>
</file>