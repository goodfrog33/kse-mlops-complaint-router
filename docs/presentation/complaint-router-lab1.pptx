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2a39de7-3431-9314-fb96-a70e726b286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Data" id="{87a605dd-3148-1735-522c-d0c26a870af4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esign" id="{b225b9ce-6970-37c7-f72e-db237871e049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Fit with the labs" id="{90932658-6d31-6ad8-6bad-0004b3c751b7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Credit reporting, % of complaint texts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Credit reporting share</c:v>
                </c:pt>
              </c:strCache>
            </c:strRef>
          </c:tx>
          <c:spPr>
            <a:solidFill>
              <a:srgbClr val="2F6F8F"/>
            </a:solidFill>
            <a:ln w="31750" cap="flat">
              <a:solidFill>
                <a:srgbClr val="2F6F8F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6F8F"/>
              </a:solidFill>
              <a:ln w="9525" cap="flat">
                <a:solidFill>
                  <a:srgbClr val="2F6F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18.8</c:v>
                </c:pt>
                <c:pt idx="1">
                  <c:v>19.4</c:v>
                </c:pt>
                <c:pt idx="2">
                  <c:v>36.9</c:v>
                </c:pt>
                <c:pt idx="3">
                  <c:v>41.4</c:v>
                </c:pt>
                <c:pt idx="4">
                  <c:v>46.9</c:v>
                </c:pt>
                <c:pt idx="5">
                  <c:v>55</c:v>
                </c:pt>
                <c:pt idx="6">
                  <c:v>53.6</c:v>
                </c:pt>
                <c:pt idx="7">
                  <c:v>69.3</c:v>
                </c:pt>
                <c:pt idx="8">
                  <c:v>71.4</c:v>
                </c:pt>
                <c:pt idx="9">
                  <c:v>77.4</c:v>
                </c:pt>
                <c:pt idx="10">
                  <c:v>74.7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Complaints per year,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text</c:v>
                </c:pt>
              </c:strCache>
            </c:strRef>
          </c:tx>
          <c:spPr>
            <a:solidFill>
              <a:srgbClr val="2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0.05</c:v>
                </c:pt>
                <c:pt idx="1">
                  <c:v>0.08</c:v>
                </c:pt>
                <c:pt idx="2">
                  <c:v>0.12</c:v>
                </c:pt>
                <c:pt idx="3">
                  <c:v>0.12</c:v>
                </c:pt>
                <c:pt idx="4">
                  <c:v>0.12</c:v>
                </c:pt>
                <c:pt idx="5">
                  <c:v>0.17</c:v>
                </c:pt>
                <c:pt idx="6">
                  <c:v>0.2</c:v>
                </c:pt>
                <c:pt idx="7">
                  <c:v>0.34</c:v>
                </c:pt>
                <c:pt idx="8">
                  <c:v>0.44</c:v>
                </c:pt>
                <c:pt idx="9">
                  <c:v>0.81</c:v>
                </c:pt>
                <c:pt idx="10">
                  <c:v>1.22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text</c:v>
                </c:pt>
              </c:strCache>
            </c:strRef>
          </c:tx>
          <c:spPr>
            <a:solidFill>
              <a:srgbClr val="C9D3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0.11</c:v>
                </c:pt>
                <c:pt idx="1">
                  <c:v>0.11</c:v>
                </c:pt>
                <c:pt idx="2">
                  <c:v>0.13</c:v>
                </c:pt>
                <c:pt idx="3">
                  <c:v>0.14</c:v>
                </c:pt>
                <c:pt idx="4">
                  <c:v>0.15</c:v>
                </c:pt>
                <c:pt idx="5">
                  <c:v>0.27</c:v>
                </c:pt>
                <c:pt idx="6">
                  <c:v>0.29</c:v>
                </c:pt>
                <c:pt idx="7">
                  <c:v>0.46</c:v>
                </c:pt>
                <c:pt idx="8">
                  <c:v>0.73</c:v>
                </c:pt>
                <c:pt idx="9">
                  <c:v>1.92</c:v>
                </c:pt>
                <c:pt idx="10">
                  <c:v>4.22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7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Complaints with text, %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with text, %</c:v>
                </c:pt>
              </c:strCache>
            </c:strRef>
          </c:tx>
          <c:spPr>
            <a:solidFill>
              <a:srgbClr val="2F6F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25/01</c:v>
                  </c:pt>
                  <c:pt idx="1">
                    <c:v>25/02</c:v>
                  </c:pt>
                  <c:pt idx="2">
                    <c:v>25/03</c:v>
                  </c:pt>
                  <c:pt idx="3">
                    <c:v>25/04</c:v>
                  </c:pt>
                  <c:pt idx="4">
                    <c:v>25/05</c:v>
                  </c:pt>
                  <c:pt idx="5">
                    <c:v>25/06</c:v>
                  </c:pt>
                  <c:pt idx="6">
                    <c:v>25/07</c:v>
                  </c:pt>
                  <c:pt idx="7">
                    <c:v>25/08</c:v>
                  </c:pt>
                  <c:pt idx="8">
                    <c:v>25/09</c:v>
                  </c:pt>
                  <c:pt idx="9">
                    <c:v>25/10</c:v>
                  </c:pt>
                  <c:pt idx="10">
                    <c:v>25/11</c:v>
                  </c:pt>
                  <c:pt idx="11">
                    <c:v>25/12</c:v>
                  </c:pt>
                  <c:pt idx="12">
                    <c:v>26/01</c:v>
                  </c:pt>
                  <c:pt idx="13">
                    <c:v>26/02</c:v>
                  </c:pt>
                  <c:pt idx="14">
                    <c:v>26/03</c:v>
                  </c:pt>
                  <c:pt idx="15">
                    <c:v>26/04</c:v>
                  </c:pt>
                  <c:pt idx="16">
                    <c:v>26/05</c:v>
                  </c:pt>
                  <c:pt idx="17">
                    <c:v>26/06</c:v>
                  </c:pt>
                  <c:pt idx="18">
                    <c:v>26/07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36.3</c:v>
                </c:pt>
                <c:pt idx="1">
                  <c:v>27.6</c:v>
                </c:pt>
                <c:pt idx="2">
                  <c:v>26.5</c:v>
                </c:pt>
                <c:pt idx="3">
                  <c:v>25.9</c:v>
                </c:pt>
                <c:pt idx="4">
                  <c:v>25.8</c:v>
                </c:pt>
                <c:pt idx="5">
                  <c:v>27.3</c:v>
                </c:pt>
                <c:pt idx="6">
                  <c:v>26.5</c:v>
                </c:pt>
                <c:pt idx="7">
                  <c:v>22</c:v>
                </c:pt>
                <c:pt idx="8">
                  <c:v>16.2</c:v>
                </c:pt>
                <c:pt idx="9">
                  <c:v>14.7</c:v>
                </c:pt>
                <c:pt idx="10">
                  <c:v>15.7</c:v>
                </c:pt>
                <c:pt idx="11">
                  <c:v>11</c:v>
                </c:pt>
                <c:pt idx="12">
                  <c:v>4.1</c:v>
                </c:pt>
                <c:pt idx="13">
                  <c:v>2.4</c:v>
                </c:pt>
                <c:pt idx="14">
                  <c:v>3.5</c:v>
                </c:pt>
                <c:pt idx="15">
                  <c:v>3.3</c:v>
                </c:pt>
                <c:pt idx="16">
                  <c:v>1</c:v>
                </c:pt>
                <c:pt idx="17">
                  <c:v>0.2</c:v>
                </c:pt>
                <c:pt idx="18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7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733"/>
                </a:solidFill>
                <a:latin typeface="+mn-lt"/>
              </a:rPr>
              <a:t>% of 1.54 M training texts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2F6F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Debt or credit management</c:v>
                  </c:pt>
                  <c:pt idx="1">
                    <c:v>Payday title and personal loan</c:v>
                  </c:pt>
                  <c:pt idx="2">
                    <c:v>Vehicle loan or lease</c:v>
                  </c:pt>
                  <c:pt idx="3">
                    <c:v>Student loan</c:v>
                  </c:pt>
                  <c:pt idx="4">
                    <c:v>Mortgage</c:v>
                  </c:pt>
                  <c:pt idx="5">
                    <c:v>Money transfer and virtual currency</c:v>
                  </c:pt>
                  <c:pt idx="6">
                    <c:v>Checking or savings</c:v>
                  </c:pt>
                  <c:pt idx="7">
                    <c:v>Credit or prepaid card</c:v>
                  </c:pt>
                  <c:pt idx="8">
                    <c:v>Debt collection</c:v>
                  </c:pt>
                  <c:pt idx="9">
                    <c:v>Credit reporting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0.2</c:v>
                </c:pt>
                <c:pt idx="1">
                  <c:v>0.6</c:v>
                </c:pt>
                <c:pt idx="2">
                  <c:v>1</c:v>
                </c:pt>
                <c:pt idx="3">
                  <c:v>1.1</c:v>
                </c:pt>
                <c:pt idx="4">
                  <c:v>1.6</c:v>
                </c:pt>
                <c:pt idx="5">
                  <c:v>4.2</c:v>
                </c:pt>
                <c:pt idx="6">
                  <c:v>4.4</c:v>
                </c:pt>
                <c:pt idx="7">
                  <c:v>5</c:v>
                </c:pt>
                <c:pt idx="8">
                  <c:v>7.7</c:v>
                </c:pt>
                <c:pt idx="9">
                  <c:v>74.2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C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OVERVIEW  ·  complaint-router  ·  KSE MLOps Lab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t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DATA  ·  complaint-router  ·  KSE MLOps Lab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esig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DESIGN  ·  complaint-router  ·  KSE MLOps Lab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Fit with the lab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FIT WITH THE LABS  ·  complaint-router  ·  KSE MLOps Lab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complaint-router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Routing consumer financial complaints to the right team, with a system that keeps learning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KSE MLOps · Lab 1 · Zakhar Staryk · github.com/goodfrog33/kse-mlops-complaint-router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18.5 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complaints in the CFPB database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3.8 M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with complaint text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3657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product queues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~21,000 complaints a day to the US regulator CFPB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must reach the team that owns the product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System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Predicts 1 of 10 product queues from the complaint text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Confident → auto-routed; otherwise → human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Retrained on drift, monitored before labels arrive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918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CFPB Consumer Complaint Database (public)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3.8 M complaint texts, 2015–2025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Replayed month by month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Fit with the 5 labs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918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Yes: pipeline, LLM, serving and agent all have real material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Caveat: no new complaint text after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Every complaint has to reach the team that owns 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182880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complaint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free text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1737360"/>
            <a:ext cx="5029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88920" y="1188720"/>
            <a:ext cx="1920240" cy="109728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3258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complaint-router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6459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product + confidence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&lt; 0.3 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V="1">
            <a:off x="4709160" y="1188720"/>
            <a:ext cx="502920" cy="32004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09160" y="1965960"/>
            <a:ext cx="502920" cy="36576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12080" y="914400"/>
            <a:ext cx="201168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9050">
            <a:solidFill>
              <a:srgbClr val="3F7D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914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Team queue (auto)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103120"/>
            <a:ext cx="201168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9050">
            <a:solidFill>
              <a:srgbClr val="C974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49240" y="2103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Human triage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260604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~21,000 / day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complaints in 2026 (measured)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46120" y="3154680"/>
            <a:ext cx="260604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15 days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response window per complaint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0" y="3154680"/>
            <a:ext cx="260604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Systematic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errors hide until labels return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data keeps moving, so a one-off notebook would decay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48463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440680" y="914400"/>
            <a:ext cx="324612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596128" y="1005840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 taxonomy changes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596128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2017-04 and 2023-08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40680" y="1847088"/>
            <a:ext cx="324612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596128" y="1938528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19% → 77%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596128" y="23042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credit reporting share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40680" y="2779776"/>
            <a:ext cx="324612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96128" y="2871216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30× volume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596128" y="323697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0.17 M → 5.4 M a year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40680" y="3712464"/>
            <a:ext cx="3246120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6128" y="380390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Text stopped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596128" y="416966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CFPB,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Success is measured on three separate layers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606040" cy="3611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Business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≤ 8%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29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routed to the wrong queue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≥ 60%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routed without a human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611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≥ 0.80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29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macro-F1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≥ 0.95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on auto-routed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960120"/>
            <a:ext cx="2606040" cy="3611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System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≤ 300 ms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29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p95 latency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≥ 99.5%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990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availability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520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≤ 3 days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950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 freshness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Every non-functional requirement carries a number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Requirement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Freshness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data ≤ 3 days · labels after 15 days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Latency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p95 ≤ 300 ms · 20 req/s per replica (need ~2.5)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≥ 99.5% · fallback to human queue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Reproducibility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 = commit + DVC version + params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Adaptability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monthly and alert-triggered retraining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No-label observability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input, prediction, confidence drift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Resources, cost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GB Minikube · ≤ $800/month in cloud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80760" y="91440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Conflict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Freshness vs reproducibility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Reproducibility wins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80760" y="269748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63640" y="2834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Conflict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Precision vs coverage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3749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Precision wins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raw row and the role of each field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Field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Value (complaint 11425997)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Date received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2025-01-07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time split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Product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Mortgage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LABEL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Narrative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“Property Taxes in Escrow did not get paid to my village by the due date…”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MAIN FEATURE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Company · State · Channel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Shellpoint Partners, LLC · WI · Web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features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Date sent to company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2025-01-07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excluded: leakage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Company response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Closed with explanation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excluded: leakage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Complaint 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11425997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join key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Data sample: one real complaint per class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86968"/>
          <a:ext cx="8229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188720"/>
                <a:gridCol w="5349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Class (label)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Complaint text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Checking or savings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KeyCorp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am disputing a negative account reported by KeyBank that is blocking me from opening any bank accounts…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Credit or prepaid card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Synchrony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submitted proof of product return as requested. I received letters from Synchrony Bank…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Credit reporting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TransUnion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The information listed below, which appears on my credit report, is the result of that…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Debt collection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Experian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There are collection accounts on my report that I believe contain inaccurate information…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Debt or credit mgmt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TransUnion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requested proof of late payments. I requested the late payments be investigated…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Money transfer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Block, Inc.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contacted Cash app and they refuse to give my money back even after I showed proof it was a scam…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Mortgage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Shellpoint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have paid more than XXXX of my mortgage… but the Newrez refused to cancel my PMI payment…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Payday / personal loan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Regional Mgmt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They changed the approved loan amount &amp; terms 3 different times…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Student loan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MOHELA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Errors in loan balances, misapplied payments, and wrongful denials of repayment plans…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Vehicle loan or lease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Ford Credit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chemeClr val="tx1"/>
                          </a:solidFill>
                        </a:rPr>
                        <a:t>I set this account up on autopay… for some reason it was not set…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3.8 million complaints with text, 2015–2025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16.6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55080" y="1508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complaints in the snapshot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3.8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with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3200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1.5 M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 the training window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Finding: CFPB stopped publishing complaint text in 2026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212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914400"/>
            <a:ext cx="2880360" cy="1600200"/>
          </a:xfrm>
          <a:prstGeom prst="roundRect">
            <a:avLst>
              <a:gd name="adj" fmla="val 3429"/>
            </a:avLst>
          </a:prstGeom>
          <a:solidFill>
            <a:srgbClr val="FBEDEC"/>
          </a:solidFill>
          <a:ln w="9525">
            <a:solidFill>
              <a:srgbClr val="FBED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89320" y="1051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26% → 0%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6002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complaints with text,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2025-07 → 2026-07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806440" y="2651760"/>
            <a:ext cx="2880360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2788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Design response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89320" y="315468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Snapshot text in DVC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Replay one month per run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Quality gate catches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label set changed twice; a versioned map absorbs 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011680" cy="274320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2011 – 2017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Credit reporting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Bank account or service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Consumer Loan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960120"/>
            <a:ext cx="2011680" cy="274320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097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2017 – 2023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55448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Credit reporting, credit repair services…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Credit card or prepaid card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Checking or savings account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2011680" cy="274320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097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2023 – today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554480"/>
            <a:ext cx="1783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Credit reporting or other personal consumer reports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Debt or credit management (new)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2331720"/>
            <a:ext cx="274320" cy="0"/>
          </a:xfrm>
          <a:prstGeom prst="line">
            <a:avLst/>
          </a:prstGeom>
          <a:noFill/>
          <a:ln w="2540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69480" y="960120"/>
            <a:ext cx="1417320" cy="2743200"/>
          </a:xfrm>
          <a:prstGeom prst="roundRect">
            <a:avLst>
              <a:gd name="adj" fmla="val 3871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1600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20 → 10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148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 names → stable classes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063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taxonomy_map.csv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Training texts are heavily imbalanced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263640" y="960120"/>
            <a:ext cx="242316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46520" y="10972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Macro-F1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main metric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63640" y="2176272"/>
            <a:ext cx="242316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46520" y="2313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Class weights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27249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 training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3392424"/>
            <a:ext cx="2423160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Recall guard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9410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≤ 3 pp loss per class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Labels are noisy: real examples from the sample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2471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247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Labelled: Debt collection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“My credit report shows collection accounts that I believe include inaccurate information…” (to TransUnion)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12471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247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Labelled: Debt or credit management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“I requested proof of late payments… TransUnion has not sent proof…” (to TransUnion)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1508760"/>
          </a:xfrm>
          <a:prstGeom prst="roundRect">
            <a:avLst>
              <a:gd name="adj" fmla="val 3636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Both are really about a credit report.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118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Lab 2: hand-label 200 rows to measure noise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Human overrides beat CFPB labels; model predictions are never labels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data passes all four checks the labs require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51560"/>
            <a:ext cx="594360" cy="237744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5156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PASS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0241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Time axis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024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daily dates since 2011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17904"/>
            <a:ext cx="822960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55064"/>
            <a:ext cx="594360" cy="237744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55064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PASS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6276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History to hold out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627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3.8 M texts; quarter-long val and test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822960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58568"/>
            <a:ext cx="594360" cy="237744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5856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PASS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231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Label delay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2311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 days (CFPB publication rule)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724912"/>
            <a:ext cx="822960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862072"/>
            <a:ext cx="594360" cy="237744"/>
          </a:xfrm>
          <a:prstGeom prst="roundRect">
            <a:avLst>
              <a:gd name="adj" fmla="val 50000"/>
            </a:avLst>
          </a:prstGeom>
          <a:solidFill>
            <a:srgbClr val="3F7D4E"/>
          </a:solidFill>
          <a:ln w="6350">
            <a:solidFill>
              <a:srgbClr val="3F7D4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8620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PASS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Text corpus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2834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narratives + Ask CFPB + eCFR regulations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520440"/>
            <a:ext cx="4937760" cy="457200"/>
          </a:xfrm>
          <a:prstGeom prst="rect">
            <a:avLst/>
          </a:prstGeom>
          <a:solidFill>
            <a:srgbClr val="2F6F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Train · 1.54 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94960" y="3520440"/>
            <a:ext cx="617220" cy="457200"/>
          </a:xfrm>
          <a:prstGeom prst="rect">
            <a:avLst/>
          </a:prstGeom>
          <a:solidFill>
            <a:srgbClr val="C974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3520440"/>
            <a:ext cx="617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12180" y="3520440"/>
            <a:ext cx="617220" cy="457200"/>
          </a:xfrm>
          <a:prstGeom prst="rect">
            <a:avLst/>
          </a:prstGeom>
          <a:solidFill>
            <a:srgbClr val="3F7D4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12180" y="3520440"/>
            <a:ext cx="617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29400" y="3520440"/>
            <a:ext cx="2057400" cy="457200"/>
          </a:xfrm>
          <a:prstGeom prst="rect">
            <a:avLst/>
          </a:prstGeom>
          <a:solidFill>
            <a:srgbClr val="9AA6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3520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Replay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416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2023-04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40416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2025-04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0416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2025-10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0416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2026-07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System context: one box, every external party around 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CFPB database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94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Labels (+15 days)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383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CFPB + eCFR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9000" y="1371600"/>
            <a:ext cx="2286000" cy="2194560"/>
          </a:xfrm>
          <a:prstGeom prst="roundRect">
            <a:avLst>
              <a:gd name="adj" fmla="val 2500"/>
            </a:avLst>
          </a:prstGeom>
          <a:solidFill>
            <a:schemeClr val="accent2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complaint-router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560320" y="1344168"/>
            <a:ext cx="868680" cy="393192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2560320" y="2468880"/>
            <a:ext cx="868680" cy="64008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2560320" y="3200400"/>
            <a:ext cx="868680" cy="521208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83680" y="100584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Intake channel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0" y="219456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2194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Triage desk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0" y="3383280"/>
            <a:ext cx="21031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3DA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3383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ML on-call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35240" y="1691640"/>
            <a:ext cx="0" cy="50292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5715000" y="2240280"/>
            <a:ext cx="868680" cy="155448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76072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POST /predict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715000" y="2743200"/>
            <a:ext cx="86868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760720" y="27889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prediction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15000" y="3291840"/>
            <a:ext cx="868680" cy="429768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989320" y="3611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alerts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Data flow on the seven layers, with the three marks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143000"/>
            <a:ext cx="160020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119786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 · Ingestion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1490472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Airflow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14600" y="1143000"/>
            <a:ext cx="173736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87752" y="1197864"/>
            <a:ext cx="1591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· Preprocessing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87752" y="1490472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taxonomy, PII mask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143000"/>
            <a:ext cx="237744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3752" y="119786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· Feature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73752" y="1463040"/>
            <a:ext cx="1069848" cy="329184"/>
          </a:xfrm>
          <a:prstGeom prst="rect">
            <a:avLst/>
          </a:prstGeom>
          <a:solidFill>
            <a:srgbClr val="E4EEF3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3752" y="1463040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offline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463040"/>
            <a:ext cx="1069848" cy="329184"/>
          </a:xfrm>
          <a:prstGeom prst="rect">
            <a:avLst/>
          </a:prstGeom>
          <a:solidFill>
            <a:srgbClr val="E4EEF3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1463040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online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65960" y="1508760"/>
            <a:ext cx="457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68880" y="1508760"/>
            <a:ext cx="457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011680" y="1280160"/>
            <a:ext cx="457200" cy="457200"/>
          </a:xfrm>
          <a:prstGeom prst="ellipse">
            <a:avLst/>
          </a:prstGeom>
          <a:solidFill>
            <a:srgbClr val="FBF0E3"/>
          </a:solidFill>
          <a:ln w="25400">
            <a:solidFill>
              <a:srgbClr val="C974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116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DVC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9326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VERSION POINT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508760"/>
            <a:ext cx="457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1508760"/>
            <a:ext cx="457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97680" y="1280160"/>
            <a:ext cx="457200" cy="457200"/>
          </a:xfrm>
          <a:prstGeom prst="ellipse">
            <a:avLst/>
          </a:prstGeom>
          <a:solidFill>
            <a:srgbClr val="FBF0E3"/>
          </a:solidFill>
          <a:ln w="25400">
            <a:solidFill>
              <a:srgbClr val="C974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976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QG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31920" y="9326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QUALITY GATE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40680" y="196596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BEDEC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0680" y="19659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TRAIN ≠ SERVE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2514600"/>
            <a:ext cx="160020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8912" y="256946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· Training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38912" y="2862072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MLflow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14600" y="2514600"/>
            <a:ext cx="173736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87752" y="2569464"/>
            <a:ext cx="1591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· Registry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587752" y="2862072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@champion by human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00600" y="2514600"/>
            <a:ext cx="237744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3752" y="256946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 · Inference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73752" y="2834640"/>
            <a:ext cx="1069848" cy="329184"/>
          </a:xfrm>
          <a:prstGeom prst="rect">
            <a:avLst/>
          </a:prstGeom>
          <a:solidFill>
            <a:srgbClr val="E4EEF3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3752" y="2834640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batch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35040" y="2834640"/>
            <a:ext cx="1069848" cy="329184"/>
          </a:xfrm>
          <a:prstGeom prst="rect">
            <a:avLst/>
          </a:prstGeom>
          <a:solidFill>
            <a:schemeClr val="accent2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35040" y="2834640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real-time API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2514600"/>
            <a:ext cx="109728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54112" y="2569464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Triage desk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14600" y="3703320"/>
            <a:ext cx="466344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587752" y="3758184"/>
            <a:ext cx="4517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 · Monitoring and retraining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587752" y="4050792"/>
            <a:ext cx="4517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Evidently drift · macro-F1 after 15 days · Grafana alerts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680960" y="3703320"/>
            <a:ext cx="1097280" cy="731520"/>
          </a:xfrm>
          <a:prstGeom prst="rect">
            <a:avLst/>
          </a:prstGeom>
          <a:solidFill>
            <a:schemeClr val="bg1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54112" y="3758184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Labels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754112" y="4050792"/>
            <a:ext cx="950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+15 days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13248" y="1792224"/>
            <a:ext cx="0" cy="356616"/>
          </a:xfrm>
          <a:prstGeom prst="line">
            <a:avLst/>
          </a:prstGeom>
          <a:noFill/>
          <a:ln w="15875">
            <a:solidFill>
              <a:srgbClr val="2F6F8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1161288" y="2148840"/>
            <a:ext cx="4251960" cy="0"/>
          </a:xfrm>
          <a:prstGeom prst="line">
            <a:avLst/>
          </a:prstGeom>
          <a:noFill/>
          <a:ln w="15875">
            <a:solidFill>
              <a:srgbClr val="2F6F8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61288" y="2148840"/>
            <a:ext cx="0" cy="365760"/>
          </a:xfrm>
          <a:prstGeom prst="line">
            <a:avLst/>
          </a:prstGeom>
          <a:noFill/>
          <a:ln w="15875">
            <a:solidFill>
              <a:srgbClr val="2F6F8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565392" y="1792224"/>
            <a:ext cx="0" cy="1042416"/>
          </a:xfrm>
          <a:prstGeom prst="line">
            <a:avLst/>
          </a:prstGeom>
          <a:noFill/>
          <a:ln w="15875">
            <a:solidFill>
              <a:srgbClr val="2F6F8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965960" y="2880360"/>
            <a:ext cx="54864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4251960" y="2880360"/>
            <a:ext cx="54864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178040" y="2880360"/>
            <a:ext cx="5029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5989320" y="3246120"/>
            <a:ext cx="0" cy="45720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>
            <a:off x="7178040" y="4069080"/>
            <a:ext cx="502920" cy="0"/>
          </a:xfrm>
          <a:prstGeom prst="line">
            <a:avLst/>
          </a:prstGeom>
          <a:noFill/>
          <a:ln w="1587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H="1">
            <a:off x="1161288" y="4069080"/>
            <a:ext cx="1353312" cy="0"/>
          </a:xfrm>
          <a:prstGeom prst="line">
            <a:avLst/>
          </a:prstGeom>
          <a:noFill/>
          <a:ln w="15875">
            <a:solidFill>
              <a:srgbClr val="C9741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161288" y="3246120"/>
            <a:ext cx="0" cy="822960"/>
          </a:xfrm>
          <a:prstGeom prst="line">
            <a:avLst/>
          </a:prstGeom>
          <a:noFill/>
          <a:ln w="15875">
            <a:solidFill>
              <a:srgbClr val="C9741F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1234440" y="3794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retrain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Model: start from rules, keep the candidate simple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566160" cy="1024128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Baseline 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904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majority class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3566160" cy="1024128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Baseline 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791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keyword rules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3566160" cy="1024128"/>
          </a:xfrm>
          <a:prstGeom prst="roundRect">
            <a:avLst>
              <a:gd name="adj" fmla="val 5357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8679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TF-IDF + logistic regression, calibrated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960120"/>
          <a:ext cx="4434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8016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Feature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Training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Serving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Complaint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Parquet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request, same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Channel, state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CFPB fields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request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Company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normalized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raw → alias table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251960" y="315468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Company is the one skew risk: monitored.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Monitoring: what we can see before the labels arrive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47472"/>
          </a:xfrm>
          <a:prstGeom prst="rect">
            <a:avLst/>
          </a:prstGeom>
          <a:solidFill>
            <a:srgbClr val="2F6F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12984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day 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9112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41024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32936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24847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16759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25319" y="12984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day 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08671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583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2495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84407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6318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12984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day 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68230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0142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52054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966" y="914400"/>
            <a:ext cx="365760" cy="347472"/>
          </a:xfrm>
          <a:prstGeom prst="rect">
            <a:avLst/>
          </a:prstGeom>
          <a:solidFill>
            <a:srgbClr val="F5E3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35878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44438" y="12984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day 15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7789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19701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11613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03525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5437" y="914400"/>
            <a:ext cx="365760" cy="347472"/>
          </a:xfrm>
          <a:prstGeom prst="rect">
            <a:avLst/>
          </a:prstGeom>
          <a:solidFill>
            <a:srgbClr val="3F7D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03997" y="12984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day 20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1645920"/>
            <a:ext cx="4846320" cy="233172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1783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Days 0–14: proxies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219456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Prediction drift: PSI &gt; 0.2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New-word rate +50%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Confidence drop &gt; 0.05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p95 &gt; 300 ms or errors &gt; 1%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Stale data &gt; 3 days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0" y="1645920"/>
            <a:ext cx="3200400" cy="2331720"/>
          </a:xfrm>
          <a:prstGeom prst="roundRect">
            <a:avLst>
              <a:gd name="adj" fmla="val 2353"/>
            </a:avLst>
          </a:prstGeom>
          <a:solidFill>
            <a:srgbClr val="E8F2EA"/>
          </a:solidFill>
          <a:ln w="9525">
            <a:solidFill>
              <a:srgbClr val="E8F2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783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Day 15+: labels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1945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macro-F1 &lt; 0.75 → alert + retrain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Real misrouting rate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Runs on a laptop; every component has a priced cloud twin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Local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AWS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$/mo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MinIO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Amazon S3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Amazon RDS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Airflow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Amazon MWAA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MLflow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SageMaker MLflow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FastAPI on Minikube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Amazon EKS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Prometheus + Grafana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CloudWatch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pgvector (Lab 3)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OpenSearch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175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LLM (Lab 3)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Bedrock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$904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1508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estimated per month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103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$800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ceiling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$729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with pgvector in RDS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Known risks, each with its answer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606040" cy="1645920"/>
          </a:xfrm>
          <a:prstGeom prst="roundRect">
            <a:avLst>
              <a:gd name="adj" fmla="val 3333"/>
            </a:avLst>
          </a:prstGeom>
          <a:solidFill>
            <a:srgbClr val="FBEDEC"/>
          </a:solidFill>
          <a:ln w="9525">
            <a:solidFill>
              <a:srgbClr val="FB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Text source stopped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DVC snapshot + replay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96012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Taxonomy change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map + quality gate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Train/serve skew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shared preprocessing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 blind days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proxy monitoring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46120" y="278892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 GB laptop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linear model, hosted LLM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5040" y="2788920"/>
            <a:ext cx="2606040" cy="16459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Feedback loop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labels never from predictions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This project carries all five labs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148840"/>
                <a:gridCol w="3840480"/>
                <a:gridCol w="640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Lab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Needs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This project provides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 · Design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design + data justification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design.md, data profile, sample, CI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Done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 · Data + MLflow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batches, held-out period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monthly replay of 3.8 M texts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Fits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 · LLM + retrieval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LLM baseline, corpus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zero-shot LLM vs TF-IDF; Ask CFPB + eCFR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Fits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 · Serving + drift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servable model, real drift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FastAPI; 2023 taxonomy change, volume surge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Fits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 · Agent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tasks to automate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drift review, model comparison, promotion note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Fits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BF0E3"/>
          </a:solidFill>
          <a:ln w="9525">
            <a:solidFill>
              <a:srgbClr val="FBF0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319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Caveat: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new complaint text after 2025, so new batches are replayed history.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How the next four labs grow this system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65960" cy="2514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097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Lab 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5270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Pipeline + MLflow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57400"/>
            <a:ext cx="1691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Airflow DAG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DVC + quality gate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baselines in MLflow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960120"/>
            <a:ext cx="1965960" cy="2514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24912" y="1097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Lab 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15270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LLM + retrieval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057400"/>
            <a:ext cx="1691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LLM vs TF-IDF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pgvector corpus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cited rationales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965960" cy="2514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1097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Lab 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15270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Serving + drift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057400"/>
            <a:ext cx="1691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API on Minikube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Evidently + Grafana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drift alert to human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960120"/>
            <a:ext cx="1965960" cy="251460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31152" y="1097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Lab 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931152" y="15270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Agent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057400"/>
            <a:ext cx="1691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reads drift reports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compares models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drafts promotion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Where to find everything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Path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docs/design.md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design document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docs/data-profile.md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all data numbers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data/sample/complaints_sample.csv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 real complaints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configs/taxonomy_map.csv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names → 10 classes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scripts/profile_data.py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reproduces the profile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Makefile · uv.lock · CI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make setup, make lint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0" y="914400"/>
            <a:ext cx="2468880" cy="2514600"/>
          </a:xfrm>
          <a:prstGeom prst="roundRect">
            <a:avLst>
              <a:gd name="adj" fmla="val 2222"/>
            </a:avLst>
          </a:prstGeom>
          <a:solidFill>
            <a:srgbClr val="E4EEF3"/>
          </a:solidFill>
          <a:ln w="9525">
            <a:solidFill>
              <a:srgbClr val="E4EE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051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Repository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463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github.com/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goodfrog33/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kse-mlops-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complaint-router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tag lab-1 · CI green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laint Router">
  <a:themeElements>
    <a:clrScheme name="Complaint Router">
      <a:dk1>
        <a:srgbClr val="1C2733"/>
      </a:dk1>
      <a:lt1>
        <a:srgbClr val="FFFFFF"/>
      </a:lt1>
      <a:dk2>
        <a:srgbClr val="2A3B4D"/>
      </a:dk2>
      <a:lt2>
        <a:srgbClr val="F1F4F7"/>
      </a:lt2>
      <a:accent1>
        <a:srgbClr val="C9741F"/>
      </a:accent1>
      <a:accent2>
        <a:srgbClr val="2F6F8F"/>
      </a:accent2>
      <a:accent3>
        <a:srgbClr val="B3261E"/>
      </a:accent3>
      <a:accent4>
        <a:srgbClr val="3F7D4E"/>
      </a:accent4>
      <a:accent5>
        <a:srgbClr val="6B7785"/>
      </a:accent5>
      <a:accent6>
        <a:srgbClr val="6E5A8C"/>
      </a:accent6>
      <a:hlink>
        <a:srgbClr val="2F6F8F"/>
      </a:hlink>
      <a:folHlink>
        <a:srgbClr val="6E5A8C"/>
      </a:folHlink>
    </a:clrScheme>
    <a:fontScheme name="Complaint Rou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complaint-router: Lab 1 use case and system design</dc:title>
  <dc:subject>PptxGenJS Presentation</dc:subject>
  <dc:creator>Zakhar Staryk</dc:creator>
  <cp:lastModifiedBy>Zakhar Staryk</cp:lastModifiedBy>
  <cp:revision>1</cp:revision>
  <dcterms:created xsi:type="dcterms:W3CDTF">2026-10-17T18:23:50Z</dcterms:created>
  <dcterms:modified xsi:type="dcterms:W3CDTF">2026-10-17T18:23:50Z</dcterms:modified>
</cp:coreProperties>
</file>