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56f219-746c-13db-0e74-a605890933fa}">
          <p14:sldIdLst>
            <p14:sldId id="256"/>
            <p14:sldId id="257"/>
            <p14:sldId id="258"/>
            <p14:sldId id="259"/>
            <p14:sldId id="260"/>
          </p14:sldIdLst>
        </p14:section>
        <p14:section name="The data" id="{98ea17bf-1a2b-6080-2db3-fc82c9cba390}">
          <p14:sldIdLst>
            <p14:sldId id="261"/>
            <p14:sldId id="262"/>
            <p14:sldId id="263"/>
            <p14:sldId id="264"/>
            <p14:sldId id="265"/>
            <p14:sldId id="266"/>
            <p14:sldId id="267"/>
            <p14:sldId id="268"/>
            <p14:sldId id="269"/>
          </p14:sldIdLst>
        </p14:section>
        <p14:section name="The design" id="{6672fba4-2594-1a4d-b683-7b5b38938023}">
          <p14:sldIdLst>
            <p14:sldId id="270"/>
            <p14:sldId id="271"/>
            <p14:sldId id="272"/>
            <p14:sldId id="273"/>
            <p14:sldId id="274"/>
            <p14:sldId id="275"/>
            <p14:sldId id="276"/>
          </p14:sldIdLst>
        </p14:section>
        <p14:section name="Fit with the course" id="{f717cbff-0806-05a2-e784-1c55a984a77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Credit reporting, % of complaint texts per year</a:t>
            </a:r>
          </a:p>
        </c:rich>
      </c:tx>
      <c:layout/>
      <c:overlay val="0"/>
    </c:title>
    <c:autoTitleDeleted val="0"/>
    <c:plotArea>
      <c:layout/>
      <c:lineChart>
        <c:varyColors val="0"/>
        <c:ser>
          <c:idx val="0"/>
          <c:order val="0"/>
          <c:tx>
            <c:strRef>
              <c:f>Sheet1!$B$1</c:f>
              <c:strCache>
                <c:ptCount val="1"/>
                <c:pt idx="0">
                  <c:v>Credit reporting share of narratives, %</c:v>
                </c:pt>
              </c:strCache>
            </c:strRef>
          </c:tx>
          <c:spPr>
            <a:solidFill>
              <a:srgbClr val="2F6F8F"/>
            </a:solidFill>
            <a:ln w="31750" cap="flat">
              <a:solidFill>
                <a:srgbClr val="2F6F8F"/>
              </a:solidFill>
              <a:prstDash val="solid"/>
              <a:round/>
            </a:ln>
            <a:effectLst/>
          </c:spPr>
          <c:invertIfNegative val="0"/>
          <c:dLbls>
            <c:numFmt formatCode="0" sourceLinked="0"/>
            <c:txPr>
              <a:bodyPr/>
              <a:lstStyle/>
              <a:p>
                <a:pPr>
                  <a:defRPr b="0" i="0" strike="noStrike" sz="1000" u="none">
                    <a:solidFill>
                      <a:srgbClr val="1C2733"/>
                    </a:solidFill>
                    <a:latin typeface="+mn-lt"/>
                  </a:defRPr>
                </a:pPr>
              </a:p>
            </c:txPr>
            <c:dLblPos val="t"/>
            <c:showLegendKey val="0"/>
            <c:showVal val="1"/>
            <c:showCatName val="0"/>
            <c:showSerName val="0"/>
            <c:showPercent val="0"/>
            <c:showBubbleSize val="0"/>
            <c:showLeaderLines val="0"/>
          </c:dLbls>
          <c:marker>
            <c:symbol val="circle"/>
            <c:size val="6"/>
            <c:spPr>
              <a:solidFill>
                <a:srgbClr val="2F6F8F"/>
              </a:solidFill>
              <a:ln w="9525" cap="flat">
                <a:solidFill>
                  <a:srgbClr val="2F6F8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18.8</c:v>
                </c:pt>
                <c:pt idx="1">
                  <c:v>19.4</c:v>
                </c:pt>
                <c:pt idx="2">
                  <c:v>36.9</c:v>
                </c:pt>
                <c:pt idx="3">
                  <c:v>41.4</c:v>
                </c:pt>
                <c:pt idx="4">
                  <c:v>46.9</c:v>
                </c:pt>
                <c:pt idx="5">
                  <c:v>55</c:v>
                </c:pt>
                <c:pt idx="6">
                  <c:v>53.6</c:v>
                </c:pt>
                <c:pt idx="7">
                  <c:v>69.3</c:v>
                </c:pt>
                <c:pt idx="8">
                  <c:v>71.4</c:v>
                </c:pt>
                <c:pt idx="9">
                  <c:v>77.4</c:v>
                </c:pt>
                <c:pt idx="10">
                  <c:v>74.7</c:v>
                </c:pt>
              </c:numCache>
            </c:numRef>
          </c:val>
          <c:smooth val="0"/>
        </c:ser>
        <c:dLbls>
          <c:numFmt formatCode="0" sourceLinked="0"/>
          <c:txPr>
            <a:bodyPr/>
            <a:lstStyle/>
            <a:p>
              <a:pPr>
                <a:defRPr b="0" i="0" strike="noStrike" sz="1000" u="none">
                  <a:solidFill>
                    <a:srgbClr val="1C2733"/>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Complaints per year, millions</a:t>
            </a:r>
          </a:p>
        </c:rich>
      </c:tx>
      <c:layout/>
      <c:overlay val="0"/>
    </c:title>
    <c:autoTitleDeleted val="0"/>
    <c:plotArea>
      <c:layout/>
      <c:barChart>
        <c:barDir val="col"/>
        <c:grouping val="stacked"/>
        <c:varyColors val="0"/>
        <c:ser>
          <c:idx val="0"/>
          <c:order val="0"/>
          <c:tx>
            <c:strRef>
              <c:f>Sheet1!$B$1</c:f>
              <c:strCache>
                <c:ptCount val="1"/>
                <c:pt idx="0">
                  <c:v>With text</c:v>
                </c:pt>
              </c:strCache>
            </c:strRef>
          </c:tx>
          <c:spPr>
            <a:solidFill>
              <a:srgbClr val="2F6F8F"/>
            </a:solidFill>
            <a:effectLst/>
          </c:spPr>
          <c:invertIfNegative val="0"/>
          <c:dLbls>
            <c:numFmt formatCode="#,##0" sourceLinked="0"/>
            <c:txPr>
              <a:bodyPr/>
              <a:lstStyle/>
              <a:p>
                <a:pPr>
                  <a:defRPr b="0" i="0" strike="noStrike" sz="1000" u="none">
                    <a:solidFill>
                      <a:srgbClr val="1C2733"/>
                    </a:solidFill>
                    <a:latin typeface="+mn-lt"/>
                  </a:defRPr>
                </a:pPr>
              </a:p>
            </c:txPr>
            <c:showLegendKey val="0"/>
            <c:showVal val="0"/>
            <c:showCatName val="0"/>
            <c:showSerName val="0"/>
            <c:showPercent val="0"/>
            <c:showBubbleSize val="0"/>
            <c:showLeaderLines val="0"/>
          </c:dLbls>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0.05</c:v>
                </c:pt>
                <c:pt idx="1">
                  <c:v>0.08</c:v>
                </c:pt>
                <c:pt idx="2">
                  <c:v>0.12</c:v>
                </c:pt>
                <c:pt idx="3">
                  <c:v>0.12</c:v>
                </c:pt>
                <c:pt idx="4">
                  <c:v>0.12</c:v>
                </c:pt>
                <c:pt idx="5">
                  <c:v>0.17</c:v>
                </c:pt>
                <c:pt idx="6">
                  <c:v>0.2</c:v>
                </c:pt>
                <c:pt idx="7">
                  <c:v>0.34</c:v>
                </c:pt>
                <c:pt idx="8">
                  <c:v>0.44</c:v>
                </c:pt>
                <c:pt idx="9">
                  <c:v>0.81</c:v>
                </c:pt>
                <c:pt idx="10">
                  <c:v>1.22</c:v>
                </c:pt>
              </c:numCache>
            </c:numRef>
          </c:val>
        </c:ser>
        <c:ser>
          <c:idx val="1"/>
          <c:order val="1"/>
          <c:tx>
            <c:strRef>
              <c:f>Sheet1!$C$1</c:f>
              <c:strCache>
                <c:ptCount val="1"/>
                <c:pt idx="0">
                  <c:v>Without text</c:v>
                </c:pt>
              </c:strCache>
            </c:strRef>
          </c:tx>
          <c:spPr>
            <a:solidFill>
              <a:srgbClr val="C9D3DD"/>
            </a:solidFill>
            <a:effectLst/>
          </c:spPr>
          <c:invertIfNegative val="0"/>
          <c:dLbls>
            <c:numFmt formatCode="#,##0" sourceLinked="0"/>
            <c:txPr>
              <a:bodyPr/>
              <a:lstStyle/>
              <a:p>
                <a:pPr>
                  <a:defRPr b="0" i="0" strike="noStrike" sz="1000" u="none">
                    <a:solidFill>
                      <a:srgbClr val="1C2733"/>
                    </a:solidFill>
                    <a:latin typeface="+mn-lt"/>
                  </a:defRPr>
                </a:pPr>
              </a:p>
            </c:txPr>
            <c:showLegendKey val="0"/>
            <c:showVal val="0"/>
            <c:showCatName val="0"/>
            <c:showSerName val="0"/>
            <c:showPercent val="0"/>
            <c:showBubbleSize val="0"/>
            <c:showLeaderLines val="0"/>
          </c:dLbls>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0.11</c:v>
                </c:pt>
                <c:pt idx="1">
                  <c:v>0.11</c:v>
                </c:pt>
                <c:pt idx="2">
                  <c:v>0.13</c:v>
                </c:pt>
                <c:pt idx="3">
                  <c:v>0.14</c:v>
                </c:pt>
                <c:pt idx="4">
                  <c:v>0.15</c:v>
                </c:pt>
                <c:pt idx="5">
                  <c:v>0.27</c:v>
                </c:pt>
                <c:pt idx="6">
                  <c:v>0.29</c:v>
                </c:pt>
                <c:pt idx="7">
                  <c:v>0.46</c:v>
                </c:pt>
                <c:pt idx="8">
                  <c:v>0.73</c:v>
                </c:pt>
                <c:pt idx="9">
                  <c:v>1.92</c:v>
                </c:pt>
                <c:pt idx="10">
                  <c:v>4.22</c:v>
                </c:pt>
              </c:numCache>
            </c:numRef>
          </c:val>
        </c:ser>
        <c:dLbls>
          <c:numFmt formatCode="#,##0" sourceLinked="0"/>
          <c:txPr>
            <a:bodyPr/>
            <a:lstStyle/>
            <a:p>
              <a:pPr>
                <a:defRPr b="0" i="0" strike="noStrike" sz="1000" u="none">
                  <a:solidFill>
                    <a:srgbClr val="1C2733"/>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5B677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Complaints with text, % per month (yy/mm)</a:t>
            </a:r>
          </a:p>
        </c:rich>
      </c:tx>
      <c:layout/>
      <c:overlay val="0"/>
    </c:title>
    <c:autoTitleDeleted val="0"/>
    <c:plotArea>
      <c:layout/>
      <c:barChart>
        <c:barDir val="col"/>
        <c:grouping val="clustered"/>
        <c:varyColors val="0"/>
        <c:ser>
          <c:idx val="0"/>
          <c:order val="0"/>
          <c:tx>
            <c:strRef>
              <c:f>Sheet1!$B$1</c:f>
              <c:strCache>
                <c:ptCount val="1"/>
                <c:pt idx="0">
                  <c:v>Share with text, %</c:v>
                </c:pt>
              </c:strCache>
            </c:strRef>
          </c:tx>
          <c:spPr>
            <a:solidFill>
              <a:srgbClr val="2F6F8F"/>
            </a:solidFill>
            <a:effectLst/>
          </c:spPr>
          <c:invertIfNegative val="0"/>
          <c:dLbls>
            <c:numFmt formatCode="0" sourceLinked="0"/>
            <c:txPr>
              <a:bodyPr/>
              <a:lstStyle/>
              <a:p>
                <a:pPr>
                  <a:defRPr b="0" i="0" strike="noStrike" sz="900" u="none">
                    <a:solidFill>
                      <a:srgbClr val="1C2733"/>
                    </a:solidFill>
                    <a:latin typeface="+mn-lt"/>
                  </a:defRPr>
                </a:pPr>
              </a:p>
            </c:txPr>
            <c:showLegendKey val="0"/>
            <c:showVal val="1"/>
            <c:showCatName val="0"/>
            <c:showSerName val="0"/>
            <c:showPercent val="0"/>
            <c:showBubbleSize val="0"/>
            <c:showLeaderLines val="0"/>
          </c:dLbls>
          <c:cat>
            <c:multiLvlStrRef>
              <c:f>Sheet1!$A$2:$A$20</c:f>
              <c:multiLvlStrCache>
                <c:ptCount val="19"/>
                <c:lvl>
                  <c:pt idx="0">
                    <c:v>25/01</c:v>
                  </c:pt>
                  <c:pt idx="1">
                    <c:v>25/02</c:v>
                  </c:pt>
                  <c:pt idx="2">
                    <c:v>25/03</c:v>
                  </c:pt>
                  <c:pt idx="3">
                    <c:v>25/04</c:v>
                  </c:pt>
                  <c:pt idx="4">
                    <c:v>25/05</c:v>
                  </c:pt>
                  <c:pt idx="5">
                    <c:v>25/06</c:v>
                  </c:pt>
                  <c:pt idx="6">
                    <c:v>25/07</c:v>
                  </c:pt>
                  <c:pt idx="7">
                    <c:v>25/08</c:v>
                  </c:pt>
                  <c:pt idx="8">
                    <c:v>25/09</c:v>
                  </c:pt>
                  <c:pt idx="9">
                    <c:v>25/10</c:v>
                  </c:pt>
                  <c:pt idx="10">
                    <c:v>25/11</c:v>
                  </c:pt>
                  <c:pt idx="11">
                    <c:v>25/12</c:v>
                  </c:pt>
                  <c:pt idx="12">
                    <c:v>26/01</c:v>
                  </c:pt>
                  <c:pt idx="13">
                    <c:v>26/02</c:v>
                  </c:pt>
                  <c:pt idx="14">
                    <c:v>26/03</c:v>
                  </c:pt>
                  <c:pt idx="15">
                    <c:v>26/04</c:v>
                  </c:pt>
                  <c:pt idx="16">
                    <c:v>26/05</c:v>
                  </c:pt>
                  <c:pt idx="17">
                    <c:v>26/06</c:v>
                  </c:pt>
                  <c:pt idx="18">
                    <c:v>26/07</c:v>
                  </c:pt>
                </c:lvl>
              </c:multiLvlStrCache>
            </c:multiLvlStrRef>
          </c:cat>
          <c:val>
            <c:numRef>
              <c:f>Sheet1!$B$2:$B$20</c:f>
              <c:numCache>
                <c:formatCode>General</c:formatCode>
                <c:ptCount val="19"/>
                <c:pt idx="0">
                  <c:v>36.3</c:v>
                </c:pt>
                <c:pt idx="1">
                  <c:v>27.6</c:v>
                </c:pt>
                <c:pt idx="2">
                  <c:v>26.5</c:v>
                </c:pt>
                <c:pt idx="3">
                  <c:v>25.9</c:v>
                </c:pt>
                <c:pt idx="4">
                  <c:v>25.8</c:v>
                </c:pt>
                <c:pt idx="5">
                  <c:v>27.3</c:v>
                </c:pt>
                <c:pt idx="6">
                  <c:v>26.5</c:v>
                </c:pt>
                <c:pt idx="7">
                  <c:v>22</c:v>
                </c:pt>
                <c:pt idx="8">
                  <c:v>16.2</c:v>
                </c:pt>
                <c:pt idx="9">
                  <c:v>14.7</c:v>
                </c:pt>
                <c:pt idx="10">
                  <c:v>15.7</c:v>
                </c:pt>
                <c:pt idx="11">
                  <c:v>11</c:v>
                </c:pt>
                <c:pt idx="12">
                  <c:v>4.1</c:v>
                </c:pt>
                <c:pt idx="13">
                  <c:v>2.4</c:v>
                </c:pt>
                <c:pt idx="14">
                  <c:v>3.5</c:v>
                </c:pt>
                <c:pt idx="15">
                  <c:v>3.3</c:v>
                </c:pt>
                <c:pt idx="16">
                  <c:v>1</c:v>
                </c:pt>
                <c:pt idx="17">
                  <c:v>0.2</c:v>
                </c:pt>
                <c:pt idx="18">
                  <c:v>0</c:v>
                </c:pt>
              </c:numCache>
            </c:numRef>
          </c:val>
        </c:ser>
        <c:dLbls>
          <c:numFmt formatCode="0" sourceLinked="0"/>
          <c:txPr>
            <a:bodyPr/>
            <a:lstStyle/>
            <a:p>
              <a:pPr>
                <a:defRPr b="0" i="0" strike="noStrike" sz="900" u="none">
                  <a:solidFill>
                    <a:srgbClr val="1C27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3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 of 1.54 M training texts (2023-04 → 2025-03)</a:t>
            </a:r>
          </a:p>
        </c:rich>
      </c:tx>
      <c:layout/>
      <c:overlay val="0"/>
    </c:title>
    <c:autoTitleDeleted val="0"/>
    <c:plotArea>
      <c:layout/>
      <c:barChart>
        <c:barDir val="bar"/>
        <c:grouping val="clustered"/>
        <c:varyColors val="0"/>
        <c:ser>
          <c:idx val="0"/>
          <c:order val="0"/>
          <c:tx>
            <c:strRef>
              <c:f>Sheet1!$B$1</c:f>
              <c:strCache>
                <c:ptCount val="1"/>
                <c:pt idx="0">
                  <c:v>Share of training texts</c:v>
                </c:pt>
              </c:strCache>
            </c:strRef>
          </c:tx>
          <c:spPr>
            <a:solidFill>
              <a:srgbClr val="2F6F8F"/>
            </a:solidFill>
            <a:effectLst/>
          </c:spPr>
          <c:invertIfNegative val="0"/>
          <c:dLbls>
            <c:numFmt formatCode="0.0" sourceLinked="0"/>
            <c:txPr>
              <a:bodyPr/>
              <a:lstStyle/>
              <a:p>
                <a:pPr>
                  <a:defRPr b="0" i="0" strike="noStrike" sz="1000" u="none">
                    <a:solidFill>
                      <a:srgbClr val="1C27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Debt or credit management</c:v>
                  </c:pt>
                  <c:pt idx="1">
                    <c:v>Payday title and personal loan</c:v>
                  </c:pt>
                  <c:pt idx="2">
                    <c:v>Vehicle loan or lease</c:v>
                  </c:pt>
                  <c:pt idx="3">
                    <c:v>Student loan</c:v>
                  </c:pt>
                  <c:pt idx="4">
                    <c:v>Mortgage</c:v>
                  </c:pt>
                  <c:pt idx="5">
                    <c:v>Money transfer and virtual currency</c:v>
                  </c:pt>
                  <c:pt idx="6">
                    <c:v>Checking or savings</c:v>
                  </c:pt>
                  <c:pt idx="7">
                    <c:v>Credit or prepaid card</c:v>
                  </c:pt>
                  <c:pt idx="8">
                    <c:v>Debt collection</c:v>
                  </c:pt>
                  <c:pt idx="9">
                    <c:v>Credit reporting</c:v>
                  </c:pt>
                </c:lvl>
              </c:multiLvlStrCache>
            </c:multiLvlStrRef>
          </c:cat>
          <c:val>
            <c:numRef>
              <c:f>Sheet1!$B$2:$B$11</c:f>
              <c:numCache>
                <c:formatCode>General</c:formatCode>
                <c:ptCount val="10"/>
                <c:pt idx="0">
                  <c:v>0.2</c:v>
                </c:pt>
                <c:pt idx="1">
                  <c:v>0.6</c:v>
                </c:pt>
                <c:pt idx="2">
                  <c:v>1</c:v>
                </c:pt>
                <c:pt idx="3">
                  <c:v>1.1</c:v>
                </c:pt>
                <c:pt idx="4">
                  <c:v>1.6</c:v>
                </c:pt>
                <c:pt idx="5">
                  <c:v>4.2</c:v>
                </c:pt>
                <c:pt idx="6">
                  <c:v>4.4</c:v>
                </c:pt>
                <c:pt idx="7">
                  <c:v>5</c:v>
                </c:pt>
                <c:pt idx="8">
                  <c:v>7.7</c:v>
                </c:pt>
                <c:pt idx="9">
                  <c:v>74.2</c:v>
                </c:pt>
              </c:numCache>
            </c:numRef>
          </c:val>
        </c:ser>
        <c:dLbls>
          <c:numFmt formatCode="0.0" sourceLinked="0"/>
          <c:txPr>
            <a:bodyPr/>
            <a:lstStyle/>
            <a:p>
              <a:pPr>
                <a:defRPr b="0" i="0" strike="noStrike" sz="1000" u="none">
                  <a:solidFill>
                    <a:srgbClr val="1C27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project is complaint-router: a system that reads a consumer's complaint about a financial product and sends it to the team that owns that product. This lab is the design: what the system promises, which data it stands on, how we will know it works, and how the next four labs build it. Everything in this deck comes from the repository: the design document, the data profile script and a sample of real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consumes the predictions: the intake desk's ticket queue. It calls the service once per new complaint. How often: continuously; the official export shows about twenty-one thousand complaints a day in 2026, which is measured, not assumed. What happens when the model is wrong: the complaint lands with the wrong team, someone has to notice and reroute it, and the fifteen-day response clock keeps running. The worst case is a systematic error, a whole type of complaint routed wrong, which nobody notices until labels come back. So the router auto-routes only when it is confident and gives a human a suggestion otherwise. If the service is down, everything goes to the human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needs a system and not a notebook. Three things move in this data, and all three are measured. The chart: the share of complaint texts about credit reporting grew from nineteen percent in 2016 to seventy-seven percent in 2024; a model trained on old data has the wrong priors. The label set changed twice, in April 2017 and August 2023, and a new product category appeared. Volume grew thirty-fold. And in 2026 CFPB stopped publishing complaint text at all, which is exactly the kind of upstream change a production system must detect. That is why the design has scheduled ingestion, versioned data, tracked retraining, a promotion rule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success, kept apart, each with a number. Business: at most eight percent of complaints routed to the wrong queue, and at least sixty percent routed with no human touch. Model: macro-F1 of at least 0.80, and precision of 0.95 on the complaints that go out automatically, which is what sets the confidence threshold. System: p95 latency under 300 milliseconds, 99.5 percent availability in intake hours, data no older than three days. Only two metrics are optimised, misrouting and macro-F1. Everything else is a constraint a candidate model must satisfy before we even compare macro-F1. Macro-F1 and not accuracy, because three quarters of the data is one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non-functional category from the template, each with a number or a stated assumption. Two of them conflict. Freshness against reproducibility: we train only on versioned snapshots, which can cost a day of freshness, and reproducibility wins. Precision against coverage: a wrong automatic route costs more than a manual one, so precision wins and coverage is whatever the threshold allows. The functional side is the API contract: complaint in; product, confidence, top three and an auto or manual decision out; only the ticket queue may call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data, because this is where a design either holds or falls apart. I downloaded and profiled it; every number from here on is measured by scripts/profile_data.py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real row, complaint 11425997 from January 2025, as CFPB publishes it. The right column is what each field does in my system. The narrative is the model's input. Product is the label. Company, state and channel are optional features. And the fields the company fills in after routing, such as the response, are excluded, because at prediction time they do not exist yet; using them would be leakage. The narrative comes from the July 2026 snapshot; the current export no longer has that column, which I will show in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real complaints from the 200-row sample in the repository, each with the product the consumer chose. They show why text is the right input: the product is usually obvious to a reader from words like escrow, SAVE plan or Cash App, and a keyword rule would catch some of them, but the vocabulary moves. XXXX is CFPB's redaction of personal data; sixty-two percent of texts contain it, and the service applies the same masking at intake so that live text looks like training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snapshot holds 16.6 million complaints from December 2011 to July 2026, and 3.8 million of them carry the consumer's text. Text starts in March 2015, when CFPB began publishing narratives with consent. The dark part of each bar is the usable text. That is far more than a course project needs: the training window alone has 1.5 million texts. The growth itself is a drift story for Lab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finding of the data work. The share of new complaints with text fell from about twenty-six percent in mid-2025 to zero in July 2026, and the current official export, downloaded on 17 October, no longer has the narrative column at all; CFPB's field reference no longer lists it. What it means for the project: the text up to 2025 is frozen, so I snapshot it into DVC once and replay it month by month, which is the batch pattern Labs 2 and 4 need anyway. The structured export still arrives daily and drives freshness and volume checks. And this is a real upstream contract break: the quality gate in my design, text share below half of the reference month, would have fired in December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 set is not stable either. CFPB used three product taxonomies: until April 2017, until August 2023, and since. Credit reporting alone has had three names. Credit card and prepaid card were one product from 2017 to 2023, so they are one class here. And a new product, Debt or credit management, appeared in August 2023. The design handles this with a versioned table, configs/taxonomy_map.csv, already in the repository: twenty CFPB names map to ten stable classes. Anything unmapped, 1,333 rows, goes to manual triage and fails the quality gate in a new batch, so a future taxonomy change cannot silently create or merge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classes in the training window, April 2023 to March 2025, 1.54 million texts. Credit reporting is seventy-four percent; the smallest class, debt or credit management, is 0.2 percent, about 2,700 texts. This drives three design choices: macro-F1 as the optimising metric so every queue counts equally, class weights in training, and a promotion rule that rejects a new model if any class loses more than three points of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Labels are chosen by the consumer, so they are noisy, and the sample shows it. On the left, a complaint labelled debt collection, but it is addressed to TransUnion and is about the credit report. On the right, labelled debt or credit management, again about TransUnion and late payments on a report. A router could reasonably send both to credit reporting. So the label noise is real, not hypothetical. In Lab 2 I hand-label two hundred rows to measure it, and in production a human override always takes precedence over the CFPB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assignment's data checklist, item by item, with evidence. Time axis: daily dates since 2011. History to hold out: 3.8 million texts; I train on two years, validate on a quarter, test on the next quarter, and keep the rest as the replay period. Label delay: fifteen days, which I emulate, but the number is grounded in CFPB's own publication rule, published after the company responds or after fifteen days. Text surface: the narratives themselves, and for Lab 3 two public corpora, Ask CFPB articles and the regulation texts. The only cost: no genuinely new text after 2025, so new text batches are replayed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system design itself. The three diagrams use the same component names as section 6.2 of the design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context. complaint-router is one box; everything around it belongs to someone else. On the left, the sources: the CFPB database, as a daily structured export and a frozen text snapshot; the label source, which delivers the product fifteen days later together with agent overrides; and the Lab 3 corpus. On the right: the intake channel feeding the triage desk, the triage desk that calls the API and receives product, confidence and route, and the on-call person who receives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flow on the seven layers of a production ML system, each with my component. Top row, the data path: Airflow ingests the month; the first mark, the version point, is a DVC snapshot of the raw slice before anything changes it; preprocessing maps the taxonomy, masks personal data and drops leakage columns; the second mark, the quality gate, stops a bad batch, such as a month without text. Layer three, the feature store: offline Parquet for training, and online the features come from the request itself. The third mark is where training and serving diverge, the place training-serving skew can enter; the defence is that preprocess ships inside the model artifact. Middle row: training logs to MLflow and registers a challenger; only a human moves the champion alias; the FastAPI service serves the champion to the triage desk. Bottom: predictions are logged, labels arrive after fifteen days, Evidently and Grafana watch for drift and quality drops, and an alert can trigger retraining, which closes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Techniques. Two baselines first: always the majority class, which is the floor, and a keyword rule, which is what a desk without ML would run. The candidate is deliberately simple: TF-IDF on words and characters plus one-hot form fields into a class-weighted logistic regression, with calibrated probabilities so the 0.95 threshold means what it says. It trains in minutes on a CPU and fits the four-gigabyte cluster. On the right, every feature with its source at training time and at serving time. Company is the one feature whose sources differ: CFPB's normalised name in training, raw text at serving. That is the skew risk, and it is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is designed around the fifteen-day label delay. On day zero we predict. For the next fourteen days we only see proxies: prediction drift through PSI on the class distribution, input drift such as new vocabulary and text length, confidence drift, the share of unmatched company names, service latency and errors, and data freshness. One alert catches the classic stale-pipeline bug: a row count exactly equal to the previous interval. From day fifteen labels arrive and we measure macro-F1 and the real misrouting rate; below 0.75 the on-call gets an alert and retraining can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deployment draft: every component runs locally, first with Docker Compose in Lab 2 and then on Minikube with four gigabytes in Lab 4, and each has a named AWS equivalent; GCP and Azure are in section 6.2. Priced from list prices, the AWS column comes to about nine hundred dollars a month, above my own ceiling of eight hundred. I kept the mismatch visible and wrote the fix: pgvector inside the existing RDS instead of OpenSearch Serverless brings it to about 730. The most fragile assumption is LLM call volume, which grows with complaint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each with a mitigation and the lab that implements it. The first one is no longer hypothetical: the text source stopped, and the design now runs on a versioned snapshot. Taxonomy changes are absorbed by the map and the gate. Skew is contained by shipping preprocessing inside the model. Fifteen blind days are covered by proxy monitoring. The laptop budget forces a small model and a hosted LLM. And the feedback loop risk: auto-routed complaints are checked less, so the model's mistakes could become labels; that is why labels come from CFPB, never from our own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question I had to answer for myself after finding that the text was discontinued: does this project still carry all five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by lab. Lab 1 is this: the design document, data profile, sample and taxonomy map, with green CI. Lab 2 needs batches over time and history to hold out; it gets monthly replay of 3.8 million texts and, conveniently, a real bad batch to fail the quality gate on: a 2026 month without text. Lab 3 needs an LLM baseline and retrieval: a zero-shot LLM classifier is compared with the TF-IDF model on a thousand test complaints, and rationales retrieve passages from Ask CFPB and the regulations. Lab 4 needs a servable model, real drift and a known label delay: a small model on FastAPI, replay of the 2023 taxonomy change and of the credit-reporting surge, and the fifteen-day delay. Lab 5 needs tasks an agent can do and be evaluated on: reading drift reports, comparing challenger and champion against the promotion rule, drafting the note for the human. The one caveat is stated in the design: no new text after 2025, so new text batches are replayed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reviewer can check today: clone the repository, run make setup and make lint, and both pass; CI is green and the submission commit is tagged lab-1. The data profile is reproducible with one script. The maturity scorecard in the README starts with the two Lab 1 rows and grows with every lab. Next is Lab 2: the Airflow pipeline, DVC versioning, the quality gate shown failing on a bad batch, and the baselines tracked in MLflow.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C27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148840"/>
            <a:ext cx="73152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A3B4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743200"/>
            <a:ext cx="7315200" cy="7315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900" dirty="0">
                <a:solidFill>
                  <a:schemeClr val="accent5"/>
                </a:solidFill>
              </a:rPr>
              <a:t>complaint-router  ·  KSE MLOps  ·  Lab 1</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914400"/>
          </a:xfrm>
          <a:prstGeom prst="rect">
            <a:avLst/>
          </a:prstGeom>
          <a:noFill/>
          <a:ln/>
        </p:spPr>
        <p:txBody>
          <a:bodyPr wrap="square" lIns="0" tIns="0" rIns="0" bIns="0" rtlCol="0" anchor="b"/>
          <a:lstStyle/>
          <a:p>
            <a:pPr algn="l" indent="0" marL="0">
              <a:buNone/>
            </a:pPr>
            <a:r>
              <a:rPr lang="en-US" sz="4400" b="1" dirty="0">
                <a:solidFill>
                  <a:schemeClr val="bg1"/>
                </a:solidFill>
              </a:rPr>
              <a:t>complaint-router</a:t>
            </a:r>
            <a:endParaRPr lang="en-US" sz="4400" dirty="0"/>
          </a:p>
        </p:txBody>
      </p:sp>
      <p:sp>
        <p:nvSpPr>
          <p:cNvPr id="3" name="Text 0"/>
          <p:cNvSpPr/>
          <p:nvPr>
            <p:ph idx="101" type="body" hasCustomPrompt="1"/>
          </p:nvPr>
        </p:nvSpPr>
        <p:spPr>
          <a:xfrm>
            <a:off x="548640" y="2148840"/>
            <a:ext cx="7315200" cy="822960"/>
          </a:xfrm>
          <a:prstGeom prst="rect">
            <a:avLst/>
          </a:prstGeom>
          <a:noFill/>
          <a:ln/>
        </p:spPr>
        <p:txBody>
          <a:bodyPr wrap="square" lIns="0" tIns="0" rIns="0" bIns="0" rtlCol="0" anchor="t"/>
          <a:lstStyle/>
          <a:p>
            <a:pPr indent="0" marL="0">
              <a:buNone/>
            </a:pPr>
            <a:r>
              <a:rPr lang="en-US" sz="1800" dirty="0">
                <a:solidFill>
                  <a:schemeClr val="bg2"/>
                </a:solidFill>
              </a:rPr>
              <a:t>Routing consumer financial complaints to the right team, with a system that keeps learning</a:t>
            </a:r>
            <a:endParaRPr lang="en-US" sz="1800" dirty="0"/>
          </a:p>
        </p:txBody>
      </p:sp>
      <p:sp>
        <p:nvSpPr>
          <p:cNvPr id="5" name="Text 2"/>
          <p:cNvSpPr txBox="1"/>
          <p:nvPr/>
        </p:nvSpPr>
        <p:spPr>
          <a:xfrm>
            <a:off x="548640" y="2880360"/>
            <a:ext cx="8046720" cy="274320"/>
          </a:xfrm>
          <a:prstGeom prst="rect">
            <a:avLst/>
          </a:prstGeom>
          <a:noFill/>
          <a:ln/>
        </p:spPr>
        <p:txBody>
          <a:bodyPr wrap="square" lIns="0" tIns="0" rIns="0" bIns="0" rtlCol="0" anchor="t"/>
          <a:lstStyle/>
          <a:p>
            <a:pPr indent="0" marL="0">
              <a:buNone/>
            </a:pPr>
            <a:r>
              <a:rPr lang="en-US" sz="1200" dirty="0">
                <a:solidFill>
                  <a:schemeClr val="accent5"/>
                </a:solidFill>
              </a:rPr>
              <a:t>KSE  ·  Introduction to MLOps and ML System Design  ·  Lab 1  ·  Zakhar Staryk  ·  October 2026</a:t>
            </a:r>
            <a:endParaRPr lang="en-US" sz="1200" dirty="0"/>
          </a:p>
        </p:txBody>
      </p:sp>
      <p:sp>
        <p:nvSpPr>
          <p:cNvPr id="6" name="Text 3"/>
          <p:cNvSpPr txBox="1"/>
          <p:nvPr/>
        </p:nvSpPr>
        <p:spPr>
          <a:xfrm>
            <a:off x="548640" y="3657600"/>
            <a:ext cx="2468880" cy="457200"/>
          </a:xfrm>
          <a:prstGeom prst="rect">
            <a:avLst/>
          </a:prstGeom>
          <a:noFill/>
          <a:ln/>
        </p:spPr>
        <p:txBody>
          <a:bodyPr wrap="square" lIns="0" tIns="0" rIns="0" bIns="0" rtlCol="0" anchor="t"/>
          <a:lstStyle/>
          <a:p>
            <a:pPr indent="0" marL="0">
              <a:buNone/>
            </a:pPr>
            <a:r>
              <a:rPr lang="en-US" sz="2800" b="1" dirty="0">
                <a:solidFill>
                  <a:schemeClr val="accent1"/>
                </a:solidFill>
              </a:rPr>
              <a:t>18.5 M</a:t>
            </a:r>
            <a:endParaRPr lang="en-US" sz="2800" dirty="0"/>
          </a:p>
        </p:txBody>
      </p:sp>
      <p:sp>
        <p:nvSpPr>
          <p:cNvPr id="7" name="Text 4"/>
          <p:cNvSpPr txBox="1"/>
          <p:nvPr/>
        </p:nvSpPr>
        <p:spPr>
          <a:xfrm>
            <a:off x="548640" y="4114800"/>
            <a:ext cx="2468880" cy="320040"/>
          </a:xfrm>
          <a:prstGeom prst="rect">
            <a:avLst/>
          </a:prstGeom>
          <a:noFill/>
          <a:ln/>
        </p:spPr>
        <p:txBody>
          <a:bodyPr wrap="square" lIns="0" tIns="0" rIns="0" bIns="0" rtlCol="0" anchor="t"/>
          <a:lstStyle/>
          <a:p>
            <a:pPr indent="0" marL="0">
              <a:buNone/>
            </a:pPr>
            <a:r>
              <a:rPr lang="en-US" sz="1200" dirty="0">
                <a:solidFill>
                  <a:schemeClr val="bg2"/>
                </a:solidFill>
              </a:rPr>
              <a:t>complaints in the CFPB database</a:t>
            </a:r>
            <a:endParaRPr lang="en-US" sz="1200" dirty="0"/>
          </a:p>
        </p:txBody>
      </p:sp>
      <p:sp>
        <p:nvSpPr>
          <p:cNvPr id="8" name="Text 5"/>
          <p:cNvSpPr txBox="1"/>
          <p:nvPr/>
        </p:nvSpPr>
        <p:spPr>
          <a:xfrm>
            <a:off x="3246120" y="3657600"/>
            <a:ext cx="2468880" cy="457200"/>
          </a:xfrm>
          <a:prstGeom prst="rect">
            <a:avLst/>
          </a:prstGeom>
          <a:noFill/>
          <a:ln/>
        </p:spPr>
        <p:txBody>
          <a:bodyPr wrap="square" lIns="0" tIns="0" rIns="0" bIns="0" rtlCol="0" anchor="t"/>
          <a:lstStyle/>
          <a:p>
            <a:pPr indent="0" marL="0">
              <a:buNone/>
            </a:pPr>
            <a:r>
              <a:rPr lang="en-US" sz="2800" b="1" dirty="0">
                <a:solidFill>
                  <a:schemeClr val="accent1"/>
                </a:solidFill>
              </a:rPr>
              <a:t>3.8 M</a:t>
            </a:r>
            <a:endParaRPr lang="en-US" sz="2800" dirty="0"/>
          </a:p>
        </p:txBody>
      </p:sp>
      <p:sp>
        <p:nvSpPr>
          <p:cNvPr id="9" name="Text 6"/>
          <p:cNvSpPr txBox="1"/>
          <p:nvPr/>
        </p:nvSpPr>
        <p:spPr>
          <a:xfrm>
            <a:off x="3246120" y="4114800"/>
            <a:ext cx="2468880" cy="320040"/>
          </a:xfrm>
          <a:prstGeom prst="rect">
            <a:avLst/>
          </a:prstGeom>
          <a:noFill/>
          <a:ln/>
        </p:spPr>
        <p:txBody>
          <a:bodyPr wrap="square" lIns="0" tIns="0" rIns="0" bIns="0" rtlCol="0" anchor="t"/>
          <a:lstStyle/>
          <a:p>
            <a:pPr indent="0" marL="0">
              <a:buNone/>
            </a:pPr>
            <a:r>
              <a:rPr lang="en-US" sz="1200" dirty="0">
                <a:solidFill>
                  <a:schemeClr val="bg2"/>
                </a:solidFill>
              </a:rPr>
              <a:t>of them with complaint text</a:t>
            </a:r>
            <a:endParaRPr lang="en-US" sz="1200" dirty="0"/>
          </a:p>
        </p:txBody>
      </p:sp>
      <p:sp>
        <p:nvSpPr>
          <p:cNvPr id="10" name="Text 7"/>
          <p:cNvSpPr txBox="1"/>
          <p:nvPr/>
        </p:nvSpPr>
        <p:spPr>
          <a:xfrm>
            <a:off x="5943600" y="3657600"/>
            <a:ext cx="2468880" cy="457200"/>
          </a:xfrm>
          <a:prstGeom prst="rect">
            <a:avLst/>
          </a:prstGeom>
          <a:noFill/>
          <a:ln/>
        </p:spPr>
        <p:txBody>
          <a:bodyPr wrap="square" lIns="0" tIns="0" rIns="0" bIns="0" rtlCol="0" anchor="t"/>
          <a:lstStyle/>
          <a:p>
            <a:pPr indent="0" marL="0">
              <a:buNone/>
            </a:pPr>
            <a:r>
              <a:rPr lang="en-US" sz="2800" b="1" dirty="0">
                <a:solidFill>
                  <a:schemeClr val="accent1"/>
                </a:solidFill>
              </a:rPr>
              <a:t>10</a:t>
            </a:r>
            <a:endParaRPr lang="en-US" sz="2800" dirty="0"/>
          </a:p>
        </p:txBody>
      </p:sp>
      <p:sp>
        <p:nvSpPr>
          <p:cNvPr id="11" name="Text 8"/>
          <p:cNvSpPr txBox="1"/>
          <p:nvPr/>
        </p:nvSpPr>
        <p:spPr>
          <a:xfrm>
            <a:off x="5943600" y="4114800"/>
            <a:ext cx="2468880" cy="320040"/>
          </a:xfrm>
          <a:prstGeom prst="rect">
            <a:avLst/>
          </a:prstGeom>
          <a:noFill/>
          <a:ln/>
        </p:spPr>
        <p:txBody>
          <a:bodyPr wrap="square" lIns="0" tIns="0" rIns="0" bIns="0" rtlCol="0" anchor="t"/>
          <a:lstStyle/>
          <a:p>
            <a:pPr indent="0" marL="0">
              <a:buNone/>
            </a:pPr>
            <a:r>
              <a:rPr lang="en-US" sz="1200" dirty="0">
                <a:solidFill>
                  <a:schemeClr val="bg2"/>
                </a:solidFill>
              </a:rPr>
              <a:t>product queues to route to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Every complaint has to reach the team that owns it</a:t>
            </a:r>
            <a:endParaRPr lang="en-US" sz="2400" dirty="0"/>
          </a:p>
        </p:txBody>
      </p:sp>
      <p:sp>
        <p:nvSpPr>
          <p:cNvPr id="4" name="Shape 1"/>
          <p:cNvSpPr/>
          <p:nvPr/>
        </p:nvSpPr>
        <p:spPr>
          <a:xfrm>
            <a:off x="457200" y="1325880"/>
            <a:ext cx="1828800" cy="914400"/>
          </a:xfrm>
          <a:prstGeom prst="roundRect">
            <a:avLst>
              <a:gd name="adj" fmla="val 6000"/>
            </a:avLst>
          </a:prstGeom>
          <a:solidFill>
            <a:schemeClr val="bg2"/>
          </a:solidFill>
          <a:ln w="12700">
            <a:solidFill>
              <a:srgbClr val="D3DAE2"/>
            </a:solidFill>
            <a:prstDash val="solid"/>
          </a:ln>
        </p:spPr>
      </p:sp>
      <p:sp>
        <p:nvSpPr>
          <p:cNvPr id="5" name="Text 2"/>
          <p:cNvSpPr txBox="1"/>
          <p:nvPr/>
        </p:nvSpPr>
        <p:spPr>
          <a:xfrm>
            <a:off x="594360" y="1417320"/>
            <a:ext cx="1554480" cy="274320"/>
          </a:xfrm>
          <a:prstGeom prst="rect">
            <a:avLst/>
          </a:prstGeom>
          <a:noFill/>
          <a:ln/>
        </p:spPr>
        <p:txBody>
          <a:bodyPr wrap="square" lIns="0" tIns="0" rIns="0" bIns="0" rtlCol="0" anchor="t"/>
          <a:lstStyle/>
          <a:p>
            <a:pPr indent="0" marL="0">
              <a:buNone/>
            </a:pPr>
            <a:r>
              <a:rPr lang="en-US" sz="1400" b="1" dirty="0">
                <a:solidFill>
                  <a:schemeClr val="tx1"/>
                </a:solidFill>
              </a:rPr>
              <a:t>New complaint</a:t>
            </a:r>
            <a:endParaRPr lang="en-US" sz="1400" dirty="0"/>
          </a:p>
        </p:txBody>
      </p:sp>
      <p:sp>
        <p:nvSpPr>
          <p:cNvPr id="6" name="Text 3"/>
          <p:cNvSpPr txBox="1"/>
          <p:nvPr/>
        </p:nvSpPr>
        <p:spPr>
          <a:xfrm>
            <a:off x="594360" y="1719072"/>
            <a:ext cx="1554480" cy="411480"/>
          </a:xfrm>
          <a:prstGeom prst="rect">
            <a:avLst/>
          </a:prstGeom>
          <a:noFill/>
          <a:ln/>
        </p:spPr>
        <p:txBody>
          <a:bodyPr wrap="square" lIns="0" tIns="0" rIns="0" bIns="0" rtlCol="0" anchor="t"/>
          <a:lstStyle/>
          <a:p>
            <a:pPr indent="0" marL="0">
              <a:buNone/>
            </a:pPr>
            <a:r>
              <a:rPr lang="en-US" sz="1100" dirty="0">
                <a:solidFill>
                  <a:schemeClr val="accent5"/>
                </a:solidFill>
              </a:rPr>
              <a:t>free text + form fields</a:t>
            </a:r>
            <a:endParaRPr lang="en-US" sz="1100" dirty="0"/>
          </a:p>
        </p:txBody>
      </p:sp>
      <p:sp>
        <p:nvSpPr>
          <p:cNvPr id="7" name="Shape 4"/>
          <p:cNvSpPr/>
          <p:nvPr/>
        </p:nvSpPr>
        <p:spPr>
          <a:xfrm>
            <a:off x="2286000" y="1783080"/>
            <a:ext cx="502920" cy="0"/>
          </a:xfrm>
          <a:prstGeom prst="line">
            <a:avLst/>
          </a:prstGeom>
          <a:noFill/>
          <a:ln w="15875">
            <a:solidFill>
              <a:srgbClr val="6B7785"/>
            </a:solidFill>
            <a:prstDash val="solid"/>
            <a:tailEnd type="triangle"/>
          </a:ln>
        </p:spPr>
      </p:sp>
      <p:sp>
        <p:nvSpPr>
          <p:cNvPr id="8" name="Shape 5"/>
          <p:cNvSpPr/>
          <p:nvPr/>
        </p:nvSpPr>
        <p:spPr>
          <a:xfrm>
            <a:off x="2788920" y="1234440"/>
            <a:ext cx="1828800" cy="1097280"/>
          </a:xfrm>
          <a:prstGeom prst="roundRect">
            <a:avLst>
              <a:gd name="adj" fmla="val 5000"/>
            </a:avLst>
          </a:prstGeom>
          <a:solidFill>
            <a:schemeClr val="accent2"/>
          </a:solidFill>
          <a:ln w="12700">
            <a:solidFill>
              <a:srgbClr val="2F6F8F"/>
            </a:solidFill>
            <a:prstDash val="solid"/>
          </a:ln>
        </p:spPr>
      </p:sp>
      <p:sp>
        <p:nvSpPr>
          <p:cNvPr id="9" name="Text 6"/>
          <p:cNvSpPr txBox="1"/>
          <p:nvPr/>
        </p:nvSpPr>
        <p:spPr>
          <a:xfrm>
            <a:off x="2926080" y="1371600"/>
            <a:ext cx="1600200" cy="274320"/>
          </a:xfrm>
          <a:prstGeom prst="rect">
            <a:avLst/>
          </a:prstGeom>
          <a:noFill/>
          <a:ln/>
        </p:spPr>
        <p:txBody>
          <a:bodyPr wrap="square" lIns="0" tIns="0" rIns="0" bIns="0" rtlCol="0" anchor="t"/>
          <a:lstStyle/>
          <a:p>
            <a:pPr indent="0" marL="0">
              <a:buNone/>
            </a:pPr>
            <a:r>
              <a:rPr lang="en-US" sz="1400" b="1" dirty="0">
                <a:solidFill>
                  <a:schemeClr val="bg1"/>
                </a:solidFill>
              </a:rPr>
              <a:t>complaint-router</a:t>
            </a:r>
            <a:endParaRPr lang="en-US" sz="1400" dirty="0"/>
          </a:p>
        </p:txBody>
      </p:sp>
      <p:sp>
        <p:nvSpPr>
          <p:cNvPr id="10" name="Text 7"/>
          <p:cNvSpPr txBox="1"/>
          <p:nvPr/>
        </p:nvSpPr>
        <p:spPr>
          <a:xfrm>
            <a:off x="2926080" y="1691640"/>
            <a:ext cx="1600200" cy="502920"/>
          </a:xfrm>
          <a:prstGeom prst="rect">
            <a:avLst/>
          </a:prstGeom>
          <a:noFill/>
          <a:ln/>
        </p:spPr>
        <p:txBody>
          <a:bodyPr wrap="square" lIns="0" tIns="0" rIns="0" bIns="0" rtlCol="0" anchor="t"/>
          <a:lstStyle/>
          <a:p>
            <a:pPr indent="0" marL="0">
              <a:buNone/>
            </a:pPr>
            <a:r>
              <a:rPr lang="en-US" sz="1100" dirty="0">
                <a:solidFill>
                  <a:schemeClr val="bg1"/>
                </a:solidFill>
              </a:rPr>
              <a:t>product + confidence</a:t>
            </a:r>
            <a:endParaRPr lang="en-US" sz="1100" dirty="0"/>
          </a:p>
          <a:p>
            <a:pPr indent="0" marL="0">
              <a:buNone/>
            </a:pPr>
            <a:r>
              <a:rPr lang="en-US" sz="1100" dirty="0">
                <a:solidFill>
                  <a:schemeClr val="bg1"/>
                </a:solidFill>
              </a:rPr>
              <a:t>in &lt; 0.3 s</a:t>
            </a:r>
            <a:endParaRPr lang="en-US" sz="1100" dirty="0"/>
          </a:p>
        </p:txBody>
      </p:sp>
      <p:sp>
        <p:nvSpPr>
          <p:cNvPr id="11" name="Shape 8"/>
          <p:cNvSpPr/>
          <p:nvPr/>
        </p:nvSpPr>
        <p:spPr>
          <a:xfrm flipV="1">
            <a:off x="4617720" y="1188720"/>
            <a:ext cx="502920" cy="365760"/>
          </a:xfrm>
          <a:prstGeom prst="line">
            <a:avLst/>
          </a:prstGeom>
          <a:noFill/>
          <a:ln w="15875">
            <a:solidFill>
              <a:srgbClr val="6B7785"/>
            </a:solidFill>
            <a:prstDash val="solid"/>
            <a:tailEnd type="triangle"/>
          </a:ln>
        </p:spPr>
      </p:sp>
      <p:sp>
        <p:nvSpPr>
          <p:cNvPr id="12" name="Shape 9"/>
          <p:cNvSpPr/>
          <p:nvPr/>
        </p:nvSpPr>
        <p:spPr>
          <a:xfrm>
            <a:off x="4617720" y="2011680"/>
            <a:ext cx="502920" cy="365760"/>
          </a:xfrm>
          <a:prstGeom prst="line">
            <a:avLst/>
          </a:prstGeom>
          <a:noFill/>
          <a:ln w="15875">
            <a:solidFill>
              <a:srgbClr val="6B7785"/>
            </a:solidFill>
            <a:prstDash val="solid"/>
            <a:tailEnd type="triangle"/>
          </a:ln>
        </p:spPr>
      </p:sp>
      <p:sp>
        <p:nvSpPr>
          <p:cNvPr id="13" name="Shape 10"/>
          <p:cNvSpPr/>
          <p:nvPr/>
        </p:nvSpPr>
        <p:spPr>
          <a:xfrm>
            <a:off x="5120640" y="896112"/>
            <a:ext cx="1828800" cy="566928"/>
          </a:xfrm>
          <a:prstGeom prst="roundRect">
            <a:avLst>
              <a:gd name="adj" fmla="val 9677"/>
            </a:avLst>
          </a:prstGeom>
          <a:solidFill>
            <a:schemeClr val="bg2"/>
          </a:solidFill>
          <a:ln w="19050">
            <a:solidFill>
              <a:srgbClr val="3F7D4E"/>
            </a:solidFill>
            <a:prstDash val="solid"/>
          </a:ln>
        </p:spPr>
      </p:sp>
      <p:sp>
        <p:nvSpPr>
          <p:cNvPr id="14" name="Text 11"/>
          <p:cNvSpPr txBox="1"/>
          <p:nvPr/>
        </p:nvSpPr>
        <p:spPr>
          <a:xfrm>
            <a:off x="5230368" y="950976"/>
            <a:ext cx="1645920" cy="228600"/>
          </a:xfrm>
          <a:prstGeom prst="rect">
            <a:avLst/>
          </a:prstGeom>
          <a:noFill/>
          <a:ln/>
        </p:spPr>
        <p:txBody>
          <a:bodyPr wrap="square" lIns="0" tIns="0" rIns="0" bIns="0" rtlCol="0" anchor="t"/>
          <a:lstStyle/>
          <a:p>
            <a:pPr indent="0" marL="0">
              <a:buNone/>
            </a:pPr>
            <a:r>
              <a:rPr lang="en-US" sz="1200" b="1" dirty="0">
                <a:solidFill>
                  <a:schemeClr val="accent4"/>
                </a:solidFill>
              </a:rPr>
              <a:t>Team queue (auto)</a:t>
            </a:r>
            <a:endParaRPr lang="en-US" sz="1200" dirty="0"/>
          </a:p>
        </p:txBody>
      </p:sp>
      <p:sp>
        <p:nvSpPr>
          <p:cNvPr id="15" name="Text 12"/>
          <p:cNvSpPr txBox="1"/>
          <p:nvPr/>
        </p:nvSpPr>
        <p:spPr>
          <a:xfrm>
            <a:off x="5230368" y="1188720"/>
            <a:ext cx="1645920" cy="228600"/>
          </a:xfrm>
          <a:prstGeom prst="rect">
            <a:avLst/>
          </a:prstGeom>
          <a:noFill/>
          <a:ln/>
        </p:spPr>
        <p:txBody>
          <a:bodyPr wrap="square" lIns="0" tIns="0" rIns="0" bIns="0" rtlCol="0" anchor="t"/>
          <a:lstStyle/>
          <a:p>
            <a:pPr indent="0" marL="0">
              <a:buNone/>
            </a:pPr>
            <a:r>
              <a:rPr lang="en-US" sz="1000" dirty="0">
                <a:solidFill>
                  <a:schemeClr val="accent5"/>
                </a:solidFill>
              </a:rPr>
              <a:t>confidence ≥ threshold</a:t>
            </a:r>
            <a:endParaRPr lang="en-US" sz="1000" dirty="0"/>
          </a:p>
        </p:txBody>
      </p:sp>
      <p:sp>
        <p:nvSpPr>
          <p:cNvPr id="16" name="Shape 13"/>
          <p:cNvSpPr/>
          <p:nvPr/>
        </p:nvSpPr>
        <p:spPr>
          <a:xfrm>
            <a:off x="5120640" y="2103120"/>
            <a:ext cx="1828800" cy="566928"/>
          </a:xfrm>
          <a:prstGeom prst="roundRect">
            <a:avLst>
              <a:gd name="adj" fmla="val 9677"/>
            </a:avLst>
          </a:prstGeom>
          <a:solidFill>
            <a:schemeClr val="bg2"/>
          </a:solidFill>
          <a:ln w="19050">
            <a:solidFill>
              <a:srgbClr val="C9741F"/>
            </a:solidFill>
            <a:prstDash val="solid"/>
          </a:ln>
        </p:spPr>
      </p:sp>
      <p:sp>
        <p:nvSpPr>
          <p:cNvPr id="17" name="Text 14"/>
          <p:cNvSpPr txBox="1"/>
          <p:nvPr/>
        </p:nvSpPr>
        <p:spPr>
          <a:xfrm>
            <a:off x="5230368" y="2157984"/>
            <a:ext cx="1645920" cy="228600"/>
          </a:xfrm>
          <a:prstGeom prst="rect">
            <a:avLst/>
          </a:prstGeom>
          <a:noFill/>
          <a:ln/>
        </p:spPr>
        <p:txBody>
          <a:bodyPr wrap="square" lIns="0" tIns="0" rIns="0" bIns="0" rtlCol="0" anchor="t"/>
          <a:lstStyle/>
          <a:p>
            <a:pPr indent="0" marL="0">
              <a:buNone/>
            </a:pPr>
            <a:r>
              <a:rPr lang="en-US" sz="1200" b="1" dirty="0">
                <a:solidFill>
                  <a:schemeClr val="accent1"/>
                </a:solidFill>
              </a:rPr>
              <a:t>Human triage</a:t>
            </a:r>
            <a:endParaRPr lang="en-US" sz="1200" dirty="0"/>
          </a:p>
        </p:txBody>
      </p:sp>
      <p:sp>
        <p:nvSpPr>
          <p:cNvPr id="18" name="Text 15"/>
          <p:cNvSpPr txBox="1"/>
          <p:nvPr/>
        </p:nvSpPr>
        <p:spPr>
          <a:xfrm>
            <a:off x="5230368" y="2395728"/>
            <a:ext cx="1645920" cy="228600"/>
          </a:xfrm>
          <a:prstGeom prst="rect">
            <a:avLst/>
          </a:prstGeom>
          <a:noFill/>
          <a:ln/>
        </p:spPr>
        <p:txBody>
          <a:bodyPr wrap="square" lIns="0" tIns="0" rIns="0" bIns="0" rtlCol="0" anchor="t"/>
          <a:lstStyle/>
          <a:p>
            <a:pPr indent="0" marL="0">
              <a:buNone/>
            </a:pPr>
            <a:r>
              <a:rPr lang="en-US" sz="1000" dirty="0">
                <a:solidFill>
                  <a:schemeClr val="accent5"/>
                </a:solidFill>
              </a:rPr>
              <a:t>suggestion shown to agent</a:t>
            </a:r>
            <a:endParaRPr lang="en-US" sz="1000" dirty="0"/>
          </a:p>
        </p:txBody>
      </p:sp>
      <p:sp>
        <p:nvSpPr>
          <p:cNvPr id="19" name="Text 16"/>
          <p:cNvSpPr txBox="1"/>
          <p:nvPr/>
        </p:nvSpPr>
        <p:spPr>
          <a:xfrm>
            <a:off x="5120640" y="2743200"/>
            <a:ext cx="3566160" cy="274320"/>
          </a:xfrm>
          <a:prstGeom prst="rect">
            <a:avLst/>
          </a:prstGeom>
          <a:noFill/>
          <a:ln/>
        </p:spPr>
        <p:txBody>
          <a:bodyPr wrap="square" lIns="0" tIns="0" rIns="0" bIns="0" rtlCol="0" anchor="t"/>
          <a:lstStyle/>
          <a:p>
            <a:pPr indent="0" marL="0">
              <a:buNone/>
            </a:pPr>
            <a:r>
              <a:rPr lang="en-US" sz="1100" i="1" dirty="0">
                <a:solidFill>
                  <a:schemeClr val="accent5"/>
                </a:solidFill>
              </a:rPr>
              <a:t>Service down or &gt; 2 s → human triage. Intake never stops.</a:t>
            </a:r>
            <a:endParaRPr lang="en-US" sz="1100" dirty="0"/>
          </a:p>
        </p:txBody>
      </p:sp>
      <p:sp>
        <p:nvSpPr>
          <p:cNvPr id="20" name="Shape 17"/>
          <p:cNvSpPr/>
          <p:nvPr/>
        </p:nvSpPr>
        <p:spPr>
          <a:xfrm>
            <a:off x="457200" y="3200400"/>
            <a:ext cx="2606040" cy="1417320"/>
          </a:xfrm>
          <a:prstGeom prst="roundRect">
            <a:avLst>
              <a:gd name="adj" fmla="val 3871"/>
            </a:avLst>
          </a:prstGeom>
          <a:solidFill>
            <a:schemeClr val="bg2"/>
          </a:solidFill>
          <a:ln w="9525">
            <a:solidFill>
              <a:schemeClr val="bg2"/>
            </a:solidFill>
            <a:prstDash val="solid"/>
          </a:ln>
        </p:spPr>
      </p:sp>
      <p:sp>
        <p:nvSpPr>
          <p:cNvPr id="21" name="Text 18"/>
          <p:cNvSpPr txBox="1"/>
          <p:nvPr/>
        </p:nvSpPr>
        <p:spPr>
          <a:xfrm>
            <a:off x="594360" y="3310128"/>
            <a:ext cx="2331720" cy="274320"/>
          </a:xfrm>
          <a:prstGeom prst="rect">
            <a:avLst/>
          </a:prstGeom>
          <a:noFill/>
          <a:ln/>
        </p:spPr>
        <p:txBody>
          <a:bodyPr wrap="square" lIns="0" tIns="0" rIns="0" bIns="0" rtlCol="0" anchor="t"/>
          <a:lstStyle/>
          <a:p>
            <a:pPr indent="0" marL="0">
              <a:buNone/>
            </a:pPr>
            <a:r>
              <a:rPr lang="en-US" sz="1400" b="1" dirty="0">
                <a:solidFill>
                  <a:schemeClr val="accent2"/>
                </a:solidFill>
              </a:rPr>
              <a:t>Who consumes</a:t>
            </a:r>
            <a:endParaRPr lang="en-US" sz="1400" dirty="0"/>
          </a:p>
        </p:txBody>
      </p:sp>
      <p:sp>
        <p:nvSpPr>
          <p:cNvPr id="22" name="Text 19"/>
          <p:cNvSpPr txBox="1"/>
          <p:nvPr/>
        </p:nvSpPr>
        <p:spPr>
          <a:xfrm>
            <a:off x="594360" y="3611880"/>
            <a:ext cx="2331720" cy="960120"/>
          </a:xfrm>
          <a:prstGeom prst="rect">
            <a:avLst/>
          </a:prstGeom>
          <a:noFill/>
          <a:ln/>
        </p:spPr>
        <p:txBody>
          <a:bodyPr wrap="square" lIns="0" tIns="0" rIns="0" bIns="0" rtlCol="0" anchor="t"/>
          <a:lstStyle/>
          <a:p>
            <a:pPr indent="0" marL="0">
              <a:buNone/>
            </a:pPr>
            <a:r>
              <a:rPr lang="en-US" sz="1200" dirty="0">
                <a:solidFill>
                  <a:schemeClr val="tx1"/>
                </a:solidFill>
              </a:rPr>
              <a:t>The intake desk's ticket queue calls POST /predict once per complaint; agents see the suggestion when it is not auto-routed.</a:t>
            </a:r>
            <a:endParaRPr lang="en-US" sz="1200" dirty="0"/>
          </a:p>
        </p:txBody>
      </p:sp>
      <p:sp>
        <p:nvSpPr>
          <p:cNvPr id="23" name="Shape 20"/>
          <p:cNvSpPr/>
          <p:nvPr/>
        </p:nvSpPr>
        <p:spPr>
          <a:xfrm>
            <a:off x="3246120" y="3200400"/>
            <a:ext cx="2606040" cy="1417320"/>
          </a:xfrm>
          <a:prstGeom prst="roundRect">
            <a:avLst>
              <a:gd name="adj" fmla="val 3871"/>
            </a:avLst>
          </a:prstGeom>
          <a:solidFill>
            <a:schemeClr val="bg2"/>
          </a:solidFill>
          <a:ln w="9525">
            <a:solidFill>
              <a:schemeClr val="bg2"/>
            </a:solidFill>
            <a:prstDash val="solid"/>
          </a:ln>
        </p:spPr>
      </p:sp>
      <p:sp>
        <p:nvSpPr>
          <p:cNvPr id="24" name="Text 21"/>
          <p:cNvSpPr txBox="1"/>
          <p:nvPr/>
        </p:nvSpPr>
        <p:spPr>
          <a:xfrm>
            <a:off x="3383280" y="3310128"/>
            <a:ext cx="2331720" cy="274320"/>
          </a:xfrm>
          <a:prstGeom prst="rect">
            <a:avLst/>
          </a:prstGeom>
          <a:noFill/>
          <a:ln/>
        </p:spPr>
        <p:txBody>
          <a:bodyPr wrap="square" lIns="0" tIns="0" rIns="0" bIns="0" rtlCol="0" anchor="t"/>
          <a:lstStyle/>
          <a:p>
            <a:pPr indent="0" marL="0">
              <a:buNone/>
            </a:pPr>
            <a:r>
              <a:rPr lang="en-US" sz="1400" b="1" dirty="0">
                <a:solidFill>
                  <a:schemeClr val="accent2"/>
                </a:solidFill>
              </a:rPr>
              <a:t>How often</a:t>
            </a:r>
            <a:endParaRPr lang="en-US" sz="1400" dirty="0"/>
          </a:p>
        </p:txBody>
      </p:sp>
      <p:sp>
        <p:nvSpPr>
          <p:cNvPr id="25" name="Text 22"/>
          <p:cNvSpPr txBox="1"/>
          <p:nvPr/>
        </p:nvSpPr>
        <p:spPr>
          <a:xfrm>
            <a:off x="3383280" y="3611880"/>
            <a:ext cx="2331720" cy="960120"/>
          </a:xfrm>
          <a:prstGeom prst="rect">
            <a:avLst/>
          </a:prstGeom>
          <a:noFill/>
          <a:ln/>
        </p:spPr>
        <p:txBody>
          <a:bodyPr wrap="square" lIns="0" tIns="0" rIns="0" bIns="0" rtlCol="0" anchor="t"/>
          <a:lstStyle/>
          <a:p>
            <a:pPr indent="0" marL="0">
              <a:buNone/>
            </a:pPr>
            <a:r>
              <a:rPr lang="en-US" sz="1200" dirty="0">
                <a:solidFill>
                  <a:schemeClr val="tx1"/>
                </a:solidFill>
              </a:rPr>
              <a:t>~21,000 complaints a day in 2026 (measured in the official export); peak ≈ 2.5 requests/s.</a:t>
            </a:r>
            <a:endParaRPr lang="en-US" sz="1200" dirty="0"/>
          </a:p>
        </p:txBody>
      </p:sp>
      <p:sp>
        <p:nvSpPr>
          <p:cNvPr id="26" name="Shape 23"/>
          <p:cNvSpPr/>
          <p:nvPr/>
        </p:nvSpPr>
        <p:spPr>
          <a:xfrm>
            <a:off x="6035040" y="3200400"/>
            <a:ext cx="2606040" cy="1417320"/>
          </a:xfrm>
          <a:prstGeom prst="roundRect">
            <a:avLst>
              <a:gd name="adj" fmla="val 3871"/>
            </a:avLst>
          </a:prstGeom>
          <a:solidFill>
            <a:schemeClr val="bg2"/>
          </a:solidFill>
          <a:ln w="9525">
            <a:solidFill>
              <a:schemeClr val="bg2"/>
            </a:solidFill>
            <a:prstDash val="solid"/>
          </a:ln>
        </p:spPr>
      </p:sp>
      <p:sp>
        <p:nvSpPr>
          <p:cNvPr id="27" name="Text 24"/>
          <p:cNvSpPr txBox="1"/>
          <p:nvPr/>
        </p:nvSpPr>
        <p:spPr>
          <a:xfrm>
            <a:off x="6172200" y="3310128"/>
            <a:ext cx="2331720" cy="274320"/>
          </a:xfrm>
          <a:prstGeom prst="rect">
            <a:avLst/>
          </a:prstGeom>
          <a:noFill/>
          <a:ln/>
        </p:spPr>
        <p:txBody>
          <a:bodyPr wrap="square" lIns="0" tIns="0" rIns="0" bIns="0" rtlCol="0" anchor="t"/>
          <a:lstStyle/>
          <a:p>
            <a:pPr indent="0" marL="0">
              <a:buNone/>
            </a:pPr>
            <a:r>
              <a:rPr lang="en-US" sz="1400" b="1" dirty="0">
                <a:solidFill>
                  <a:schemeClr val="accent2"/>
                </a:solidFill>
              </a:rPr>
              <a:t>Cost of an error</a:t>
            </a:r>
            <a:endParaRPr lang="en-US" sz="1400" dirty="0"/>
          </a:p>
        </p:txBody>
      </p:sp>
      <p:sp>
        <p:nvSpPr>
          <p:cNvPr id="28" name="Text 25"/>
          <p:cNvSpPr txBox="1"/>
          <p:nvPr/>
        </p:nvSpPr>
        <p:spPr>
          <a:xfrm>
            <a:off x="6172200" y="3611880"/>
            <a:ext cx="2331720" cy="960120"/>
          </a:xfrm>
          <a:prstGeom prst="rect">
            <a:avLst/>
          </a:prstGeom>
          <a:noFill/>
          <a:ln/>
        </p:spPr>
        <p:txBody>
          <a:bodyPr wrap="square" lIns="0" tIns="0" rIns="0" bIns="0" rtlCol="0" anchor="t"/>
          <a:lstStyle/>
          <a:p>
            <a:pPr indent="0" marL="0">
              <a:buNone/>
            </a:pPr>
            <a:r>
              <a:rPr lang="en-US" sz="1200" dirty="0">
                <a:solidFill>
                  <a:schemeClr val="tx1"/>
                </a:solidFill>
              </a:rPr>
              <a:t>Wrong team → reassignment while the 15-day response clock runs. Systematic errors hide until labels arrive.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The data keeps moving, so a one-off notebook would decay</a:t>
            </a:r>
            <a:endParaRPr lang="en-US" sz="2400" dirty="0"/>
          </a:p>
        </p:txBody>
      </p:sp>
      <p:graphicFrame>
        <p:nvGraphicFramePr>
          <p:cNvPr id="4" name="Chart 0" descr=""/>
          <p:cNvGraphicFramePr/>
          <p:nvPr/>
        </p:nvGraphicFramePr>
        <p:xfrm>
          <a:off x="365760" y="914400"/>
          <a:ext cx="4754880" cy="35661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5349240" y="960120"/>
            <a:ext cx="3337560" cy="786384"/>
          </a:xfrm>
          <a:prstGeom prst="roundRect">
            <a:avLst>
              <a:gd name="adj" fmla="val 6977"/>
            </a:avLst>
          </a:prstGeom>
          <a:solidFill>
            <a:schemeClr val="bg2"/>
          </a:solidFill>
          <a:ln w="9525">
            <a:solidFill>
              <a:schemeClr val="bg2"/>
            </a:solidFill>
            <a:prstDash val="solid"/>
          </a:ln>
        </p:spPr>
      </p:sp>
      <p:sp>
        <p:nvSpPr>
          <p:cNvPr id="6" name="Text 2"/>
          <p:cNvSpPr txBox="1"/>
          <p:nvPr/>
        </p:nvSpPr>
        <p:spPr>
          <a:xfrm>
            <a:off x="5486400" y="1033272"/>
            <a:ext cx="3108960" cy="256032"/>
          </a:xfrm>
          <a:prstGeom prst="rect">
            <a:avLst/>
          </a:prstGeom>
          <a:noFill/>
          <a:ln/>
        </p:spPr>
        <p:txBody>
          <a:bodyPr wrap="square" lIns="0" tIns="0" rIns="0" bIns="0" rtlCol="0" anchor="t"/>
          <a:lstStyle/>
          <a:p>
            <a:pPr indent="0" marL="0">
              <a:buNone/>
            </a:pPr>
            <a:r>
              <a:rPr lang="en-US" sz="1300" b="1" dirty="0">
                <a:solidFill>
                  <a:schemeClr val="accent2"/>
                </a:solidFill>
              </a:rPr>
              <a:t>Label set changed twice</a:t>
            </a:r>
            <a:endParaRPr lang="en-US" sz="1300" dirty="0"/>
          </a:p>
        </p:txBody>
      </p:sp>
      <p:sp>
        <p:nvSpPr>
          <p:cNvPr id="7" name="Text 3"/>
          <p:cNvSpPr txBox="1"/>
          <p:nvPr/>
        </p:nvSpPr>
        <p:spPr>
          <a:xfrm>
            <a:off x="5486400" y="1307592"/>
            <a:ext cx="3108960" cy="411480"/>
          </a:xfrm>
          <a:prstGeom prst="rect">
            <a:avLst/>
          </a:prstGeom>
          <a:noFill/>
          <a:ln/>
        </p:spPr>
        <p:txBody>
          <a:bodyPr wrap="square" lIns="0" tIns="0" rIns="0" bIns="0" rtlCol="0" anchor="t"/>
          <a:lstStyle/>
          <a:p>
            <a:pPr indent="0" marL="0">
              <a:buNone/>
            </a:pPr>
            <a:r>
              <a:rPr lang="en-US" sz="1100" dirty="0">
                <a:solidFill>
                  <a:schemeClr val="tx1"/>
                </a:solidFill>
              </a:rPr>
              <a:t>April 2017 and August 2023 renamed and merged products; 20 names now map to 10 classes.</a:t>
            </a:r>
            <a:endParaRPr lang="en-US" sz="1100" dirty="0"/>
          </a:p>
        </p:txBody>
      </p:sp>
      <p:sp>
        <p:nvSpPr>
          <p:cNvPr id="8" name="Shape 4"/>
          <p:cNvSpPr/>
          <p:nvPr/>
        </p:nvSpPr>
        <p:spPr>
          <a:xfrm>
            <a:off x="5349240" y="1856232"/>
            <a:ext cx="3337560" cy="786384"/>
          </a:xfrm>
          <a:prstGeom prst="roundRect">
            <a:avLst>
              <a:gd name="adj" fmla="val 6977"/>
            </a:avLst>
          </a:prstGeom>
          <a:solidFill>
            <a:schemeClr val="bg2"/>
          </a:solidFill>
          <a:ln w="9525">
            <a:solidFill>
              <a:schemeClr val="bg2"/>
            </a:solidFill>
            <a:prstDash val="solid"/>
          </a:ln>
        </p:spPr>
      </p:sp>
      <p:sp>
        <p:nvSpPr>
          <p:cNvPr id="9" name="Text 5"/>
          <p:cNvSpPr txBox="1"/>
          <p:nvPr/>
        </p:nvSpPr>
        <p:spPr>
          <a:xfrm>
            <a:off x="5486400" y="1929384"/>
            <a:ext cx="3108960" cy="256032"/>
          </a:xfrm>
          <a:prstGeom prst="rect">
            <a:avLst/>
          </a:prstGeom>
          <a:noFill/>
          <a:ln/>
        </p:spPr>
        <p:txBody>
          <a:bodyPr wrap="square" lIns="0" tIns="0" rIns="0" bIns="0" rtlCol="0" anchor="t"/>
          <a:lstStyle/>
          <a:p>
            <a:pPr indent="0" marL="0">
              <a:buNone/>
            </a:pPr>
            <a:r>
              <a:rPr lang="en-US" sz="1300" b="1" dirty="0">
                <a:solidFill>
                  <a:schemeClr val="accent2"/>
                </a:solidFill>
              </a:rPr>
              <a:t>Class mix shifted</a:t>
            </a:r>
            <a:endParaRPr lang="en-US" sz="1300" dirty="0"/>
          </a:p>
        </p:txBody>
      </p:sp>
      <p:sp>
        <p:nvSpPr>
          <p:cNvPr id="10" name="Text 6"/>
          <p:cNvSpPr txBox="1"/>
          <p:nvPr/>
        </p:nvSpPr>
        <p:spPr>
          <a:xfrm>
            <a:off x="5486400" y="2203704"/>
            <a:ext cx="3108960" cy="411480"/>
          </a:xfrm>
          <a:prstGeom prst="rect">
            <a:avLst/>
          </a:prstGeom>
          <a:noFill/>
          <a:ln/>
        </p:spPr>
        <p:txBody>
          <a:bodyPr wrap="square" lIns="0" tIns="0" rIns="0" bIns="0" rtlCol="0" anchor="t"/>
          <a:lstStyle/>
          <a:p>
            <a:pPr indent="0" marL="0">
              <a:buNone/>
            </a:pPr>
            <a:r>
              <a:rPr lang="en-US" sz="1100" dirty="0">
                <a:solidFill>
                  <a:schemeClr val="tx1"/>
                </a:solidFill>
              </a:rPr>
              <a:t>Credit reporting: 19% of texts (2016) → 77% (2024).</a:t>
            </a:r>
            <a:endParaRPr lang="en-US" sz="1100" dirty="0"/>
          </a:p>
        </p:txBody>
      </p:sp>
      <p:sp>
        <p:nvSpPr>
          <p:cNvPr id="11" name="Shape 7"/>
          <p:cNvSpPr/>
          <p:nvPr/>
        </p:nvSpPr>
        <p:spPr>
          <a:xfrm>
            <a:off x="5349240" y="2752344"/>
            <a:ext cx="3337560" cy="786384"/>
          </a:xfrm>
          <a:prstGeom prst="roundRect">
            <a:avLst>
              <a:gd name="adj" fmla="val 6977"/>
            </a:avLst>
          </a:prstGeom>
          <a:solidFill>
            <a:schemeClr val="bg2"/>
          </a:solidFill>
          <a:ln w="9525">
            <a:solidFill>
              <a:schemeClr val="bg2"/>
            </a:solidFill>
            <a:prstDash val="solid"/>
          </a:ln>
        </p:spPr>
      </p:sp>
      <p:sp>
        <p:nvSpPr>
          <p:cNvPr id="12" name="Text 8"/>
          <p:cNvSpPr txBox="1"/>
          <p:nvPr/>
        </p:nvSpPr>
        <p:spPr>
          <a:xfrm>
            <a:off x="5486400" y="2825496"/>
            <a:ext cx="3108960" cy="256032"/>
          </a:xfrm>
          <a:prstGeom prst="rect">
            <a:avLst/>
          </a:prstGeom>
          <a:noFill/>
          <a:ln/>
        </p:spPr>
        <p:txBody>
          <a:bodyPr wrap="square" lIns="0" tIns="0" rIns="0" bIns="0" rtlCol="0" anchor="t"/>
          <a:lstStyle/>
          <a:p>
            <a:pPr indent="0" marL="0">
              <a:buNone/>
            </a:pPr>
            <a:r>
              <a:rPr lang="en-US" sz="1300" b="1" dirty="0">
                <a:solidFill>
                  <a:schemeClr val="accent2"/>
                </a:solidFill>
              </a:rPr>
              <a:t>Volume grew 30×</a:t>
            </a:r>
            <a:endParaRPr lang="en-US" sz="1300" dirty="0"/>
          </a:p>
        </p:txBody>
      </p:sp>
      <p:sp>
        <p:nvSpPr>
          <p:cNvPr id="13" name="Text 9"/>
          <p:cNvSpPr txBox="1"/>
          <p:nvPr/>
        </p:nvSpPr>
        <p:spPr>
          <a:xfrm>
            <a:off x="5486400" y="3099816"/>
            <a:ext cx="3108960" cy="411480"/>
          </a:xfrm>
          <a:prstGeom prst="rect">
            <a:avLst/>
          </a:prstGeom>
          <a:noFill/>
          <a:ln/>
        </p:spPr>
        <p:txBody>
          <a:bodyPr wrap="square" lIns="0" tIns="0" rIns="0" bIns="0" rtlCol="0" anchor="t"/>
          <a:lstStyle/>
          <a:p>
            <a:pPr indent="0" marL="0">
              <a:buNone/>
            </a:pPr>
            <a:r>
              <a:rPr lang="en-US" sz="1100" dirty="0">
                <a:solidFill>
                  <a:schemeClr val="tx1"/>
                </a:solidFill>
              </a:rPr>
              <a:t>0.17 M complaints (2015) → 5.4 M (2025).</a:t>
            </a:r>
            <a:endParaRPr lang="en-US" sz="1100" dirty="0"/>
          </a:p>
        </p:txBody>
      </p:sp>
      <p:sp>
        <p:nvSpPr>
          <p:cNvPr id="14" name="Shape 10"/>
          <p:cNvSpPr/>
          <p:nvPr/>
        </p:nvSpPr>
        <p:spPr>
          <a:xfrm>
            <a:off x="5349240" y="3648456"/>
            <a:ext cx="3337560" cy="786384"/>
          </a:xfrm>
          <a:prstGeom prst="roundRect">
            <a:avLst>
              <a:gd name="adj" fmla="val 6977"/>
            </a:avLst>
          </a:prstGeom>
          <a:solidFill>
            <a:schemeClr val="bg2"/>
          </a:solidFill>
          <a:ln w="9525">
            <a:solidFill>
              <a:schemeClr val="bg2"/>
            </a:solidFill>
            <a:prstDash val="solid"/>
          </a:ln>
        </p:spPr>
      </p:sp>
      <p:sp>
        <p:nvSpPr>
          <p:cNvPr id="15" name="Text 11"/>
          <p:cNvSpPr txBox="1"/>
          <p:nvPr/>
        </p:nvSpPr>
        <p:spPr>
          <a:xfrm>
            <a:off x="5486400" y="3721608"/>
            <a:ext cx="3108960" cy="256032"/>
          </a:xfrm>
          <a:prstGeom prst="rect">
            <a:avLst/>
          </a:prstGeom>
          <a:noFill/>
          <a:ln/>
        </p:spPr>
        <p:txBody>
          <a:bodyPr wrap="square" lIns="0" tIns="0" rIns="0" bIns="0" rtlCol="0" anchor="t"/>
          <a:lstStyle/>
          <a:p>
            <a:pPr indent="0" marL="0">
              <a:buNone/>
            </a:pPr>
            <a:r>
              <a:rPr lang="en-US" sz="1300" b="1" dirty="0">
                <a:solidFill>
                  <a:schemeClr val="accent3"/>
                </a:solidFill>
              </a:rPr>
              <a:t>Text stopped in 2026</a:t>
            </a:r>
            <a:endParaRPr lang="en-US" sz="1300" dirty="0"/>
          </a:p>
        </p:txBody>
      </p:sp>
      <p:sp>
        <p:nvSpPr>
          <p:cNvPr id="16" name="Text 12"/>
          <p:cNvSpPr txBox="1"/>
          <p:nvPr/>
        </p:nvSpPr>
        <p:spPr>
          <a:xfrm>
            <a:off x="5486400" y="3995928"/>
            <a:ext cx="3108960" cy="411480"/>
          </a:xfrm>
          <a:prstGeom prst="rect">
            <a:avLst/>
          </a:prstGeom>
          <a:noFill/>
          <a:ln/>
        </p:spPr>
        <p:txBody>
          <a:bodyPr wrap="square" lIns="0" tIns="0" rIns="0" bIns="0" rtlCol="0" anchor="t"/>
          <a:lstStyle/>
          <a:p>
            <a:pPr indent="0" marL="0">
              <a:buNone/>
            </a:pPr>
            <a:r>
              <a:rPr lang="en-US" sz="1100" dirty="0">
                <a:solidFill>
                  <a:schemeClr val="tx1"/>
                </a:solidFill>
              </a:rPr>
              <a:t>CFPB no longer publishes the complaint narrative.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Success is measured on three separate layers</a:t>
            </a:r>
            <a:endParaRPr lang="en-US" sz="2400" dirty="0"/>
          </a:p>
        </p:txBody>
      </p:sp>
      <p:sp>
        <p:nvSpPr>
          <p:cNvPr id="4" name="Shape 1"/>
          <p:cNvSpPr/>
          <p:nvPr/>
        </p:nvSpPr>
        <p:spPr>
          <a:xfrm>
            <a:off x="457200" y="960120"/>
            <a:ext cx="2606040" cy="3246120"/>
          </a:xfrm>
          <a:prstGeom prst="roundRect">
            <a:avLst>
              <a:gd name="adj" fmla="val 2105"/>
            </a:avLst>
          </a:prstGeom>
          <a:solidFill>
            <a:schemeClr val="bg2"/>
          </a:solidFill>
          <a:ln w="9525">
            <a:solidFill>
              <a:schemeClr val="bg2"/>
            </a:solidFill>
            <a:prstDash val="solid"/>
          </a:ln>
        </p:spPr>
      </p:sp>
      <p:sp>
        <p:nvSpPr>
          <p:cNvPr id="5" name="Text 2"/>
          <p:cNvSpPr txBox="1"/>
          <p:nvPr/>
        </p:nvSpPr>
        <p:spPr>
          <a:xfrm>
            <a:off x="621792" y="1051560"/>
            <a:ext cx="2286000" cy="320040"/>
          </a:xfrm>
          <a:prstGeom prst="rect">
            <a:avLst/>
          </a:prstGeom>
          <a:noFill/>
          <a:ln/>
        </p:spPr>
        <p:txBody>
          <a:bodyPr wrap="square" lIns="0" tIns="0" rIns="0" bIns="0" rtlCol="0" anchor="t"/>
          <a:lstStyle/>
          <a:p>
            <a:pPr indent="0" marL="0">
              <a:buNone/>
            </a:pPr>
            <a:r>
              <a:rPr lang="en-US" sz="1600" b="1" dirty="0">
                <a:solidFill>
                  <a:schemeClr val="accent1"/>
                </a:solidFill>
              </a:rPr>
              <a:t>Business</a:t>
            </a:r>
            <a:endParaRPr lang="en-US" sz="1600" dirty="0"/>
          </a:p>
        </p:txBody>
      </p:sp>
      <p:sp>
        <p:nvSpPr>
          <p:cNvPr id="6" name="Text 3"/>
          <p:cNvSpPr txBox="1"/>
          <p:nvPr/>
        </p:nvSpPr>
        <p:spPr>
          <a:xfrm>
            <a:off x="621792" y="146304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8%</a:t>
            </a:r>
            <a:endParaRPr lang="en-US" sz="2200" dirty="0"/>
          </a:p>
        </p:txBody>
      </p:sp>
      <p:sp>
        <p:nvSpPr>
          <p:cNvPr id="7" name="Text 4"/>
          <p:cNvSpPr txBox="1"/>
          <p:nvPr/>
        </p:nvSpPr>
        <p:spPr>
          <a:xfrm>
            <a:off x="621792" y="1810512"/>
            <a:ext cx="2286000" cy="274320"/>
          </a:xfrm>
          <a:prstGeom prst="rect">
            <a:avLst/>
          </a:prstGeom>
          <a:noFill/>
          <a:ln/>
        </p:spPr>
        <p:txBody>
          <a:bodyPr wrap="square" lIns="0" tIns="0" rIns="0" bIns="0" rtlCol="0" anchor="t"/>
          <a:lstStyle/>
          <a:p>
            <a:pPr indent="0" marL="0">
              <a:buNone/>
            </a:pPr>
            <a:r>
              <a:rPr lang="en-US" sz="1100" dirty="0">
                <a:solidFill>
                  <a:schemeClr val="tx1"/>
                </a:solidFill>
              </a:rPr>
              <a:t>complaints routed to the wrong queue</a:t>
            </a:r>
            <a:endParaRPr lang="en-US" sz="1100" dirty="0"/>
          </a:p>
        </p:txBody>
      </p:sp>
      <p:sp>
        <p:nvSpPr>
          <p:cNvPr id="8" name="Text 5"/>
          <p:cNvSpPr txBox="1"/>
          <p:nvPr/>
        </p:nvSpPr>
        <p:spPr>
          <a:xfrm>
            <a:off x="621792" y="204825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optimizing · assumed baseline 15%</a:t>
            </a:r>
            <a:endParaRPr lang="en-US" sz="1000" dirty="0"/>
          </a:p>
        </p:txBody>
      </p:sp>
      <p:sp>
        <p:nvSpPr>
          <p:cNvPr id="9" name="Text 6"/>
          <p:cNvSpPr txBox="1"/>
          <p:nvPr/>
        </p:nvSpPr>
        <p:spPr>
          <a:xfrm>
            <a:off x="621792" y="278892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60%</a:t>
            </a:r>
            <a:endParaRPr lang="en-US" sz="2200" dirty="0"/>
          </a:p>
        </p:txBody>
      </p:sp>
      <p:sp>
        <p:nvSpPr>
          <p:cNvPr id="10" name="Text 7"/>
          <p:cNvSpPr txBox="1"/>
          <p:nvPr/>
        </p:nvSpPr>
        <p:spPr>
          <a:xfrm>
            <a:off x="621792" y="3136392"/>
            <a:ext cx="2286000" cy="274320"/>
          </a:xfrm>
          <a:prstGeom prst="rect">
            <a:avLst/>
          </a:prstGeom>
          <a:noFill/>
          <a:ln/>
        </p:spPr>
        <p:txBody>
          <a:bodyPr wrap="square" lIns="0" tIns="0" rIns="0" bIns="0" rtlCol="0" anchor="t"/>
          <a:lstStyle/>
          <a:p>
            <a:pPr indent="0" marL="0">
              <a:buNone/>
            </a:pPr>
            <a:r>
              <a:rPr lang="en-US" sz="1100" dirty="0">
                <a:solidFill>
                  <a:schemeClr val="tx1"/>
                </a:solidFill>
              </a:rPr>
              <a:t>routed with no human touch</a:t>
            </a:r>
            <a:endParaRPr lang="en-US" sz="1100" dirty="0"/>
          </a:p>
        </p:txBody>
      </p:sp>
      <p:sp>
        <p:nvSpPr>
          <p:cNvPr id="11" name="Text 8"/>
          <p:cNvSpPr txBox="1"/>
          <p:nvPr/>
        </p:nvSpPr>
        <p:spPr>
          <a:xfrm>
            <a:off x="621792" y="337413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12" name="Shape 9"/>
          <p:cNvSpPr/>
          <p:nvPr/>
        </p:nvSpPr>
        <p:spPr>
          <a:xfrm>
            <a:off x="3246120" y="960120"/>
            <a:ext cx="2606040" cy="3246120"/>
          </a:xfrm>
          <a:prstGeom prst="roundRect">
            <a:avLst>
              <a:gd name="adj" fmla="val 2105"/>
            </a:avLst>
          </a:prstGeom>
          <a:solidFill>
            <a:schemeClr val="bg2"/>
          </a:solidFill>
          <a:ln w="9525">
            <a:solidFill>
              <a:schemeClr val="bg2"/>
            </a:solidFill>
            <a:prstDash val="solid"/>
          </a:ln>
        </p:spPr>
      </p:sp>
      <p:sp>
        <p:nvSpPr>
          <p:cNvPr id="13" name="Text 10"/>
          <p:cNvSpPr txBox="1"/>
          <p:nvPr/>
        </p:nvSpPr>
        <p:spPr>
          <a:xfrm>
            <a:off x="3410712" y="1051560"/>
            <a:ext cx="2286000" cy="320040"/>
          </a:xfrm>
          <a:prstGeom prst="rect">
            <a:avLst/>
          </a:prstGeom>
          <a:noFill/>
          <a:ln/>
        </p:spPr>
        <p:txBody>
          <a:bodyPr wrap="square" lIns="0" tIns="0" rIns="0" bIns="0" rtlCol="0" anchor="t"/>
          <a:lstStyle/>
          <a:p>
            <a:pPr indent="0" marL="0">
              <a:buNone/>
            </a:pPr>
            <a:r>
              <a:rPr lang="en-US" sz="1600" b="1" dirty="0">
                <a:solidFill>
                  <a:schemeClr val="accent2"/>
                </a:solidFill>
              </a:rPr>
              <a:t>Model</a:t>
            </a:r>
            <a:endParaRPr lang="en-US" sz="1600" dirty="0"/>
          </a:p>
        </p:txBody>
      </p:sp>
      <p:sp>
        <p:nvSpPr>
          <p:cNvPr id="14" name="Text 11"/>
          <p:cNvSpPr txBox="1"/>
          <p:nvPr/>
        </p:nvSpPr>
        <p:spPr>
          <a:xfrm>
            <a:off x="3410712" y="146304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0.80</a:t>
            </a:r>
            <a:endParaRPr lang="en-US" sz="2200" dirty="0"/>
          </a:p>
        </p:txBody>
      </p:sp>
      <p:sp>
        <p:nvSpPr>
          <p:cNvPr id="15" name="Text 12"/>
          <p:cNvSpPr txBox="1"/>
          <p:nvPr/>
        </p:nvSpPr>
        <p:spPr>
          <a:xfrm>
            <a:off x="3410712" y="1810512"/>
            <a:ext cx="2286000" cy="274320"/>
          </a:xfrm>
          <a:prstGeom prst="rect">
            <a:avLst/>
          </a:prstGeom>
          <a:noFill/>
          <a:ln/>
        </p:spPr>
        <p:txBody>
          <a:bodyPr wrap="square" lIns="0" tIns="0" rIns="0" bIns="0" rtlCol="0" anchor="t"/>
          <a:lstStyle/>
          <a:p>
            <a:pPr indent="0" marL="0">
              <a:buNone/>
            </a:pPr>
            <a:r>
              <a:rPr lang="en-US" sz="1100" dirty="0">
                <a:solidFill>
                  <a:schemeClr val="tx1"/>
                </a:solidFill>
              </a:rPr>
              <a:t>macro-F1, newest held-out month</a:t>
            </a:r>
            <a:endParaRPr lang="en-US" sz="1100" dirty="0"/>
          </a:p>
        </p:txBody>
      </p:sp>
      <p:sp>
        <p:nvSpPr>
          <p:cNvPr id="16" name="Text 13"/>
          <p:cNvSpPr txBox="1"/>
          <p:nvPr/>
        </p:nvSpPr>
        <p:spPr>
          <a:xfrm>
            <a:off x="3410712" y="204825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optimizing · ≥ baseline + 0.10</a:t>
            </a:r>
            <a:endParaRPr lang="en-US" sz="1000" dirty="0"/>
          </a:p>
        </p:txBody>
      </p:sp>
      <p:sp>
        <p:nvSpPr>
          <p:cNvPr id="17" name="Text 14"/>
          <p:cNvSpPr txBox="1"/>
          <p:nvPr/>
        </p:nvSpPr>
        <p:spPr>
          <a:xfrm>
            <a:off x="3410712" y="278892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0.95</a:t>
            </a:r>
            <a:endParaRPr lang="en-US" sz="2200" dirty="0"/>
          </a:p>
        </p:txBody>
      </p:sp>
      <p:sp>
        <p:nvSpPr>
          <p:cNvPr id="18" name="Text 15"/>
          <p:cNvSpPr txBox="1"/>
          <p:nvPr/>
        </p:nvSpPr>
        <p:spPr>
          <a:xfrm>
            <a:off x="3410712" y="3136392"/>
            <a:ext cx="2286000" cy="274320"/>
          </a:xfrm>
          <a:prstGeom prst="rect">
            <a:avLst/>
          </a:prstGeom>
          <a:noFill/>
          <a:ln/>
        </p:spPr>
        <p:txBody>
          <a:bodyPr wrap="square" lIns="0" tIns="0" rIns="0" bIns="0" rtlCol="0" anchor="t"/>
          <a:lstStyle/>
          <a:p>
            <a:pPr indent="0" marL="0">
              <a:buNone/>
            </a:pPr>
            <a:r>
              <a:rPr lang="en-US" sz="1100" dirty="0">
                <a:solidFill>
                  <a:schemeClr val="tx1"/>
                </a:solidFill>
              </a:rPr>
              <a:t>precision on auto-routed complaints</a:t>
            </a:r>
            <a:endParaRPr lang="en-US" sz="1100" dirty="0"/>
          </a:p>
        </p:txBody>
      </p:sp>
      <p:sp>
        <p:nvSpPr>
          <p:cNvPr id="19" name="Text 16"/>
          <p:cNvSpPr txBox="1"/>
          <p:nvPr/>
        </p:nvSpPr>
        <p:spPr>
          <a:xfrm>
            <a:off x="3410712" y="337413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 · sets the threshold</a:t>
            </a:r>
            <a:endParaRPr lang="en-US" sz="1000" dirty="0"/>
          </a:p>
        </p:txBody>
      </p:sp>
      <p:sp>
        <p:nvSpPr>
          <p:cNvPr id="20" name="Shape 17"/>
          <p:cNvSpPr/>
          <p:nvPr/>
        </p:nvSpPr>
        <p:spPr>
          <a:xfrm>
            <a:off x="6035040" y="960120"/>
            <a:ext cx="2606040" cy="3246120"/>
          </a:xfrm>
          <a:prstGeom prst="roundRect">
            <a:avLst>
              <a:gd name="adj" fmla="val 2105"/>
            </a:avLst>
          </a:prstGeom>
          <a:solidFill>
            <a:schemeClr val="bg2"/>
          </a:solidFill>
          <a:ln w="9525">
            <a:solidFill>
              <a:schemeClr val="bg2"/>
            </a:solidFill>
            <a:prstDash val="solid"/>
          </a:ln>
        </p:spPr>
      </p:sp>
      <p:sp>
        <p:nvSpPr>
          <p:cNvPr id="21" name="Text 18"/>
          <p:cNvSpPr txBox="1"/>
          <p:nvPr/>
        </p:nvSpPr>
        <p:spPr>
          <a:xfrm>
            <a:off x="6199632" y="1051560"/>
            <a:ext cx="2286000" cy="320040"/>
          </a:xfrm>
          <a:prstGeom prst="rect">
            <a:avLst/>
          </a:prstGeom>
          <a:noFill/>
          <a:ln/>
        </p:spPr>
        <p:txBody>
          <a:bodyPr wrap="square" lIns="0" tIns="0" rIns="0" bIns="0" rtlCol="0" anchor="t"/>
          <a:lstStyle/>
          <a:p>
            <a:pPr indent="0" marL="0">
              <a:buNone/>
            </a:pPr>
            <a:r>
              <a:rPr lang="en-US" sz="1600" b="1" dirty="0">
                <a:solidFill>
                  <a:schemeClr val="accent6"/>
                </a:solidFill>
              </a:rPr>
              <a:t>System</a:t>
            </a:r>
            <a:endParaRPr lang="en-US" sz="1600" dirty="0"/>
          </a:p>
        </p:txBody>
      </p:sp>
      <p:sp>
        <p:nvSpPr>
          <p:cNvPr id="22" name="Text 19"/>
          <p:cNvSpPr txBox="1"/>
          <p:nvPr/>
        </p:nvSpPr>
        <p:spPr>
          <a:xfrm>
            <a:off x="6199632" y="146304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300 ms</a:t>
            </a:r>
            <a:endParaRPr lang="en-US" sz="2200" dirty="0"/>
          </a:p>
        </p:txBody>
      </p:sp>
      <p:sp>
        <p:nvSpPr>
          <p:cNvPr id="23" name="Text 20"/>
          <p:cNvSpPr txBox="1"/>
          <p:nvPr/>
        </p:nvSpPr>
        <p:spPr>
          <a:xfrm>
            <a:off x="6199632" y="1810512"/>
            <a:ext cx="2286000" cy="274320"/>
          </a:xfrm>
          <a:prstGeom prst="rect">
            <a:avLst/>
          </a:prstGeom>
          <a:noFill/>
          <a:ln/>
        </p:spPr>
        <p:txBody>
          <a:bodyPr wrap="square" lIns="0" tIns="0" rIns="0" bIns="0" rtlCol="0" anchor="t"/>
          <a:lstStyle/>
          <a:p>
            <a:pPr indent="0" marL="0">
              <a:buNone/>
            </a:pPr>
            <a:r>
              <a:rPr lang="en-US" sz="1100" dirty="0">
                <a:solidFill>
                  <a:schemeClr val="tx1"/>
                </a:solidFill>
              </a:rPr>
              <a:t>p95 latency of POST /predict</a:t>
            </a:r>
            <a:endParaRPr lang="en-US" sz="1100" dirty="0"/>
          </a:p>
        </p:txBody>
      </p:sp>
      <p:sp>
        <p:nvSpPr>
          <p:cNvPr id="24" name="Text 21"/>
          <p:cNvSpPr txBox="1"/>
          <p:nvPr/>
        </p:nvSpPr>
        <p:spPr>
          <a:xfrm>
            <a:off x="6199632" y="204825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25" name="Text 22"/>
          <p:cNvSpPr txBox="1"/>
          <p:nvPr/>
        </p:nvSpPr>
        <p:spPr>
          <a:xfrm>
            <a:off x="6199632" y="2359152"/>
            <a:ext cx="2286000" cy="347472"/>
          </a:xfrm>
          <a:prstGeom prst="rect">
            <a:avLst/>
          </a:prstGeom>
          <a:noFill/>
          <a:ln/>
        </p:spPr>
        <p:txBody>
          <a:bodyPr wrap="square" lIns="0" tIns="0" rIns="0" bIns="0" rtlCol="0" anchor="t"/>
          <a:lstStyle/>
          <a:p>
            <a:pPr indent="0" marL="0">
              <a:buNone/>
            </a:pPr>
            <a:r>
              <a:rPr lang="en-US" sz="2200" b="1" dirty="0">
                <a:solidFill>
                  <a:schemeClr val="tx1"/>
                </a:solidFill>
              </a:rPr>
              <a:t>≥ 99.5%</a:t>
            </a:r>
            <a:endParaRPr lang="en-US" sz="2200" dirty="0"/>
          </a:p>
        </p:txBody>
      </p:sp>
      <p:sp>
        <p:nvSpPr>
          <p:cNvPr id="26" name="Text 23"/>
          <p:cNvSpPr txBox="1"/>
          <p:nvPr/>
        </p:nvSpPr>
        <p:spPr>
          <a:xfrm>
            <a:off x="6199632" y="2706624"/>
            <a:ext cx="2286000" cy="274320"/>
          </a:xfrm>
          <a:prstGeom prst="rect">
            <a:avLst/>
          </a:prstGeom>
          <a:noFill/>
          <a:ln/>
        </p:spPr>
        <p:txBody>
          <a:bodyPr wrap="square" lIns="0" tIns="0" rIns="0" bIns="0" rtlCol="0" anchor="t"/>
          <a:lstStyle/>
          <a:p>
            <a:pPr indent="0" marL="0">
              <a:buNone/>
            </a:pPr>
            <a:r>
              <a:rPr lang="en-US" sz="1100" dirty="0">
                <a:solidFill>
                  <a:schemeClr val="tx1"/>
                </a:solidFill>
              </a:rPr>
              <a:t>availability, 08:00–20:00</a:t>
            </a:r>
            <a:endParaRPr lang="en-US" sz="1100" dirty="0"/>
          </a:p>
        </p:txBody>
      </p:sp>
      <p:sp>
        <p:nvSpPr>
          <p:cNvPr id="27" name="Text 24"/>
          <p:cNvSpPr txBox="1"/>
          <p:nvPr/>
        </p:nvSpPr>
        <p:spPr>
          <a:xfrm>
            <a:off x="6199632" y="2944368"/>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28" name="Text 25"/>
          <p:cNvSpPr txBox="1"/>
          <p:nvPr/>
        </p:nvSpPr>
        <p:spPr>
          <a:xfrm>
            <a:off x="6199632" y="3255264"/>
            <a:ext cx="2286000" cy="347472"/>
          </a:xfrm>
          <a:prstGeom prst="rect">
            <a:avLst/>
          </a:prstGeom>
          <a:noFill/>
          <a:ln/>
        </p:spPr>
        <p:txBody>
          <a:bodyPr wrap="square" lIns="0" tIns="0" rIns="0" bIns="0" rtlCol="0" anchor="t"/>
          <a:lstStyle/>
          <a:p>
            <a:pPr indent="0" marL="0">
              <a:buNone/>
            </a:pPr>
            <a:r>
              <a:rPr lang="en-US" sz="2200" b="1" dirty="0">
                <a:solidFill>
                  <a:schemeClr val="tx1"/>
                </a:solidFill>
              </a:rPr>
              <a:t>≤ 3 days</a:t>
            </a:r>
            <a:endParaRPr lang="en-US" sz="2200" dirty="0"/>
          </a:p>
        </p:txBody>
      </p:sp>
      <p:sp>
        <p:nvSpPr>
          <p:cNvPr id="29" name="Text 26"/>
          <p:cNvSpPr txBox="1"/>
          <p:nvPr/>
        </p:nvSpPr>
        <p:spPr>
          <a:xfrm>
            <a:off x="6199632" y="3602736"/>
            <a:ext cx="2286000" cy="274320"/>
          </a:xfrm>
          <a:prstGeom prst="rect">
            <a:avLst/>
          </a:prstGeom>
          <a:noFill/>
          <a:ln/>
        </p:spPr>
        <p:txBody>
          <a:bodyPr wrap="square" lIns="0" tIns="0" rIns="0" bIns="0" rtlCol="0" anchor="t"/>
          <a:lstStyle/>
          <a:p>
            <a:pPr indent="0" marL="0">
              <a:buNone/>
            </a:pPr>
            <a:r>
              <a:rPr lang="en-US" sz="1100" dirty="0">
                <a:solidFill>
                  <a:schemeClr val="tx1"/>
                </a:solidFill>
              </a:rPr>
              <a:t>age of the newest ingested data</a:t>
            </a:r>
            <a:endParaRPr lang="en-US" sz="1100" dirty="0"/>
          </a:p>
        </p:txBody>
      </p:sp>
      <p:sp>
        <p:nvSpPr>
          <p:cNvPr id="30" name="Text 27"/>
          <p:cNvSpPr txBox="1"/>
          <p:nvPr/>
        </p:nvSpPr>
        <p:spPr>
          <a:xfrm>
            <a:off x="6199632" y="3840480"/>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31" name="Text 28"/>
          <p:cNvSpPr txBox="1"/>
          <p:nvPr/>
        </p:nvSpPr>
        <p:spPr>
          <a:xfrm>
            <a:off x="457200" y="4315968"/>
            <a:ext cx="8229600" cy="384048"/>
          </a:xfrm>
          <a:prstGeom prst="rect">
            <a:avLst/>
          </a:prstGeom>
          <a:noFill/>
          <a:ln/>
        </p:spPr>
        <p:txBody>
          <a:bodyPr wrap="square" lIns="0" tIns="0" rIns="0" bIns="0" rtlCol="0" anchor="t"/>
          <a:lstStyle/>
          <a:p>
            <a:pPr indent="0" marL="0">
              <a:buNone/>
            </a:pPr>
            <a:r>
              <a:rPr lang="en-US" sz="1200" i="1" dirty="0">
                <a:solidFill>
                  <a:schemeClr val="accent5"/>
                </a:solidFill>
              </a:rPr>
              <a:t>Macro-F1, not accuracy: credit reporting is 74% of training texts, so “always credit reporting” would score well on accuracy and be useless for the other nine queues.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Every non-functional requirement carries a number</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5394960" cy="914400"/>
        </p:xfrm>
        <a:graphic>
          <a:graphicData uri="http://schemas.openxmlformats.org/drawingml/2006/table">
            <a:tbl>
              <a:tblPr/>
              <a:tblGrid>
                <a:gridCol w="1600200"/>
                <a:gridCol w="3794760"/>
              </a:tblGrid>
              <a:tr h="384048">
                <a:tc>
                  <a:txBody>
                    <a:bodyPr/>
                    <a:lstStyle/>
                    <a:p>
                      <a:pPr indent="0" marL="0">
                        <a:buNone/>
                      </a:pPr>
                      <a:r>
                        <a:rPr lang="en-US" sz="1100" b="1" dirty="0">
                          <a:solidFill>
                            <a:schemeClr val="bg1"/>
                          </a:solidFill>
                        </a:rPr>
                        <a:t>Category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Requirement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384048">
                <a:tc>
                  <a:txBody>
                    <a:bodyPr/>
                    <a:lstStyle/>
                    <a:p>
                      <a:pPr indent="0" marL="0">
                        <a:buNone/>
                      </a:pPr>
                      <a:r>
                        <a:rPr lang="en-US" sz="1100" b="1" dirty="0">
                          <a:solidFill>
                            <a:schemeClr val="tx1"/>
                          </a:solidFill>
                        </a:rPr>
                        <a:t>Freshness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Structured export ingested daily, ≤ 3 days old · text replayed monthly · labels joined after 15 days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Latency, throughput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p95 ≤ 300 ms, p99 ≤ 800 ms · 20 req/s per replica vs ~2.5 req/s peak</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Availability, fallback</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 99.5% · &gt; 2 s or error → human queue · failed load keeps previous champion</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Reproducibility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Any model = git commit + DVC data version + params, rebuilt by one command</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Adaptability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Monthly and alert-triggered retraining · unmapped product fails the quality gate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Observability w/o labels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Input, prediction and confidence drift for the 15 days before labels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Cost, resources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Whole stack in Minikube, 4 GB / 2 CPU · model ≤ 200 MB · cloud ≤ $800/month</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Shape 1"/>
          <p:cNvSpPr/>
          <p:nvPr/>
        </p:nvSpPr>
        <p:spPr>
          <a:xfrm>
            <a:off x="6080760" y="914400"/>
            <a:ext cx="2606040" cy="1691640"/>
          </a:xfrm>
          <a:prstGeom prst="roundRect">
            <a:avLst>
              <a:gd name="adj" fmla="val 3243"/>
            </a:avLst>
          </a:prstGeom>
          <a:solidFill>
            <a:schemeClr val="bg2"/>
          </a:solidFill>
          <a:ln w="9525">
            <a:solidFill>
              <a:schemeClr val="bg2"/>
            </a:solidFill>
            <a:prstDash val="solid"/>
          </a:ln>
        </p:spPr>
      </p:sp>
      <p:sp>
        <p:nvSpPr>
          <p:cNvPr id="6" name="Text 2"/>
          <p:cNvSpPr txBox="1"/>
          <p:nvPr/>
        </p:nvSpPr>
        <p:spPr>
          <a:xfrm>
            <a:off x="6217920" y="1005840"/>
            <a:ext cx="2377440" cy="256032"/>
          </a:xfrm>
          <a:prstGeom prst="rect">
            <a:avLst/>
          </a:prstGeom>
          <a:noFill/>
          <a:ln/>
        </p:spPr>
        <p:txBody>
          <a:bodyPr wrap="square" lIns="0" tIns="0" rIns="0" bIns="0" rtlCol="0" anchor="t"/>
          <a:lstStyle/>
          <a:p>
            <a:pPr indent="0" marL="0">
              <a:buNone/>
            </a:pPr>
            <a:r>
              <a:rPr lang="en-US" sz="1300" b="1" dirty="0">
                <a:solidFill>
                  <a:schemeClr val="accent1"/>
                </a:solidFill>
              </a:rPr>
              <a:t>Conflict 1</a:t>
            </a:r>
            <a:endParaRPr lang="en-US" sz="1300" dirty="0"/>
          </a:p>
        </p:txBody>
      </p:sp>
      <p:sp>
        <p:nvSpPr>
          <p:cNvPr id="7" name="Text 3"/>
          <p:cNvSpPr txBox="1"/>
          <p:nvPr/>
        </p:nvSpPr>
        <p:spPr>
          <a:xfrm>
            <a:off x="6217920" y="1298448"/>
            <a:ext cx="2377440" cy="1234440"/>
          </a:xfrm>
          <a:prstGeom prst="rect">
            <a:avLst/>
          </a:prstGeom>
          <a:noFill/>
          <a:ln/>
        </p:spPr>
        <p:txBody>
          <a:bodyPr wrap="square" lIns="0" tIns="0" rIns="0" bIns="0" rtlCol="0" anchor="t"/>
          <a:lstStyle/>
          <a:p>
            <a:pPr indent="0" marL="0">
              <a:buNone/>
            </a:pPr>
            <a:r>
              <a:rPr lang="en-US" sz="1200" dirty="0">
                <a:solidFill>
                  <a:schemeClr val="tx1"/>
                </a:solidFill>
              </a:rPr>
              <a:t>Freshness vs reproducibility → reproducibility wins. Train only on DVC snapshots; costs ≤ 1 day.</a:t>
            </a:r>
            <a:endParaRPr lang="en-US" sz="1200" dirty="0"/>
          </a:p>
        </p:txBody>
      </p:sp>
      <p:sp>
        <p:nvSpPr>
          <p:cNvPr id="8" name="Shape 4"/>
          <p:cNvSpPr/>
          <p:nvPr/>
        </p:nvSpPr>
        <p:spPr>
          <a:xfrm>
            <a:off x="6080760" y="2743200"/>
            <a:ext cx="2606040" cy="1691640"/>
          </a:xfrm>
          <a:prstGeom prst="roundRect">
            <a:avLst>
              <a:gd name="adj" fmla="val 3243"/>
            </a:avLst>
          </a:prstGeom>
          <a:solidFill>
            <a:schemeClr val="bg2"/>
          </a:solidFill>
          <a:ln w="9525">
            <a:solidFill>
              <a:schemeClr val="bg2"/>
            </a:solidFill>
            <a:prstDash val="solid"/>
          </a:ln>
        </p:spPr>
      </p:sp>
      <p:sp>
        <p:nvSpPr>
          <p:cNvPr id="9" name="Text 5"/>
          <p:cNvSpPr txBox="1"/>
          <p:nvPr/>
        </p:nvSpPr>
        <p:spPr>
          <a:xfrm>
            <a:off x="6217920" y="2834640"/>
            <a:ext cx="2377440" cy="256032"/>
          </a:xfrm>
          <a:prstGeom prst="rect">
            <a:avLst/>
          </a:prstGeom>
          <a:noFill/>
          <a:ln/>
        </p:spPr>
        <p:txBody>
          <a:bodyPr wrap="square" lIns="0" tIns="0" rIns="0" bIns="0" rtlCol="0" anchor="t"/>
          <a:lstStyle/>
          <a:p>
            <a:pPr indent="0" marL="0">
              <a:buNone/>
            </a:pPr>
            <a:r>
              <a:rPr lang="en-US" sz="1300" b="1" dirty="0">
                <a:solidFill>
                  <a:schemeClr val="accent1"/>
                </a:solidFill>
              </a:rPr>
              <a:t>Conflict 2</a:t>
            </a:r>
            <a:endParaRPr lang="en-US" sz="1300" dirty="0"/>
          </a:p>
        </p:txBody>
      </p:sp>
      <p:sp>
        <p:nvSpPr>
          <p:cNvPr id="10" name="Text 6"/>
          <p:cNvSpPr txBox="1"/>
          <p:nvPr/>
        </p:nvSpPr>
        <p:spPr>
          <a:xfrm>
            <a:off x="6217920" y="3127248"/>
            <a:ext cx="2377440" cy="1234440"/>
          </a:xfrm>
          <a:prstGeom prst="rect">
            <a:avLst/>
          </a:prstGeom>
          <a:noFill/>
          <a:ln/>
        </p:spPr>
        <p:txBody>
          <a:bodyPr wrap="square" lIns="0" tIns="0" rIns="0" bIns="0" rtlCol="0" anchor="t"/>
          <a:lstStyle/>
          <a:p>
            <a:pPr indent="0" marL="0">
              <a:buNone/>
            </a:pPr>
            <a:r>
              <a:rPr lang="en-US" sz="1200" dirty="0">
                <a:solidFill>
                  <a:schemeClr val="tx1"/>
                </a:solidFill>
              </a:rPr>
              <a:t>Precision vs coverage → precision wins. A wrong auto-route costs more than one more manual review.</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3600" b="1" dirty="0">
                <a:solidFill>
                  <a:schemeClr val="bg1"/>
                </a:solidFill>
              </a:rPr>
              <a:t>The data</a:t>
            </a:r>
            <a:endParaRPr lang="en-US" sz="3600" dirty="0"/>
          </a:p>
        </p:txBody>
      </p:sp>
      <p:sp>
        <p:nvSpPr>
          <p:cNvPr id="3" name="Text 0"/>
          <p:cNvSpPr/>
          <p:nvPr>
            <p:ph idx="101" type="body" hasCustomPrompt="1"/>
          </p:nvPr>
        </p:nvSpPr>
        <p:spPr>
          <a:xfrm>
            <a:off x="548640" y="2743200"/>
            <a:ext cx="7315200" cy="731520"/>
          </a:xfrm>
          <a:prstGeom prst="rect">
            <a:avLst/>
          </a:prstGeom>
          <a:noFill/>
          <a:ln/>
        </p:spPr>
        <p:txBody>
          <a:bodyPr wrap="square" lIns="0" tIns="0" rIns="0" bIns="0" rtlCol="0" anchor="t"/>
          <a:lstStyle/>
          <a:p>
            <a:pPr indent="0" marL="0">
              <a:buNone/>
            </a:pPr>
            <a:r>
              <a:rPr lang="en-US" sz="1600" dirty="0">
                <a:solidFill>
                  <a:schemeClr val="bg2"/>
                </a:solidFill>
              </a:rPr>
              <a:t>What the CFPB database is, what it looks like, and whether it can carry a system that keeps learning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One raw row, exactly as CFPB publishes it</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1920240"/>
                <a:gridCol w="4572000"/>
                <a:gridCol w="1737360"/>
              </a:tblGrid>
              <a:tr h="0">
                <a:tc>
                  <a:txBody>
                    <a:bodyPr/>
                    <a:lstStyle/>
                    <a:p>
                      <a:pPr indent="0" marL="0">
                        <a:buNone/>
                      </a:pPr>
                      <a:r>
                        <a:rPr lang="en-US" sz="1100" b="1" dirty="0">
                          <a:solidFill>
                            <a:schemeClr val="bg1"/>
                          </a:solidFill>
                        </a:rPr>
                        <a:t>Field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Value (complaint 11425997)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Role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100" dirty="0">
                          <a:solidFill>
                            <a:schemeClr val="tx1"/>
                          </a:solidFill>
                        </a:rPr>
                        <a:t>Date received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2025-01-07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5"/>
                          </a:solidFill>
                        </a:rPr>
                        <a:t>time split, replay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Product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Mortgage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2"/>
                          </a:solidFill>
                        </a:rPr>
                        <a:t>LABEL</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Sub-product · Issue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Conventional home mortgage · Trouble during payment process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5"/>
                          </a:solidFill>
                        </a:rPr>
                        <a:t>not used (5.1)</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Company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Shellpoint Partners, LLC</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1"/>
                          </a:solidFill>
                        </a:rPr>
                        <a:t>feature · skew risk</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State · Submitted via</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WI · Web</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feature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Consumer complaint narrative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“Property Taxes in Escrow did not get paid to my village by the due date, NewRez assures they will automatically be paid and not to worry about it. I now am in the new tax year and they are still listed as unpaid…”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MAIN FEATURE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Date sent to company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2025-01-07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3"/>
                          </a:solidFill>
                        </a:rPr>
                        <a:t>excluded: leakage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Company response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Closed with explanation</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3"/>
                          </a:solidFill>
                        </a:rPr>
                        <a:t>excluded: leakage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Complaint ID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11425997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5"/>
                          </a:solidFill>
                        </a:rPr>
                        <a:t>join key for labels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What the model reads: real complaints and their labels</a:t>
            </a:r>
            <a:endParaRPr lang="en-US" sz="2400" dirty="0"/>
          </a:p>
        </p:txBody>
      </p:sp>
      <p:sp>
        <p:nvSpPr>
          <p:cNvPr id="4" name="Shape 1"/>
          <p:cNvSpPr/>
          <p:nvPr/>
        </p:nvSpPr>
        <p:spPr>
          <a:xfrm>
            <a:off x="457200" y="914400"/>
            <a:ext cx="4023360" cy="1737360"/>
          </a:xfrm>
          <a:prstGeom prst="roundRect">
            <a:avLst>
              <a:gd name="adj" fmla="val 3158"/>
            </a:avLst>
          </a:prstGeom>
          <a:solidFill>
            <a:schemeClr val="bg2"/>
          </a:solidFill>
          <a:ln w="9525">
            <a:solidFill>
              <a:schemeClr val="bg2"/>
            </a:solidFill>
            <a:prstDash val="solid"/>
          </a:ln>
        </p:spPr>
      </p:sp>
      <p:sp>
        <p:nvSpPr>
          <p:cNvPr id="5" name="Shape 2"/>
          <p:cNvSpPr/>
          <p:nvPr/>
        </p:nvSpPr>
        <p:spPr>
          <a:xfrm>
            <a:off x="594360" y="1051560"/>
            <a:ext cx="1554480" cy="237744"/>
          </a:xfrm>
          <a:prstGeom prst="roundRect">
            <a:avLst>
              <a:gd name="adj" fmla="val 50000"/>
            </a:avLst>
          </a:prstGeom>
          <a:solidFill>
            <a:srgbClr val="2A3B4D"/>
          </a:solidFill>
          <a:ln w="6350">
            <a:solidFill>
              <a:srgbClr val="2A3B4D"/>
            </a:solidFill>
            <a:prstDash val="solid"/>
          </a:ln>
        </p:spPr>
      </p:sp>
      <p:sp>
        <p:nvSpPr>
          <p:cNvPr id="6" name="Text 3"/>
          <p:cNvSpPr txBox="1"/>
          <p:nvPr/>
        </p:nvSpPr>
        <p:spPr>
          <a:xfrm>
            <a:off x="594360" y="105156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Mortgage</a:t>
            </a:r>
            <a:endParaRPr lang="en-US" sz="1000" dirty="0"/>
          </a:p>
        </p:txBody>
      </p:sp>
      <p:sp>
        <p:nvSpPr>
          <p:cNvPr id="7" name="Text 4"/>
          <p:cNvSpPr txBox="1"/>
          <p:nvPr/>
        </p:nvSpPr>
        <p:spPr>
          <a:xfrm>
            <a:off x="2286000" y="106070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Shellpoint · WI · 2025-01-07</a:t>
            </a:r>
            <a:endParaRPr lang="en-US" sz="1000" dirty="0"/>
          </a:p>
        </p:txBody>
      </p:sp>
      <p:sp>
        <p:nvSpPr>
          <p:cNvPr id="8" name="Text 5"/>
          <p:cNvSpPr txBox="1"/>
          <p:nvPr/>
        </p:nvSpPr>
        <p:spPr>
          <a:xfrm>
            <a:off x="594360" y="138988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“Property Taxes in Escrow did not get paid to my village by the due date, NewRez assures they will automatically be paid and not to worry about it…”</a:t>
            </a:r>
            <a:endParaRPr lang="en-US" sz="1200" dirty="0"/>
          </a:p>
        </p:txBody>
      </p:sp>
      <p:sp>
        <p:nvSpPr>
          <p:cNvPr id="9" name="Shape 6"/>
          <p:cNvSpPr/>
          <p:nvPr/>
        </p:nvSpPr>
        <p:spPr>
          <a:xfrm>
            <a:off x="4663440" y="914400"/>
            <a:ext cx="4023360" cy="1737360"/>
          </a:xfrm>
          <a:prstGeom prst="roundRect">
            <a:avLst>
              <a:gd name="adj" fmla="val 3158"/>
            </a:avLst>
          </a:prstGeom>
          <a:solidFill>
            <a:schemeClr val="bg2"/>
          </a:solidFill>
          <a:ln w="9525">
            <a:solidFill>
              <a:schemeClr val="bg2"/>
            </a:solidFill>
            <a:prstDash val="solid"/>
          </a:ln>
        </p:spPr>
      </p:sp>
      <p:sp>
        <p:nvSpPr>
          <p:cNvPr id="10" name="Shape 7"/>
          <p:cNvSpPr/>
          <p:nvPr/>
        </p:nvSpPr>
        <p:spPr>
          <a:xfrm>
            <a:off x="4800600" y="1051560"/>
            <a:ext cx="1554480" cy="237744"/>
          </a:xfrm>
          <a:prstGeom prst="roundRect">
            <a:avLst>
              <a:gd name="adj" fmla="val 50000"/>
            </a:avLst>
          </a:prstGeom>
          <a:solidFill>
            <a:srgbClr val="2A3B4D"/>
          </a:solidFill>
          <a:ln w="6350">
            <a:solidFill>
              <a:srgbClr val="2A3B4D"/>
            </a:solidFill>
            <a:prstDash val="solid"/>
          </a:ln>
        </p:spPr>
      </p:sp>
      <p:sp>
        <p:nvSpPr>
          <p:cNvPr id="11" name="Text 8"/>
          <p:cNvSpPr txBox="1"/>
          <p:nvPr/>
        </p:nvSpPr>
        <p:spPr>
          <a:xfrm>
            <a:off x="4800600" y="105156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Student loan</a:t>
            </a:r>
            <a:endParaRPr lang="en-US" sz="1000" dirty="0"/>
          </a:p>
        </p:txBody>
      </p:sp>
      <p:sp>
        <p:nvSpPr>
          <p:cNvPr id="12" name="Text 9"/>
          <p:cNvSpPr txBox="1"/>
          <p:nvPr/>
        </p:nvSpPr>
        <p:spPr>
          <a:xfrm>
            <a:off x="6492240" y="106070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MOHELA · OH · 2025-01-16</a:t>
            </a:r>
            <a:endParaRPr lang="en-US" sz="1000" dirty="0"/>
          </a:p>
        </p:txBody>
      </p:sp>
      <p:sp>
        <p:nvSpPr>
          <p:cNvPr id="13" name="Text 10"/>
          <p:cNvSpPr txBox="1"/>
          <p:nvPr/>
        </p:nvSpPr>
        <p:spPr>
          <a:xfrm>
            <a:off x="4800600" y="138988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“I have student loans being serviced by MOHELA. I have been on the SAVE plan. Once SAVE plan users were placed on general forbearance, interest should not have been accruing…”</a:t>
            </a:r>
            <a:endParaRPr lang="en-US" sz="1200" dirty="0"/>
          </a:p>
        </p:txBody>
      </p:sp>
      <p:sp>
        <p:nvSpPr>
          <p:cNvPr id="14" name="Shape 11"/>
          <p:cNvSpPr/>
          <p:nvPr/>
        </p:nvSpPr>
        <p:spPr>
          <a:xfrm>
            <a:off x="457200" y="2788920"/>
            <a:ext cx="4023360" cy="1737360"/>
          </a:xfrm>
          <a:prstGeom prst="roundRect">
            <a:avLst>
              <a:gd name="adj" fmla="val 3158"/>
            </a:avLst>
          </a:prstGeom>
          <a:solidFill>
            <a:schemeClr val="bg2"/>
          </a:solidFill>
          <a:ln w="9525">
            <a:solidFill>
              <a:schemeClr val="bg2"/>
            </a:solidFill>
            <a:prstDash val="solid"/>
          </a:ln>
        </p:spPr>
      </p:sp>
      <p:sp>
        <p:nvSpPr>
          <p:cNvPr id="15" name="Shape 12"/>
          <p:cNvSpPr/>
          <p:nvPr/>
        </p:nvSpPr>
        <p:spPr>
          <a:xfrm>
            <a:off x="594360" y="2926080"/>
            <a:ext cx="1554480" cy="237744"/>
          </a:xfrm>
          <a:prstGeom prst="roundRect">
            <a:avLst>
              <a:gd name="adj" fmla="val 50000"/>
            </a:avLst>
          </a:prstGeom>
          <a:solidFill>
            <a:srgbClr val="2A3B4D"/>
          </a:solidFill>
          <a:ln w="6350">
            <a:solidFill>
              <a:srgbClr val="2A3B4D"/>
            </a:solidFill>
            <a:prstDash val="solid"/>
          </a:ln>
        </p:spPr>
      </p:sp>
      <p:sp>
        <p:nvSpPr>
          <p:cNvPr id="16" name="Text 13"/>
          <p:cNvSpPr txBox="1"/>
          <p:nvPr/>
        </p:nvSpPr>
        <p:spPr>
          <a:xfrm>
            <a:off x="594360" y="292608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Money transfer</a:t>
            </a:r>
            <a:endParaRPr lang="en-US" sz="1000" dirty="0"/>
          </a:p>
        </p:txBody>
      </p:sp>
      <p:sp>
        <p:nvSpPr>
          <p:cNvPr id="17" name="Text 14"/>
          <p:cNvSpPr txBox="1"/>
          <p:nvPr/>
        </p:nvSpPr>
        <p:spPr>
          <a:xfrm>
            <a:off x="2286000" y="293522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Block, Inc. · IL · 2025-01-18</a:t>
            </a:r>
            <a:endParaRPr lang="en-US" sz="1000" dirty="0"/>
          </a:p>
        </p:txBody>
      </p:sp>
      <p:sp>
        <p:nvSpPr>
          <p:cNvPr id="18" name="Text 15"/>
          <p:cNvSpPr txBox="1"/>
          <p:nvPr/>
        </p:nvSpPr>
        <p:spPr>
          <a:xfrm>
            <a:off x="594360" y="326440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“A XXXX company charged my card almost {$200.00}. When I called to let them know they told me they were processing refund but didnt so I contacted Cash app and they refuse to give my money back…”</a:t>
            </a:r>
            <a:endParaRPr lang="en-US" sz="1200" dirty="0"/>
          </a:p>
        </p:txBody>
      </p:sp>
      <p:sp>
        <p:nvSpPr>
          <p:cNvPr id="19" name="Shape 16"/>
          <p:cNvSpPr/>
          <p:nvPr/>
        </p:nvSpPr>
        <p:spPr>
          <a:xfrm>
            <a:off x="4663440" y="2788920"/>
            <a:ext cx="4023360" cy="1737360"/>
          </a:xfrm>
          <a:prstGeom prst="roundRect">
            <a:avLst>
              <a:gd name="adj" fmla="val 3158"/>
            </a:avLst>
          </a:prstGeom>
          <a:solidFill>
            <a:schemeClr val="bg2"/>
          </a:solidFill>
          <a:ln w="9525">
            <a:solidFill>
              <a:schemeClr val="bg2"/>
            </a:solidFill>
            <a:prstDash val="solid"/>
          </a:ln>
        </p:spPr>
      </p:sp>
      <p:sp>
        <p:nvSpPr>
          <p:cNvPr id="20" name="Shape 17"/>
          <p:cNvSpPr/>
          <p:nvPr/>
        </p:nvSpPr>
        <p:spPr>
          <a:xfrm>
            <a:off x="4800600" y="2926080"/>
            <a:ext cx="1554480" cy="237744"/>
          </a:xfrm>
          <a:prstGeom prst="roundRect">
            <a:avLst>
              <a:gd name="adj" fmla="val 50000"/>
            </a:avLst>
          </a:prstGeom>
          <a:solidFill>
            <a:srgbClr val="2F6F8F"/>
          </a:solidFill>
          <a:ln w="6350">
            <a:solidFill>
              <a:srgbClr val="2F6F8F"/>
            </a:solidFill>
            <a:prstDash val="solid"/>
          </a:ln>
        </p:spPr>
      </p:sp>
      <p:sp>
        <p:nvSpPr>
          <p:cNvPr id="21" name="Text 18"/>
          <p:cNvSpPr txBox="1"/>
          <p:nvPr/>
        </p:nvSpPr>
        <p:spPr>
          <a:xfrm>
            <a:off x="4800600" y="292608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Credit reporting</a:t>
            </a:r>
            <a:endParaRPr lang="en-US" sz="1000" dirty="0"/>
          </a:p>
        </p:txBody>
      </p:sp>
      <p:sp>
        <p:nvSpPr>
          <p:cNvPr id="22" name="Text 19"/>
          <p:cNvSpPr txBox="1"/>
          <p:nvPr/>
        </p:nvSpPr>
        <p:spPr>
          <a:xfrm>
            <a:off x="6492240" y="293522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Equifax · CT · 2025-02-19</a:t>
            </a:r>
            <a:endParaRPr lang="en-US" sz="1000" dirty="0"/>
          </a:p>
        </p:txBody>
      </p:sp>
      <p:sp>
        <p:nvSpPr>
          <p:cNvPr id="23" name="Text 20"/>
          <p:cNvSpPr txBox="1"/>
          <p:nvPr/>
        </p:nvSpPr>
        <p:spPr>
          <a:xfrm>
            <a:off x="4800600" y="326440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“I am writing to formally address an urgent issue with my credit report. It has come to my attention that certain information associated with my account has been incorrectly mixed with that of another individual…”</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3.8 million complaints with text, 2015 to 2025</a:t>
            </a:r>
            <a:endParaRPr lang="en-US" sz="2400" dirty="0"/>
          </a:p>
        </p:txBody>
      </p:sp>
      <p:graphicFrame>
        <p:nvGraphicFramePr>
          <p:cNvPr id="4" name="Chart 0" descr=""/>
          <p:cNvGraphicFramePr/>
          <p:nvPr/>
        </p:nvGraphicFramePr>
        <p:xfrm>
          <a:off x="365760" y="914400"/>
          <a:ext cx="5669280" cy="3703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355080" y="1005840"/>
            <a:ext cx="2377440" cy="502920"/>
          </a:xfrm>
          <a:prstGeom prst="rect">
            <a:avLst/>
          </a:prstGeom>
          <a:noFill/>
          <a:ln/>
        </p:spPr>
        <p:txBody>
          <a:bodyPr wrap="square" lIns="0" tIns="0" rIns="0" bIns="0" rtlCol="0" anchor="t"/>
          <a:lstStyle/>
          <a:p>
            <a:pPr indent="0" marL="0">
              <a:buNone/>
            </a:pPr>
            <a:r>
              <a:rPr lang="en-US" sz="3000" b="1" dirty="0">
                <a:solidFill>
                  <a:schemeClr val="tx1"/>
                </a:solidFill>
              </a:rPr>
              <a:t>16.6 M</a:t>
            </a:r>
            <a:endParaRPr lang="en-US" sz="3000" dirty="0"/>
          </a:p>
        </p:txBody>
      </p:sp>
      <p:sp>
        <p:nvSpPr>
          <p:cNvPr id="6" name="Text 2"/>
          <p:cNvSpPr txBox="1"/>
          <p:nvPr/>
        </p:nvSpPr>
        <p:spPr>
          <a:xfrm>
            <a:off x="6355080" y="1508760"/>
            <a:ext cx="2377440" cy="457200"/>
          </a:xfrm>
          <a:prstGeom prst="rect">
            <a:avLst/>
          </a:prstGeom>
          <a:noFill/>
          <a:ln/>
        </p:spPr>
        <p:txBody>
          <a:bodyPr wrap="square" lIns="0" tIns="0" rIns="0" bIns="0" rtlCol="0" anchor="t"/>
          <a:lstStyle/>
          <a:p>
            <a:pPr indent="0" marL="0">
              <a:buNone/>
            </a:pPr>
            <a:r>
              <a:rPr lang="en-US" sz="1200" dirty="0">
                <a:solidFill>
                  <a:schemeClr val="accent5"/>
                </a:solidFill>
              </a:rPr>
              <a:t>complaints in the July 2026 snapshot</a:t>
            </a:r>
            <a:endParaRPr lang="en-US" sz="1200" dirty="0"/>
          </a:p>
        </p:txBody>
      </p:sp>
      <p:sp>
        <p:nvSpPr>
          <p:cNvPr id="7" name="Text 3"/>
          <p:cNvSpPr txBox="1"/>
          <p:nvPr/>
        </p:nvSpPr>
        <p:spPr>
          <a:xfrm>
            <a:off x="6355080" y="2057400"/>
            <a:ext cx="2377440" cy="502920"/>
          </a:xfrm>
          <a:prstGeom prst="rect">
            <a:avLst/>
          </a:prstGeom>
          <a:noFill/>
          <a:ln/>
        </p:spPr>
        <p:txBody>
          <a:bodyPr wrap="square" lIns="0" tIns="0" rIns="0" bIns="0" rtlCol="0" anchor="t"/>
          <a:lstStyle/>
          <a:p>
            <a:pPr indent="0" marL="0">
              <a:buNone/>
            </a:pPr>
            <a:r>
              <a:rPr lang="en-US" sz="3000" b="1" dirty="0">
                <a:solidFill>
                  <a:schemeClr val="accent2"/>
                </a:solidFill>
              </a:rPr>
              <a:t>3.8 M</a:t>
            </a:r>
            <a:endParaRPr lang="en-US" sz="3000" dirty="0"/>
          </a:p>
        </p:txBody>
      </p:sp>
      <p:sp>
        <p:nvSpPr>
          <p:cNvPr id="8" name="Text 4"/>
          <p:cNvSpPr txBox="1"/>
          <p:nvPr/>
        </p:nvSpPr>
        <p:spPr>
          <a:xfrm>
            <a:off x="6355080" y="2560320"/>
            <a:ext cx="2377440" cy="457200"/>
          </a:xfrm>
          <a:prstGeom prst="rect">
            <a:avLst/>
          </a:prstGeom>
          <a:noFill/>
          <a:ln/>
        </p:spPr>
        <p:txBody>
          <a:bodyPr wrap="square" lIns="0" tIns="0" rIns="0" bIns="0" rtlCol="0" anchor="t"/>
          <a:lstStyle/>
          <a:p>
            <a:pPr indent="0" marL="0">
              <a:buNone/>
            </a:pPr>
            <a:r>
              <a:rPr lang="en-US" sz="1200" dirty="0">
                <a:solidFill>
                  <a:schemeClr val="accent5"/>
                </a:solidFill>
              </a:rPr>
              <a:t>with the consumer's own text</a:t>
            </a:r>
            <a:endParaRPr lang="en-US" sz="1200" dirty="0"/>
          </a:p>
        </p:txBody>
      </p:sp>
      <p:sp>
        <p:nvSpPr>
          <p:cNvPr id="9" name="Text 5"/>
          <p:cNvSpPr txBox="1"/>
          <p:nvPr/>
        </p:nvSpPr>
        <p:spPr>
          <a:xfrm>
            <a:off x="6355080" y="3108960"/>
            <a:ext cx="2377440" cy="502920"/>
          </a:xfrm>
          <a:prstGeom prst="rect">
            <a:avLst/>
          </a:prstGeom>
          <a:noFill/>
          <a:ln/>
        </p:spPr>
        <p:txBody>
          <a:bodyPr wrap="square" lIns="0" tIns="0" rIns="0" bIns="0" rtlCol="0" anchor="t"/>
          <a:lstStyle/>
          <a:p>
            <a:pPr indent="0" marL="0">
              <a:buNone/>
            </a:pPr>
            <a:r>
              <a:rPr lang="en-US" sz="3000" b="1" dirty="0">
                <a:solidFill>
                  <a:schemeClr val="tx1"/>
                </a:solidFill>
              </a:rPr>
              <a:t>1.5 M</a:t>
            </a:r>
            <a:endParaRPr lang="en-US" sz="3000" dirty="0"/>
          </a:p>
        </p:txBody>
      </p:sp>
      <p:sp>
        <p:nvSpPr>
          <p:cNvPr id="10" name="Text 6"/>
          <p:cNvSpPr txBox="1"/>
          <p:nvPr/>
        </p:nvSpPr>
        <p:spPr>
          <a:xfrm>
            <a:off x="6355080" y="3611880"/>
            <a:ext cx="2377440" cy="457200"/>
          </a:xfrm>
          <a:prstGeom prst="rect">
            <a:avLst/>
          </a:prstGeom>
          <a:noFill/>
          <a:ln/>
        </p:spPr>
        <p:txBody>
          <a:bodyPr wrap="square" lIns="0" tIns="0" rIns="0" bIns="0" rtlCol="0" anchor="t"/>
          <a:lstStyle/>
          <a:p>
            <a:pPr indent="0" marL="0">
              <a:buNone/>
            </a:pPr>
            <a:r>
              <a:rPr lang="en-US" sz="1200" dirty="0">
                <a:solidFill>
                  <a:schemeClr val="accent5"/>
                </a:solidFill>
              </a:rPr>
              <a:t>texts in the 24-month training window</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Finding: CFPB stopped publishing complaint text in 2026</a:t>
            </a:r>
            <a:endParaRPr lang="en-US" sz="2400" dirty="0"/>
          </a:p>
        </p:txBody>
      </p:sp>
      <p:graphicFrame>
        <p:nvGraphicFramePr>
          <p:cNvPr id="4" name="Chart 0" descr=""/>
          <p:cNvGraphicFramePr/>
          <p:nvPr/>
        </p:nvGraphicFramePr>
        <p:xfrm>
          <a:off x="365760" y="91440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5715000" y="914400"/>
            <a:ext cx="2971800" cy="1463040"/>
          </a:xfrm>
          <a:prstGeom prst="roundRect">
            <a:avLst>
              <a:gd name="adj" fmla="val 3750"/>
            </a:avLst>
          </a:prstGeom>
          <a:solidFill>
            <a:srgbClr val="FBEDEC"/>
          </a:solidFill>
          <a:ln w="9525">
            <a:solidFill>
              <a:srgbClr val="FBEDEC"/>
            </a:solidFill>
            <a:prstDash val="solid"/>
          </a:ln>
        </p:spPr>
      </p:sp>
      <p:sp>
        <p:nvSpPr>
          <p:cNvPr id="6" name="Text 2"/>
          <p:cNvSpPr txBox="1"/>
          <p:nvPr/>
        </p:nvSpPr>
        <p:spPr>
          <a:xfrm>
            <a:off x="5852160" y="1005840"/>
            <a:ext cx="2743200" cy="256032"/>
          </a:xfrm>
          <a:prstGeom prst="rect">
            <a:avLst/>
          </a:prstGeom>
          <a:noFill/>
          <a:ln/>
        </p:spPr>
        <p:txBody>
          <a:bodyPr wrap="square" lIns="0" tIns="0" rIns="0" bIns="0" rtlCol="0" anchor="t"/>
          <a:lstStyle/>
          <a:p>
            <a:pPr indent="0" marL="0">
              <a:buNone/>
            </a:pPr>
            <a:r>
              <a:rPr lang="en-US" sz="1300" b="1" dirty="0">
                <a:solidFill>
                  <a:schemeClr val="accent3"/>
                </a:solidFill>
              </a:rPr>
              <a:t>What changed</a:t>
            </a:r>
            <a:endParaRPr lang="en-US" sz="1300" dirty="0"/>
          </a:p>
        </p:txBody>
      </p:sp>
      <p:sp>
        <p:nvSpPr>
          <p:cNvPr id="7" name="Text 3"/>
          <p:cNvSpPr txBox="1"/>
          <p:nvPr/>
        </p:nvSpPr>
        <p:spPr>
          <a:xfrm>
            <a:off x="5852160" y="1298448"/>
            <a:ext cx="2743200" cy="1051560"/>
          </a:xfrm>
          <a:prstGeom prst="rect">
            <a:avLst/>
          </a:prstGeom>
          <a:noFill/>
          <a:ln/>
        </p:spPr>
        <p:txBody>
          <a:bodyPr wrap="square" lIns="0" tIns="0" rIns="0" bIns="0" rtlCol="0" anchor="t"/>
          <a:lstStyle/>
          <a:p>
            <a:pPr indent="0" marL="0">
              <a:buNone/>
            </a:pPr>
            <a:r>
              <a:rPr lang="en-US" sz="1100" dirty="0">
                <a:solidFill>
                  <a:schemeClr val="tx1"/>
                </a:solidFill>
              </a:rPr>
              <a:t>The official export (2026-10-17) has 15 columns and no narrative. 26% of complaints had text in 2025-07; 0% in 2026-07.</a:t>
            </a:r>
            <a:endParaRPr lang="en-US" sz="1100" dirty="0"/>
          </a:p>
        </p:txBody>
      </p:sp>
      <p:sp>
        <p:nvSpPr>
          <p:cNvPr id="8" name="Shape 4"/>
          <p:cNvSpPr/>
          <p:nvPr/>
        </p:nvSpPr>
        <p:spPr>
          <a:xfrm>
            <a:off x="5715000" y="2514600"/>
            <a:ext cx="2971800" cy="2011680"/>
          </a:xfrm>
          <a:prstGeom prst="roundRect">
            <a:avLst>
              <a:gd name="adj" fmla="val 2727"/>
            </a:avLst>
          </a:prstGeom>
          <a:solidFill>
            <a:schemeClr val="bg2"/>
          </a:solidFill>
          <a:ln w="9525">
            <a:solidFill>
              <a:schemeClr val="bg2"/>
            </a:solidFill>
            <a:prstDash val="solid"/>
          </a:ln>
        </p:spPr>
      </p:sp>
      <p:sp>
        <p:nvSpPr>
          <p:cNvPr id="9" name="Text 5"/>
          <p:cNvSpPr txBox="1"/>
          <p:nvPr/>
        </p:nvSpPr>
        <p:spPr>
          <a:xfrm>
            <a:off x="5852160" y="2606040"/>
            <a:ext cx="2743200" cy="256032"/>
          </a:xfrm>
          <a:prstGeom prst="rect">
            <a:avLst/>
          </a:prstGeom>
          <a:noFill/>
          <a:ln/>
        </p:spPr>
        <p:txBody>
          <a:bodyPr wrap="square" lIns="0" tIns="0" rIns="0" bIns="0" rtlCol="0" anchor="t"/>
          <a:lstStyle/>
          <a:p>
            <a:pPr indent="0" marL="0">
              <a:buNone/>
            </a:pPr>
            <a:r>
              <a:rPr lang="en-US" sz="1300" b="1" dirty="0">
                <a:solidFill>
                  <a:schemeClr val="accent4"/>
                </a:solidFill>
              </a:rPr>
              <a:t>What the design does</a:t>
            </a:r>
            <a:endParaRPr lang="en-US" sz="1300" dirty="0"/>
          </a:p>
        </p:txBody>
      </p:sp>
      <p:sp>
        <p:nvSpPr>
          <p:cNvPr id="10" name="Text 6"/>
          <p:cNvSpPr txBox="1"/>
          <p:nvPr/>
        </p:nvSpPr>
        <p:spPr>
          <a:xfrm>
            <a:off x="5852160" y="2898648"/>
            <a:ext cx="2743200" cy="15544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rPr>
              <a:t>Text: 2026-07 snapshot, put in DVC once, replayed one month per run</a:t>
            </a:r>
            <a:endParaRPr lang="en-US" sz="1100" dirty="0"/>
          </a:p>
          <a:p>
            <a:pPr marL="342900" indent="-342900">
              <a:spcAft>
                <a:spcPts val="400"/>
              </a:spcAft>
              <a:buSzPct val="100000"/>
              <a:buChar char="•"/>
            </a:pPr>
            <a:r>
              <a:rPr lang="en-US" sz="1100" dirty="0">
                <a:solidFill>
                  <a:schemeClr val="tx1"/>
                </a:solidFill>
              </a:rPr>
              <a:t>Daily structured export: freshness and volume checks</a:t>
            </a:r>
            <a:endParaRPr lang="en-US" sz="1100" dirty="0"/>
          </a:p>
          <a:p>
            <a:pPr marL="342900" indent="-342900">
              <a:spcAft>
                <a:spcPts val="400"/>
              </a:spcAft>
              <a:buSzPct val="100000"/>
              <a:buChar char="•"/>
            </a:pPr>
            <a:r>
              <a:rPr lang="en-US" sz="1100" dirty="0">
                <a:solidFill>
                  <a:schemeClr val="tx1"/>
                </a:solidFill>
              </a:rPr>
              <a:t>Quality gate “text share &lt; ½ reference” fires on 2025-12</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The label set changed twice; a versioned map absorbs it</a:t>
            </a:r>
            <a:endParaRPr lang="en-US" sz="2400" dirty="0"/>
          </a:p>
        </p:txBody>
      </p:sp>
      <p:sp>
        <p:nvSpPr>
          <p:cNvPr id="4" name="Shape 1"/>
          <p:cNvSpPr/>
          <p:nvPr/>
        </p:nvSpPr>
        <p:spPr>
          <a:xfrm>
            <a:off x="457200" y="960120"/>
            <a:ext cx="2011680" cy="2926080"/>
          </a:xfrm>
          <a:prstGeom prst="roundRect">
            <a:avLst>
              <a:gd name="adj" fmla="val 2727"/>
            </a:avLst>
          </a:prstGeom>
          <a:solidFill>
            <a:schemeClr val="bg2"/>
          </a:solidFill>
          <a:ln w="9525">
            <a:solidFill>
              <a:schemeClr val="bg2"/>
            </a:solidFill>
            <a:prstDash val="solid"/>
          </a:ln>
        </p:spPr>
      </p:sp>
      <p:sp>
        <p:nvSpPr>
          <p:cNvPr id="5" name="Text 2"/>
          <p:cNvSpPr txBox="1"/>
          <p:nvPr/>
        </p:nvSpPr>
        <p:spPr>
          <a:xfrm>
            <a:off x="566928" y="1033272"/>
            <a:ext cx="1828800" cy="274320"/>
          </a:xfrm>
          <a:prstGeom prst="rect">
            <a:avLst/>
          </a:prstGeom>
          <a:noFill/>
          <a:ln/>
        </p:spPr>
        <p:txBody>
          <a:bodyPr wrap="square" lIns="0" tIns="0" rIns="0" bIns="0" rtlCol="0" anchor="t"/>
          <a:lstStyle/>
          <a:p>
            <a:pPr indent="0" marL="0">
              <a:buNone/>
            </a:pPr>
            <a:r>
              <a:rPr lang="en-US" sz="1200" b="1" dirty="0">
                <a:solidFill>
                  <a:schemeClr val="accent1"/>
                </a:solidFill>
              </a:rPr>
              <a:t>Dec 2011 – Apr 2017</a:t>
            </a:r>
            <a:endParaRPr lang="en-US" sz="1200" dirty="0"/>
          </a:p>
        </p:txBody>
      </p:sp>
      <p:sp>
        <p:nvSpPr>
          <p:cNvPr id="6" name="Text 3"/>
          <p:cNvSpPr txBox="1"/>
          <p:nvPr/>
        </p:nvSpPr>
        <p:spPr>
          <a:xfrm>
            <a:off x="566928" y="1371600"/>
            <a:ext cx="1828800" cy="24688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Credit reporting</a:t>
            </a:r>
            <a:endParaRPr lang="en-US" sz="1100" dirty="0"/>
          </a:p>
          <a:p>
            <a:pPr marL="342900" indent="-342900">
              <a:spcAft>
                <a:spcPts val="500"/>
              </a:spcAft>
              <a:buSzPct val="100000"/>
              <a:buChar char="•"/>
            </a:pPr>
            <a:r>
              <a:rPr lang="en-US" sz="1100" dirty="0">
                <a:solidFill>
                  <a:schemeClr val="tx1"/>
                </a:solidFill>
              </a:rPr>
              <a:t>Bank account or service</a:t>
            </a:r>
            <a:endParaRPr lang="en-US" sz="1100" dirty="0"/>
          </a:p>
          <a:p>
            <a:pPr marL="342900" indent="-342900">
              <a:spcAft>
                <a:spcPts val="500"/>
              </a:spcAft>
              <a:buSzPct val="100000"/>
              <a:buChar char="•"/>
            </a:pPr>
            <a:r>
              <a:rPr lang="en-US" sz="1100" dirty="0">
                <a:solidFill>
                  <a:schemeClr val="tx1"/>
                </a:solidFill>
              </a:rPr>
              <a:t>Consumer Loan</a:t>
            </a:r>
            <a:endParaRPr lang="en-US" sz="1100" dirty="0"/>
          </a:p>
          <a:p>
            <a:pPr marL="342900" indent="-342900">
              <a:spcAft>
                <a:spcPts val="500"/>
              </a:spcAft>
              <a:buSzPct val="100000"/>
              <a:buChar char="•"/>
            </a:pPr>
            <a:r>
              <a:rPr lang="en-US" sz="1100" dirty="0">
                <a:solidFill>
                  <a:schemeClr val="tx1"/>
                </a:solidFill>
              </a:rPr>
              <a:t>Money transfers</a:t>
            </a:r>
            <a:endParaRPr lang="en-US" sz="1100" dirty="0"/>
          </a:p>
        </p:txBody>
      </p:sp>
      <p:sp>
        <p:nvSpPr>
          <p:cNvPr id="7" name="Shape 4"/>
          <p:cNvSpPr/>
          <p:nvPr/>
        </p:nvSpPr>
        <p:spPr>
          <a:xfrm>
            <a:off x="2606040" y="960120"/>
            <a:ext cx="2011680" cy="2926080"/>
          </a:xfrm>
          <a:prstGeom prst="roundRect">
            <a:avLst>
              <a:gd name="adj" fmla="val 2727"/>
            </a:avLst>
          </a:prstGeom>
          <a:solidFill>
            <a:schemeClr val="bg2"/>
          </a:solidFill>
          <a:ln w="9525">
            <a:solidFill>
              <a:schemeClr val="bg2"/>
            </a:solidFill>
            <a:prstDash val="solid"/>
          </a:ln>
        </p:spPr>
      </p:sp>
      <p:sp>
        <p:nvSpPr>
          <p:cNvPr id="8" name="Text 5"/>
          <p:cNvSpPr txBox="1"/>
          <p:nvPr/>
        </p:nvSpPr>
        <p:spPr>
          <a:xfrm>
            <a:off x="2715768" y="1033272"/>
            <a:ext cx="1828800" cy="274320"/>
          </a:xfrm>
          <a:prstGeom prst="rect">
            <a:avLst/>
          </a:prstGeom>
          <a:noFill/>
          <a:ln/>
        </p:spPr>
        <p:txBody>
          <a:bodyPr wrap="square" lIns="0" tIns="0" rIns="0" bIns="0" rtlCol="0" anchor="t"/>
          <a:lstStyle/>
          <a:p>
            <a:pPr indent="0" marL="0">
              <a:buNone/>
            </a:pPr>
            <a:r>
              <a:rPr lang="en-US" sz="1200" b="1" dirty="0">
                <a:solidFill>
                  <a:schemeClr val="accent1"/>
                </a:solidFill>
              </a:rPr>
              <a:t>Apr 2017 – Aug 2023</a:t>
            </a:r>
            <a:endParaRPr lang="en-US" sz="1200" dirty="0"/>
          </a:p>
        </p:txBody>
      </p:sp>
      <p:sp>
        <p:nvSpPr>
          <p:cNvPr id="9" name="Text 6"/>
          <p:cNvSpPr txBox="1"/>
          <p:nvPr/>
        </p:nvSpPr>
        <p:spPr>
          <a:xfrm>
            <a:off x="2715768" y="1371600"/>
            <a:ext cx="1828800" cy="24688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Credit reporting, credit repair services, or other personal consumer reports</a:t>
            </a:r>
            <a:endParaRPr lang="en-US" sz="1100" dirty="0"/>
          </a:p>
          <a:p>
            <a:pPr marL="342900" indent="-342900">
              <a:spcAft>
                <a:spcPts val="500"/>
              </a:spcAft>
              <a:buSzPct val="100000"/>
              <a:buChar char="•"/>
            </a:pPr>
            <a:r>
              <a:rPr lang="en-US" sz="1100" dirty="0">
                <a:solidFill>
                  <a:schemeClr val="tx1"/>
                </a:solidFill>
              </a:rPr>
              <a:t>Credit card or prepaid card</a:t>
            </a:r>
            <a:endParaRPr lang="en-US" sz="1100" dirty="0"/>
          </a:p>
          <a:p>
            <a:pPr marL="342900" indent="-342900">
              <a:spcAft>
                <a:spcPts val="500"/>
              </a:spcAft>
              <a:buSzPct val="100000"/>
              <a:buChar char="•"/>
            </a:pPr>
            <a:r>
              <a:rPr lang="en-US" sz="1100" dirty="0">
                <a:solidFill>
                  <a:schemeClr val="tx1"/>
                </a:solidFill>
              </a:rPr>
              <a:t>Checking or savings account</a:t>
            </a:r>
            <a:endParaRPr lang="en-US" sz="1100" dirty="0"/>
          </a:p>
        </p:txBody>
      </p:sp>
      <p:sp>
        <p:nvSpPr>
          <p:cNvPr id="10" name="Shape 7"/>
          <p:cNvSpPr/>
          <p:nvPr/>
        </p:nvSpPr>
        <p:spPr>
          <a:xfrm>
            <a:off x="4754880" y="960120"/>
            <a:ext cx="2011680" cy="2926080"/>
          </a:xfrm>
          <a:prstGeom prst="roundRect">
            <a:avLst>
              <a:gd name="adj" fmla="val 2727"/>
            </a:avLst>
          </a:prstGeom>
          <a:solidFill>
            <a:schemeClr val="bg2"/>
          </a:solidFill>
          <a:ln w="9525">
            <a:solidFill>
              <a:schemeClr val="bg2"/>
            </a:solidFill>
            <a:prstDash val="solid"/>
          </a:ln>
        </p:spPr>
      </p:sp>
      <p:sp>
        <p:nvSpPr>
          <p:cNvPr id="11" name="Text 8"/>
          <p:cNvSpPr txBox="1"/>
          <p:nvPr/>
        </p:nvSpPr>
        <p:spPr>
          <a:xfrm>
            <a:off x="4864608" y="1033272"/>
            <a:ext cx="1828800" cy="274320"/>
          </a:xfrm>
          <a:prstGeom prst="rect">
            <a:avLst/>
          </a:prstGeom>
          <a:noFill/>
          <a:ln/>
        </p:spPr>
        <p:txBody>
          <a:bodyPr wrap="square" lIns="0" tIns="0" rIns="0" bIns="0" rtlCol="0" anchor="t"/>
          <a:lstStyle/>
          <a:p>
            <a:pPr indent="0" marL="0">
              <a:buNone/>
            </a:pPr>
            <a:r>
              <a:rPr lang="en-US" sz="1200" b="1" dirty="0">
                <a:solidFill>
                  <a:schemeClr val="accent1"/>
                </a:solidFill>
              </a:rPr>
              <a:t>Aug 2023 – today</a:t>
            </a:r>
            <a:endParaRPr lang="en-US" sz="1200" dirty="0"/>
          </a:p>
        </p:txBody>
      </p:sp>
      <p:sp>
        <p:nvSpPr>
          <p:cNvPr id="12" name="Text 9"/>
          <p:cNvSpPr txBox="1"/>
          <p:nvPr/>
        </p:nvSpPr>
        <p:spPr>
          <a:xfrm>
            <a:off x="4864608" y="1371600"/>
            <a:ext cx="1828800" cy="24688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Credit reporting or other personal consumer reports</a:t>
            </a:r>
            <a:endParaRPr lang="en-US" sz="1100" dirty="0"/>
          </a:p>
          <a:p>
            <a:pPr marL="342900" indent="-342900">
              <a:spcAft>
                <a:spcPts val="500"/>
              </a:spcAft>
              <a:buSzPct val="100000"/>
              <a:buChar char="•"/>
            </a:pPr>
            <a:r>
              <a:rPr lang="en-US" sz="1100" dirty="0">
                <a:solidFill>
                  <a:schemeClr val="tx1"/>
                </a:solidFill>
              </a:rPr>
              <a:t>Payday loan, title loan, personal loan, or advance loan</a:t>
            </a:r>
            <a:endParaRPr lang="en-US" sz="1100" dirty="0"/>
          </a:p>
          <a:p>
            <a:pPr marL="342900" indent="-342900">
              <a:spcAft>
                <a:spcPts val="500"/>
              </a:spcAft>
              <a:buSzPct val="100000"/>
              <a:buChar char="•"/>
            </a:pPr>
            <a:r>
              <a:rPr lang="en-US" sz="1100" dirty="0">
                <a:solidFill>
                  <a:schemeClr val="tx1"/>
                </a:solidFill>
              </a:rPr>
              <a:t>Debt or credit management (new)</a:t>
            </a:r>
            <a:endParaRPr lang="en-US" sz="1100" dirty="0"/>
          </a:p>
        </p:txBody>
      </p:sp>
      <p:sp>
        <p:nvSpPr>
          <p:cNvPr id="13" name="Shape 10"/>
          <p:cNvSpPr/>
          <p:nvPr/>
        </p:nvSpPr>
        <p:spPr>
          <a:xfrm>
            <a:off x="6949440" y="2423160"/>
            <a:ext cx="274320" cy="0"/>
          </a:xfrm>
          <a:prstGeom prst="line">
            <a:avLst/>
          </a:prstGeom>
          <a:noFill/>
          <a:ln w="25400">
            <a:solidFill>
              <a:srgbClr val="6B7785"/>
            </a:solidFill>
            <a:prstDash val="solid"/>
            <a:tailEnd type="triangle"/>
          </a:ln>
        </p:spPr>
      </p:sp>
      <p:sp>
        <p:nvSpPr>
          <p:cNvPr id="14" name="Shape 11"/>
          <p:cNvSpPr/>
          <p:nvPr/>
        </p:nvSpPr>
        <p:spPr>
          <a:xfrm>
            <a:off x="7269480" y="960120"/>
            <a:ext cx="1417320" cy="2926080"/>
          </a:xfrm>
          <a:prstGeom prst="roundRect">
            <a:avLst>
              <a:gd name="adj" fmla="val 3871"/>
            </a:avLst>
          </a:prstGeom>
          <a:solidFill>
            <a:srgbClr val="E4EEF3"/>
          </a:solidFill>
          <a:ln w="9525">
            <a:solidFill>
              <a:srgbClr val="E4EEF3"/>
            </a:solidFill>
            <a:prstDash val="solid"/>
          </a:ln>
        </p:spPr>
      </p:sp>
      <p:sp>
        <p:nvSpPr>
          <p:cNvPr id="15" name="Text 12"/>
          <p:cNvSpPr txBox="1"/>
          <p:nvPr/>
        </p:nvSpPr>
        <p:spPr>
          <a:xfrm>
            <a:off x="7360920" y="1033272"/>
            <a:ext cx="1280160" cy="274320"/>
          </a:xfrm>
          <a:prstGeom prst="rect">
            <a:avLst/>
          </a:prstGeom>
          <a:noFill/>
          <a:ln/>
        </p:spPr>
        <p:txBody>
          <a:bodyPr wrap="square" lIns="0" tIns="0" rIns="0" bIns="0" rtlCol="0" anchor="t"/>
          <a:lstStyle/>
          <a:p>
            <a:pPr indent="0" marL="0">
              <a:buNone/>
            </a:pPr>
            <a:r>
              <a:rPr lang="en-US" sz="1300" b="1" dirty="0">
                <a:solidFill>
                  <a:schemeClr val="accent2"/>
                </a:solidFill>
              </a:rPr>
              <a:t>10 classes</a:t>
            </a:r>
            <a:endParaRPr lang="en-US" sz="1300" dirty="0"/>
          </a:p>
        </p:txBody>
      </p:sp>
      <p:sp>
        <p:nvSpPr>
          <p:cNvPr id="16" name="Text 13"/>
          <p:cNvSpPr txBox="1"/>
          <p:nvPr/>
        </p:nvSpPr>
        <p:spPr>
          <a:xfrm>
            <a:off x="7360920" y="1371600"/>
            <a:ext cx="1280160" cy="2468880"/>
          </a:xfrm>
          <a:prstGeom prst="rect">
            <a:avLst/>
          </a:prstGeom>
          <a:noFill/>
          <a:ln/>
        </p:spPr>
        <p:txBody>
          <a:bodyPr wrap="square" lIns="0" tIns="0" rIns="0" bIns="0" rtlCol="0" anchor="t"/>
          <a:lstStyle/>
          <a:p>
            <a:pPr indent="0" marL="0">
              <a:buNone/>
            </a:pPr>
            <a:r>
              <a:rPr lang="en-US" sz="1100" dirty="0">
                <a:solidFill>
                  <a:schemeClr val="tx1"/>
                </a:solidFill>
              </a:rPr>
              <a:t>20 CFPB names → 10 stable classes</a:t>
            </a:r>
            <a:endParaRPr lang="en-US" sz="1100" dirty="0"/>
          </a:p>
          <a:p>
            <a:pPr indent="0" marL="0">
              <a:buNone/>
            </a:pPr>
            <a:endParaRPr lang="en-US" sz="1100" dirty="0"/>
          </a:p>
          <a:p>
            <a:pPr indent="0" marL="0">
              <a:buNone/>
            </a:pPr>
            <a:r>
              <a:rPr lang="en-US" sz="1100" dirty="0">
                <a:solidFill>
                  <a:schemeClr val="tx1"/>
                </a:solidFill>
              </a:rPr>
              <a:t>configs/</a:t>
            </a:r>
            <a:endParaRPr lang="en-US" sz="1100" dirty="0"/>
          </a:p>
          <a:p>
            <a:pPr indent="0" marL="0">
              <a:buNone/>
            </a:pPr>
            <a:r>
              <a:rPr lang="en-US" sz="1100" dirty="0">
                <a:solidFill>
                  <a:schemeClr val="tx1"/>
                </a:solidFill>
              </a:rPr>
              <a:t>taxonomy_map.csv</a:t>
            </a:r>
            <a:endParaRPr lang="en-US" sz="1100" dirty="0"/>
          </a:p>
          <a:p>
            <a:pPr indent="0" marL="0">
              <a:buNone/>
            </a:pPr>
            <a:endParaRPr lang="en-US" sz="1100" dirty="0"/>
          </a:p>
          <a:p>
            <a:pPr indent="0" marL="0">
              <a:buNone/>
            </a:pPr>
            <a:r>
              <a:rPr lang="en-US" sz="1100" dirty="0">
                <a:solidFill>
                  <a:schemeClr val="tx1"/>
                </a:solidFill>
              </a:rPr>
              <a:t>unmapped → manual triage + gate fails</a:t>
            </a:r>
            <a:endParaRPr lang="en-US" sz="1100" dirty="0"/>
          </a:p>
        </p:txBody>
      </p:sp>
      <p:sp>
        <p:nvSpPr>
          <p:cNvPr id="17" name="Text 14"/>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200" i="1" dirty="0">
                <a:solidFill>
                  <a:schemeClr val="accent5"/>
                </a:solidFill>
              </a:rPr>
              <a:t>Every era boundary is visible in the data: product names start and stop exactly in 2017-04 and 2023-08 (docs/data-profile.md).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Training texts are heavily imbalanced</a:t>
            </a:r>
            <a:endParaRPr lang="en-US" sz="2400" dirty="0"/>
          </a:p>
        </p:txBody>
      </p:sp>
      <p:graphicFrame>
        <p:nvGraphicFramePr>
          <p:cNvPr id="4" name="Chart 0" descr=""/>
          <p:cNvGraphicFramePr/>
          <p:nvPr/>
        </p:nvGraphicFramePr>
        <p:xfrm>
          <a:off x="365760" y="914400"/>
          <a:ext cx="54864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6126480" y="1005840"/>
            <a:ext cx="2560320" cy="1024128"/>
          </a:xfrm>
          <a:prstGeom prst="roundRect">
            <a:avLst>
              <a:gd name="adj" fmla="val 5357"/>
            </a:avLst>
          </a:prstGeom>
          <a:solidFill>
            <a:schemeClr val="bg2"/>
          </a:solidFill>
          <a:ln w="9525">
            <a:solidFill>
              <a:schemeClr val="bg2"/>
            </a:solidFill>
            <a:prstDash val="solid"/>
          </a:ln>
        </p:spPr>
      </p:sp>
      <p:sp>
        <p:nvSpPr>
          <p:cNvPr id="6" name="Text 2"/>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400" b="1" dirty="0">
                <a:solidFill>
                  <a:schemeClr val="accent2"/>
                </a:solidFill>
              </a:rPr>
              <a:t>Macro-F1</a:t>
            </a:r>
            <a:endParaRPr lang="en-US" sz="1400" dirty="0"/>
          </a:p>
        </p:txBody>
      </p:sp>
      <p:sp>
        <p:nvSpPr>
          <p:cNvPr id="7" name="Text 3"/>
          <p:cNvSpPr txBox="1"/>
          <p:nvPr/>
        </p:nvSpPr>
        <p:spPr>
          <a:xfrm>
            <a:off x="6263640" y="1444752"/>
            <a:ext cx="2286000" cy="502920"/>
          </a:xfrm>
          <a:prstGeom prst="rect">
            <a:avLst/>
          </a:prstGeom>
          <a:noFill/>
          <a:ln/>
        </p:spPr>
        <p:txBody>
          <a:bodyPr wrap="square" lIns="0" tIns="0" rIns="0" bIns="0" rtlCol="0" anchor="t"/>
          <a:lstStyle/>
          <a:p>
            <a:pPr indent="0" marL="0">
              <a:buNone/>
            </a:pPr>
            <a:r>
              <a:rPr lang="en-US" sz="1200" dirty="0">
                <a:solidFill>
                  <a:schemeClr val="tx1"/>
                </a:solidFill>
              </a:rPr>
              <a:t>every queue weighs the same in the main metric</a:t>
            </a:r>
            <a:endParaRPr lang="en-US" sz="1200" dirty="0"/>
          </a:p>
        </p:txBody>
      </p:sp>
      <p:sp>
        <p:nvSpPr>
          <p:cNvPr id="8" name="Shape 4"/>
          <p:cNvSpPr/>
          <p:nvPr/>
        </p:nvSpPr>
        <p:spPr>
          <a:xfrm>
            <a:off x="6126480" y="2194560"/>
            <a:ext cx="2560320" cy="1024128"/>
          </a:xfrm>
          <a:prstGeom prst="roundRect">
            <a:avLst>
              <a:gd name="adj" fmla="val 5357"/>
            </a:avLst>
          </a:prstGeom>
          <a:solidFill>
            <a:schemeClr val="bg2"/>
          </a:solidFill>
          <a:ln w="9525">
            <a:solidFill>
              <a:schemeClr val="bg2"/>
            </a:solidFill>
            <a:prstDash val="solid"/>
          </a:ln>
        </p:spPr>
      </p:sp>
      <p:sp>
        <p:nvSpPr>
          <p:cNvPr id="9" name="Text 5"/>
          <p:cNvSpPr txBox="1"/>
          <p:nvPr/>
        </p:nvSpPr>
        <p:spPr>
          <a:xfrm>
            <a:off x="6263640" y="2304288"/>
            <a:ext cx="2286000" cy="274320"/>
          </a:xfrm>
          <a:prstGeom prst="rect">
            <a:avLst/>
          </a:prstGeom>
          <a:noFill/>
          <a:ln/>
        </p:spPr>
        <p:txBody>
          <a:bodyPr wrap="square" lIns="0" tIns="0" rIns="0" bIns="0" rtlCol="0" anchor="t"/>
          <a:lstStyle/>
          <a:p>
            <a:pPr indent="0" marL="0">
              <a:buNone/>
            </a:pPr>
            <a:r>
              <a:rPr lang="en-US" sz="1400" b="1" dirty="0">
                <a:solidFill>
                  <a:schemeClr val="accent2"/>
                </a:solidFill>
              </a:rPr>
              <a:t>Class weights</a:t>
            </a:r>
            <a:endParaRPr lang="en-US" sz="1400" dirty="0"/>
          </a:p>
        </p:txBody>
      </p:sp>
      <p:sp>
        <p:nvSpPr>
          <p:cNvPr id="10" name="Text 6"/>
          <p:cNvSpPr txBox="1"/>
          <p:nvPr/>
        </p:nvSpPr>
        <p:spPr>
          <a:xfrm>
            <a:off x="6263640" y="2633472"/>
            <a:ext cx="2286000" cy="502920"/>
          </a:xfrm>
          <a:prstGeom prst="rect">
            <a:avLst/>
          </a:prstGeom>
          <a:noFill/>
          <a:ln/>
        </p:spPr>
        <p:txBody>
          <a:bodyPr wrap="square" lIns="0" tIns="0" rIns="0" bIns="0" rtlCol="0" anchor="t"/>
          <a:lstStyle/>
          <a:p>
            <a:pPr indent="0" marL="0">
              <a:buNone/>
            </a:pPr>
            <a:r>
              <a:rPr lang="en-US" sz="1200" dirty="0">
                <a:solidFill>
                  <a:schemeClr val="tx1"/>
                </a:solidFill>
              </a:rPr>
              <a:t>small queues are not ignored in training</a:t>
            </a:r>
            <a:endParaRPr lang="en-US" sz="1200" dirty="0"/>
          </a:p>
        </p:txBody>
      </p:sp>
      <p:sp>
        <p:nvSpPr>
          <p:cNvPr id="11" name="Shape 7"/>
          <p:cNvSpPr/>
          <p:nvPr/>
        </p:nvSpPr>
        <p:spPr>
          <a:xfrm>
            <a:off x="6126480" y="3383280"/>
            <a:ext cx="2560320" cy="1024128"/>
          </a:xfrm>
          <a:prstGeom prst="roundRect">
            <a:avLst>
              <a:gd name="adj" fmla="val 5357"/>
            </a:avLst>
          </a:prstGeom>
          <a:solidFill>
            <a:schemeClr val="bg2"/>
          </a:solidFill>
          <a:ln w="9525">
            <a:solidFill>
              <a:schemeClr val="bg2"/>
            </a:solidFill>
            <a:prstDash val="solid"/>
          </a:ln>
        </p:spPr>
      </p:sp>
      <p:sp>
        <p:nvSpPr>
          <p:cNvPr id="12" name="Text 8"/>
          <p:cNvSpPr txBox="1"/>
          <p:nvPr/>
        </p:nvSpPr>
        <p:spPr>
          <a:xfrm>
            <a:off x="6263640" y="3493008"/>
            <a:ext cx="2286000" cy="274320"/>
          </a:xfrm>
          <a:prstGeom prst="rect">
            <a:avLst/>
          </a:prstGeom>
          <a:noFill/>
          <a:ln/>
        </p:spPr>
        <p:txBody>
          <a:bodyPr wrap="square" lIns="0" tIns="0" rIns="0" bIns="0" rtlCol="0" anchor="t"/>
          <a:lstStyle/>
          <a:p>
            <a:pPr indent="0" marL="0">
              <a:buNone/>
            </a:pPr>
            <a:r>
              <a:rPr lang="en-US" sz="1400" b="1" dirty="0">
                <a:solidFill>
                  <a:schemeClr val="accent2"/>
                </a:solidFill>
              </a:rPr>
              <a:t>Recall guard</a:t>
            </a:r>
            <a:endParaRPr lang="en-US" sz="1400" dirty="0"/>
          </a:p>
        </p:txBody>
      </p:sp>
      <p:sp>
        <p:nvSpPr>
          <p:cNvPr id="13" name="Text 9"/>
          <p:cNvSpPr txBox="1"/>
          <p:nvPr/>
        </p:nvSpPr>
        <p:spPr>
          <a:xfrm>
            <a:off x="6263640" y="3822192"/>
            <a:ext cx="2286000" cy="502920"/>
          </a:xfrm>
          <a:prstGeom prst="rect">
            <a:avLst/>
          </a:prstGeom>
          <a:noFill/>
          <a:ln/>
        </p:spPr>
        <p:txBody>
          <a:bodyPr wrap="square" lIns="0" tIns="0" rIns="0" bIns="0" rtlCol="0" anchor="t"/>
          <a:lstStyle/>
          <a:p>
            <a:pPr indent="0" marL="0">
              <a:buNone/>
            </a:pPr>
            <a:r>
              <a:rPr lang="en-US" sz="1200" dirty="0">
                <a:solidFill>
                  <a:schemeClr val="tx1"/>
                </a:solidFill>
              </a:rPr>
              <a:t>no class may lose &gt; 3 pp in a new model</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Labels are noisy: two real examples from the sample</a:t>
            </a:r>
            <a:endParaRPr lang="en-US" sz="2400" dirty="0"/>
          </a:p>
        </p:txBody>
      </p:sp>
      <p:sp>
        <p:nvSpPr>
          <p:cNvPr id="4" name="Shape 1"/>
          <p:cNvSpPr/>
          <p:nvPr/>
        </p:nvSpPr>
        <p:spPr>
          <a:xfrm>
            <a:off x="457200" y="914400"/>
            <a:ext cx="4023360" cy="2148840"/>
          </a:xfrm>
          <a:prstGeom prst="roundRect">
            <a:avLst>
              <a:gd name="adj" fmla="val 2553"/>
            </a:avLst>
          </a:prstGeom>
          <a:solidFill>
            <a:schemeClr val="bg2"/>
          </a:solidFill>
          <a:ln w="9525">
            <a:solidFill>
              <a:schemeClr val="bg2"/>
            </a:solidFill>
            <a:prstDash val="solid"/>
          </a:ln>
        </p:spPr>
      </p:sp>
      <p:sp>
        <p:nvSpPr>
          <p:cNvPr id="5" name="Shape 2"/>
          <p:cNvSpPr/>
          <p:nvPr/>
        </p:nvSpPr>
        <p:spPr>
          <a:xfrm>
            <a:off x="594360" y="1051560"/>
            <a:ext cx="2651760" cy="237744"/>
          </a:xfrm>
          <a:prstGeom prst="roundRect">
            <a:avLst>
              <a:gd name="adj" fmla="val 50000"/>
            </a:avLst>
          </a:prstGeom>
          <a:solidFill>
            <a:srgbClr val="B3261E"/>
          </a:solidFill>
          <a:ln w="6350">
            <a:solidFill>
              <a:srgbClr val="B3261E"/>
            </a:solidFill>
            <a:prstDash val="solid"/>
          </a:ln>
        </p:spPr>
      </p:sp>
      <p:sp>
        <p:nvSpPr>
          <p:cNvPr id="6" name="Text 3"/>
          <p:cNvSpPr txBox="1"/>
          <p:nvPr/>
        </p:nvSpPr>
        <p:spPr>
          <a:xfrm>
            <a:off x="594360" y="1051560"/>
            <a:ext cx="2651760" cy="237744"/>
          </a:xfrm>
          <a:prstGeom prst="rect">
            <a:avLst/>
          </a:prstGeom>
          <a:noFill/>
          <a:ln/>
        </p:spPr>
        <p:txBody>
          <a:bodyPr wrap="square" lIns="0" tIns="0" rIns="0" bIns="0" rtlCol="0" anchor="ctr"/>
          <a:lstStyle/>
          <a:p>
            <a:pPr algn="ctr" indent="0" marL="0">
              <a:buNone/>
            </a:pPr>
            <a:r>
              <a:rPr lang="en-US" sz="1000" b="1" dirty="0">
                <a:solidFill>
                  <a:schemeClr val="bg1"/>
                </a:solidFill>
              </a:rPr>
              <a:t>Labelled: Debt collection</a:t>
            </a:r>
            <a:endParaRPr lang="en-US" sz="1000" dirty="0"/>
          </a:p>
        </p:txBody>
      </p:sp>
      <p:sp>
        <p:nvSpPr>
          <p:cNvPr id="7" name="Text 4"/>
          <p:cNvSpPr txBox="1"/>
          <p:nvPr/>
        </p:nvSpPr>
        <p:spPr>
          <a:xfrm>
            <a:off x="594360" y="1371600"/>
            <a:ext cx="3749040" cy="228600"/>
          </a:xfrm>
          <a:prstGeom prst="rect">
            <a:avLst/>
          </a:prstGeom>
          <a:noFill/>
          <a:ln/>
        </p:spPr>
        <p:txBody>
          <a:bodyPr wrap="square" lIns="0" tIns="0" rIns="0" bIns="0" rtlCol="0" anchor="t"/>
          <a:lstStyle/>
          <a:p>
            <a:pPr indent="0" marL="0">
              <a:buNone/>
            </a:pPr>
            <a:r>
              <a:rPr lang="en-US" sz="1000" dirty="0">
                <a:solidFill>
                  <a:schemeClr val="accent5"/>
                </a:solidFill>
              </a:rPr>
              <a:t>TransUnion · VA · 2025-04-09</a:t>
            </a:r>
            <a:endParaRPr lang="en-US" sz="1000" dirty="0"/>
          </a:p>
        </p:txBody>
      </p:sp>
      <p:sp>
        <p:nvSpPr>
          <p:cNvPr id="8" name="Text 5"/>
          <p:cNvSpPr txBox="1"/>
          <p:nvPr/>
        </p:nvSpPr>
        <p:spPr>
          <a:xfrm>
            <a:off x="594360" y="1645920"/>
            <a:ext cx="3749040" cy="1325880"/>
          </a:xfrm>
          <a:prstGeom prst="rect">
            <a:avLst/>
          </a:prstGeom>
          <a:noFill/>
          <a:ln/>
        </p:spPr>
        <p:txBody>
          <a:bodyPr wrap="square" lIns="0" tIns="0" rIns="0" bIns="0" rtlCol="0" anchor="t"/>
          <a:lstStyle/>
          <a:p>
            <a:pPr indent="0" marL="0">
              <a:buNone/>
            </a:pPr>
            <a:r>
              <a:rPr lang="en-US" sz="1200" i="1" dirty="0">
                <a:solidFill>
                  <a:schemeClr val="tx1"/>
                </a:solidFill>
              </a:rPr>
              <a:t>“My credit report shows collection accounts that I believe include inaccurate information. Under my rights as outlined in 15 USC 1681e (b) and 15 USC 1681i, I am entitled to a fully accurate report…”</a:t>
            </a:r>
            <a:endParaRPr lang="en-US" sz="1200" dirty="0"/>
          </a:p>
        </p:txBody>
      </p:sp>
      <p:sp>
        <p:nvSpPr>
          <p:cNvPr id="9" name="Shape 6"/>
          <p:cNvSpPr/>
          <p:nvPr/>
        </p:nvSpPr>
        <p:spPr>
          <a:xfrm>
            <a:off x="4663440" y="914400"/>
            <a:ext cx="4023360" cy="2148840"/>
          </a:xfrm>
          <a:prstGeom prst="roundRect">
            <a:avLst>
              <a:gd name="adj" fmla="val 2553"/>
            </a:avLst>
          </a:prstGeom>
          <a:solidFill>
            <a:schemeClr val="bg2"/>
          </a:solidFill>
          <a:ln w="9525">
            <a:solidFill>
              <a:schemeClr val="bg2"/>
            </a:solidFill>
            <a:prstDash val="solid"/>
          </a:ln>
        </p:spPr>
      </p:sp>
      <p:sp>
        <p:nvSpPr>
          <p:cNvPr id="10" name="Shape 7"/>
          <p:cNvSpPr/>
          <p:nvPr/>
        </p:nvSpPr>
        <p:spPr>
          <a:xfrm>
            <a:off x="4800600" y="1051560"/>
            <a:ext cx="2651760" cy="237744"/>
          </a:xfrm>
          <a:prstGeom prst="roundRect">
            <a:avLst>
              <a:gd name="adj" fmla="val 50000"/>
            </a:avLst>
          </a:prstGeom>
          <a:solidFill>
            <a:srgbClr val="B3261E"/>
          </a:solidFill>
          <a:ln w="6350">
            <a:solidFill>
              <a:srgbClr val="B3261E"/>
            </a:solidFill>
            <a:prstDash val="solid"/>
          </a:ln>
        </p:spPr>
      </p:sp>
      <p:sp>
        <p:nvSpPr>
          <p:cNvPr id="11" name="Text 8"/>
          <p:cNvSpPr txBox="1"/>
          <p:nvPr/>
        </p:nvSpPr>
        <p:spPr>
          <a:xfrm>
            <a:off x="4800600" y="1051560"/>
            <a:ext cx="2651760" cy="237744"/>
          </a:xfrm>
          <a:prstGeom prst="rect">
            <a:avLst/>
          </a:prstGeom>
          <a:noFill/>
          <a:ln/>
        </p:spPr>
        <p:txBody>
          <a:bodyPr wrap="square" lIns="0" tIns="0" rIns="0" bIns="0" rtlCol="0" anchor="ctr"/>
          <a:lstStyle/>
          <a:p>
            <a:pPr algn="ctr" indent="0" marL="0">
              <a:buNone/>
            </a:pPr>
            <a:r>
              <a:rPr lang="en-US" sz="1000" b="1" dirty="0">
                <a:solidFill>
                  <a:schemeClr val="bg1"/>
                </a:solidFill>
              </a:rPr>
              <a:t>Labelled: Debt or credit management</a:t>
            </a:r>
            <a:endParaRPr lang="en-US" sz="1000" dirty="0"/>
          </a:p>
        </p:txBody>
      </p:sp>
      <p:sp>
        <p:nvSpPr>
          <p:cNvPr id="12" name="Text 9"/>
          <p:cNvSpPr txBox="1"/>
          <p:nvPr/>
        </p:nvSpPr>
        <p:spPr>
          <a:xfrm>
            <a:off x="4800600" y="1371600"/>
            <a:ext cx="3749040" cy="228600"/>
          </a:xfrm>
          <a:prstGeom prst="rect">
            <a:avLst/>
          </a:prstGeom>
          <a:noFill/>
          <a:ln/>
        </p:spPr>
        <p:txBody>
          <a:bodyPr wrap="square" lIns="0" tIns="0" rIns="0" bIns="0" rtlCol="0" anchor="t"/>
          <a:lstStyle/>
          <a:p>
            <a:pPr indent="0" marL="0">
              <a:buNone/>
            </a:pPr>
            <a:r>
              <a:rPr lang="en-US" sz="1000" dirty="0">
                <a:solidFill>
                  <a:schemeClr val="accent5"/>
                </a:solidFill>
              </a:rPr>
              <a:t>TransUnion · WI · 2025-01-14</a:t>
            </a:r>
            <a:endParaRPr lang="en-US" sz="1000" dirty="0"/>
          </a:p>
        </p:txBody>
      </p:sp>
      <p:sp>
        <p:nvSpPr>
          <p:cNvPr id="13" name="Text 10"/>
          <p:cNvSpPr txBox="1"/>
          <p:nvPr/>
        </p:nvSpPr>
        <p:spPr>
          <a:xfrm>
            <a:off x="4800600" y="1645920"/>
            <a:ext cx="3749040" cy="1325880"/>
          </a:xfrm>
          <a:prstGeom prst="rect">
            <a:avLst/>
          </a:prstGeom>
          <a:noFill/>
          <a:ln/>
        </p:spPr>
        <p:txBody>
          <a:bodyPr wrap="square" lIns="0" tIns="0" rIns="0" bIns="0" rtlCol="0" anchor="t"/>
          <a:lstStyle/>
          <a:p>
            <a:pPr indent="0" marL="0">
              <a:buNone/>
            </a:pPr>
            <a:r>
              <a:rPr lang="en-US" sz="1200" i="1" dirty="0">
                <a:solidFill>
                  <a:schemeClr val="tx1"/>
                </a:solidFill>
              </a:rPr>
              <a:t>“I requested proof of late payments. I requested the late payments be investigated and that TransUnion send me there method of verification…”</a:t>
            </a:r>
            <a:endParaRPr lang="en-US" sz="1200" dirty="0"/>
          </a:p>
        </p:txBody>
      </p:sp>
      <p:sp>
        <p:nvSpPr>
          <p:cNvPr id="14" name="Shape 11"/>
          <p:cNvSpPr/>
          <p:nvPr/>
        </p:nvSpPr>
        <p:spPr>
          <a:xfrm>
            <a:off x="457200" y="3246120"/>
            <a:ext cx="8229600" cy="1325880"/>
          </a:xfrm>
          <a:prstGeom prst="roundRect">
            <a:avLst>
              <a:gd name="adj" fmla="val 4138"/>
            </a:avLst>
          </a:prstGeom>
          <a:solidFill>
            <a:srgbClr val="E4EEF3"/>
          </a:solidFill>
          <a:ln w="9525">
            <a:solidFill>
              <a:srgbClr val="E4EEF3"/>
            </a:solidFill>
            <a:prstDash val="solid"/>
          </a:ln>
        </p:spPr>
      </p:sp>
      <p:sp>
        <p:nvSpPr>
          <p:cNvPr id="15" name="Text 12"/>
          <p:cNvSpPr txBox="1"/>
          <p:nvPr/>
        </p:nvSpPr>
        <p:spPr>
          <a:xfrm>
            <a:off x="594360" y="3337560"/>
            <a:ext cx="7955280" cy="274320"/>
          </a:xfrm>
          <a:prstGeom prst="rect">
            <a:avLst/>
          </a:prstGeom>
          <a:noFill/>
          <a:ln/>
        </p:spPr>
        <p:txBody>
          <a:bodyPr wrap="square" lIns="0" tIns="0" rIns="0" bIns="0" rtlCol="0" anchor="t"/>
          <a:lstStyle/>
          <a:p>
            <a:pPr indent="0" marL="0">
              <a:buNone/>
            </a:pPr>
            <a:r>
              <a:rPr lang="en-US" sz="1300" b="1" dirty="0">
                <a:solidFill>
                  <a:schemeClr val="accent2"/>
                </a:solidFill>
              </a:rPr>
              <a:t>What the design does about it</a:t>
            </a:r>
            <a:endParaRPr lang="en-US" sz="1300" dirty="0"/>
          </a:p>
        </p:txBody>
      </p:sp>
      <p:sp>
        <p:nvSpPr>
          <p:cNvPr id="16" name="Text 13"/>
          <p:cNvSpPr txBox="1"/>
          <p:nvPr/>
        </p:nvSpPr>
        <p:spPr>
          <a:xfrm>
            <a:off x="594360" y="3657600"/>
            <a:ext cx="7955280" cy="8686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Lab 2: hand-label 200 rows and report the noise rate next to the baseline</a:t>
            </a:r>
            <a:endParaRPr lang="en-US" sz="1200" dirty="0"/>
          </a:p>
          <a:p>
            <a:pPr marL="342900" indent="-342900">
              <a:spcAft>
                <a:spcPts val="300"/>
              </a:spcAft>
              <a:buSzPct val="100000"/>
              <a:buChar char="•"/>
            </a:pPr>
            <a:r>
              <a:rPr lang="en-US" sz="1200" dirty="0">
                <a:solidFill>
                  <a:schemeClr val="tx1"/>
                </a:solidFill>
              </a:rPr>
              <a:t>Human overrides take precedence over the CFPB label; the model's own predictions are never used as labels</a:t>
            </a:r>
            <a:endParaRPr lang="en-US" sz="1200" dirty="0"/>
          </a:p>
          <a:p>
            <a:pPr marL="342900" indent="-342900">
              <a:spcAft>
                <a:spcPts val="300"/>
              </a:spcAft>
              <a:buSzPct val="100000"/>
              <a:buChar char="•"/>
            </a:pPr>
            <a:r>
              <a:rPr lang="en-US" sz="1200" dirty="0">
                <a:solidFill>
                  <a:schemeClr val="tx1"/>
                </a:solidFill>
              </a:rPr>
              <a:t>Macro-F1 targets are read as “against noisy labels”: 0.80 is a floor, not a ceiling</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The data passes all four checks the labs require</a:t>
            </a:r>
            <a:endParaRPr lang="en-US" sz="2400" dirty="0"/>
          </a:p>
        </p:txBody>
      </p:sp>
      <p:sp>
        <p:nvSpPr>
          <p:cNvPr id="4" name="Shape 1"/>
          <p:cNvSpPr/>
          <p:nvPr/>
        </p:nvSpPr>
        <p:spPr>
          <a:xfrm>
            <a:off x="457200" y="914400"/>
            <a:ext cx="8229600" cy="530352"/>
          </a:xfrm>
          <a:prstGeom prst="roundRect">
            <a:avLst>
              <a:gd name="adj" fmla="val 10345"/>
            </a:avLst>
          </a:prstGeom>
          <a:solidFill>
            <a:schemeClr val="bg2"/>
          </a:solidFill>
          <a:ln w="9525">
            <a:solidFill>
              <a:schemeClr val="bg2"/>
            </a:solidFill>
            <a:prstDash val="solid"/>
          </a:ln>
        </p:spPr>
      </p:sp>
      <p:sp>
        <p:nvSpPr>
          <p:cNvPr id="5" name="Shape 2"/>
          <p:cNvSpPr/>
          <p:nvPr/>
        </p:nvSpPr>
        <p:spPr>
          <a:xfrm>
            <a:off x="566928" y="1060704"/>
            <a:ext cx="548640" cy="237744"/>
          </a:xfrm>
          <a:prstGeom prst="roundRect">
            <a:avLst>
              <a:gd name="adj" fmla="val 50000"/>
            </a:avLst>
          </a:prstGeom>
          <a:solidFill>
            <a:srgbClr val="3F7D4E"/>
          </a:solidFill>
          <a:ln w="6350">
            <a:solidFill>
              <a:srgbClr val="3F7D4E"/>
            </a:solidFill>
            <a:prstDash val="solid"/>
          </a:ln>
        </p:spPr>
      </p:sp>
      <p:sp>
        <p:nvSpPr>
          <p:cNvPr id="6" name="Text 3"/>
          <p:cNvSpPr txBox="1"/>
          <p:nvPr/>
        </p:nvSpPr>
        <p:spPr>
          <a:xfrm>
            <a:off x="566928" y="1060704"/>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7" name="Text 4"/>
          <p:cNvSpPr txBox="1"/>
          <p:nvPr/>
        </p:nvSpPr>
        <p:spPr>
          <a:xfrm>
            <a:off x="1234440" y="1051560"/>
            <a:ext cx="1828800" cy="274320"/>
          </a:xfrm>
          <a:prstGeom prst="rect">
            <a:avLst/>
          </a:prstGeom>
          <a:noFill/>
          <a:ln/>
        </p:spPr>
        <p:txBody>
          <a:bodyPr wrap="square" lIns="0" tIns="0" rIns="0" bIns="0" rtlCol="0" anchor="t"/>
          <a:lstStyle/>
          <a:p>
            <a:pPr indent="0" marL="0">
              <a:buNone/>
            </a:pPr>
            <a:r>
              <a:rPr lang="en-US" sz="1300" b="1" dirty="0">
                <a:solidFill>
                  <a:schemeClr val="tx1"/>
                </a:solidFill>
              </a:rPr>
              <a:t>Time axis</a:t>
            </a:r>
            <a:endParaRPr lang="en-US" sz="1300" dirty="0"/>
          </a:p>
        </p:txBody>
      </p:sp>
      <p:sp>
        <p:nvSpPr>
          <p:cNvPr id="8" name="Text 5"/>
          <p:cNvSpPr txBox="1"/>
          <p:nvPr/>
        </p:nvSpPr>
        <p:spPr>
          <a:xfrm>
            <a:off x="3063240" y="987552"/>
            <a:ext cx="5532120" cy="411480"/>
          </a:xfrm>
          <a:prstGeom prst="rect">
            <a:avLst/>
          </a:prstGeom>
          <a:noFill/>
          <a:ln/>
        </p:spPr>
        <p:txBody>
          <a:bodyPr wrap="square" lIns="0" tIns="0" rIns="0" bIns="0" rtlCol="0" anchor="ctr"/>
          <a:lstStyle/>
          <a:p>
            <a:pPr indent="0" marL="0">
              <a:buNone/>
            </a:pPr>
            <a:r>
              <a:rPr lang="en-US" sz="1200" dirty="0">
                <a:solidFill>
                  <a:schemeClr val="tx1"/>
                </a:solidFill>
              </a:rPr>
              <a:t>Daily date_received, 2011-12 → today; monthly batches replayed from the snapshot</a:t>
            </a:r>
            <a:endParaRPr lang="en-US" sz="1200" dirty="0"/>
          </a:p>
        </p:txBody>
      </p:sp>
      <p:sp>
        <p:nvSpPr>
          <p:cNvPr id="9" name="Shape 6"/>
          <p:cNvSpPr/>
          <p:nvPr/>
        </p:nvSpPr>
        <p:spPr>
          <a:xfrm>
            <a:off x="457200" y="1536192"/>
            <a:ext cx="8229600" cy="530352"/>
          </a:xfrm>
          <a:prstGeom prst="roundRect">
            <a:avLst>
              <a:gd name="adj" fmla="val 10345"/>
            </a:avLst>
          </a:prstGeom>
          <a:solidFill>
            <a:schemeClr val="bg2"/>
          </a:solidFill>
          <a:ln w="9525">
            <a:solidFill>
              <a:schemeClr val="bg2"/>
            </a:solidFill>
            <a:prstDash val="solid"/>
          </a:ln>
        </p:spPr>
      </p:sp>
      <p:sp>
        <p:nvSpPr>
          <p:cNvPr id="10" name="Shape 7"/>
          <p:cNvSpPr/>
          <p:nvPr/>
        </p:nvSpPr>
        <p:spPr>
          <a:xfrm>
            <a:off x="566928" y="1682496"/>
            <a:ext cx="548640" cy="237744"/>
          </a:xfrm>
          <a:prstGeom prst="roundRect">
            <a:avLst>
              <a:gd name="adj" fmla="val 50000"/>
            </a:avLst>
          </a:prstGeom>
          <a:solidFill>
            <a:srgbClr val="3F7D4E"/>
          </a:solidFill>
          <a:ln w="6350">
            <a:solidFill>
              <a:srgbClr val="3F7D4E"/>
            </a:solidFill>
            <a:prstDash val="solid"/>
          </a:ln>
        </p:spPr>
      </p:sp>
      <p:sp>
        <p:nvSpPr>
          <p:cNvPr id="11" name="Text 8"/>
          <p:cNvSpPr txBox="1"/>
          <p:nvPr/>
        </p:nvSpPr>
        <p:spPr>
          <a:xfrm>
            <a:off x="566928" y="1682496"/>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12" name="Text 9"/>
          <p:cNvSpPr txBox="1"/>
          <p:nvPr/>
        </p:nvSpPr>
        <p:spPr>
          <a:xfrm>
            <a:off x="1234440" y="1673352"/>
            <a:ext cx="1828800" cy="274320"/>
          </a:xfrm>
          <a:prstGeom prst="rect">
            <a:avLst/>
          </a:prstGeom>
          <a:noFill/>
          <a:ln/>
        </p:spPr>
        <p:txBody>
          <a:bodyPr wrap="square" lIns="0" tIns="0" rIns="0" bIns="0" rtlCol="0" anchor="t"/>
          <a:lstStyle/>
          <a:p>
            <a:pPr indent="0" marL="0">
              <a:buNone/>
            </a:pPr>
            <a:r>
              <a:rPr lang="en-US" sz="1300" b="1" dirty="0">
                <a:solidFill>
                  <a:schemeClr val="tx1"/>
                </a:solidFill>
              </a:rPr>
              <a:t>History to hold out</a:t>
            </a:r>
            <a:endParaRPr lang="en-US" sz="1300" dirty="0"/>
          </a:p>
        </p:txBody>
      </p:sp>
      <p:sp>
        <p:nvSpPr>
          <p:cNvPr id="13" name="Text 10"/>
          <p:cNvSpPr txBox="1"/>
          <p:nvPr/>
        </p:nvSpPr>
        <p:spPr>
          <a:xfrm>
            <a:off x="3063240" y="1609344"/>
            <a:ext cx="5532120" cy="411480"/>
          </a:xfrm>
          <a:prstGeom prst="rect">
            <a:avLst/>
          </a:prstGeom>
          <a:noFill/>
          <a:ln/>
        </p:spPr>
        <p:txBody>
          <a:bodyPr wrap="square" lIns="0" tIns="0" rIns="0" bIns="0" rtlCol="0" anchor="ctr"/>
          <a:lstStyle/>
          <a:p>
            <a:pPr indent="0" marL="0">
              <a:buNone/>
            </a:pPr>
            <a:r>
              <a:rPr lang="en-US" sz="1200" dirty="0">
                <a:solidFill>
                  <a:schemeClr val="tx1"/>
                </a:solidFill>
              </a:rPr>
              <a:t>3.8 M texts; train 2023-04 → 2025-03, validate 2025-04 → 06, test 2025-07 → 09</a:t>
            </a:r>
            <a:endParaRPr lang="en-US" sz="1200" dirty="0"/>
          </a:p>
        </p:txBody>
      </p:sp>
      <p:sp>
        <p:nvSpPr>
          <p:cNvPr id="14" name="Shape 11"/>
          <p:cNvSpPr/>
          <p:nvPr/>
        </p:nvSpPr>
        <p:spPr>
          <a:xfrm>
            <a:off x="457200" y="2157984"/>
            <a:ext cx="8229600" cy="530352"/>
          </a:xfrm>
          <a:prstGeom prst="roundRect">
            <a:avLst>
              <a:gd name="adj" fmla="val 10345"/>
            </a:avLst>
          </a:prstGeom>
          <a:solidFill>
            <a:schemeClr val="bg2"/>
          </a:solidFill>
          <a:ln w="9525">
            <a:solidFill>
              <a:schemeClr val="bg2"/>
            </a:solidFill>
            <a:prstDash val="solid"/>
          </a:ln>
        </p:spPr>
      </p:sp>
      <p:sp>
        <p:nvSpPr>
          <p:cNvPr id="15" name="Shape 12"/>
          <p:cNvSpPr/>
          <p:nvPr/>
        </p:nvSpPr>
        <p:spPr>
          <a:xfrm>
            <a:off x="566928" y="2304288"/>
            <a:ext cx="548640" cy="237744"/>
          </a:xfrm>
          <a:prstGeom prst="roundRect">
            <a:avLst>
              <a:gd name="adj" fmla="val 50000"/>
            </a:avLst>
          </a:prstGeom>
          <a:solidFill>
            <a:srgbClr val="3F7D4E"/>
          </a:solidFill>
          <a:ln w="6350">
            <a:solidFill>
              <a:srgbClr val="3F7D4E"/>
            </a:solidFill>
            <a:prstDash val="solid"/>
          </a:ln>
        </p:spPr>
      </p:sp>
      <p:sp>
        <p:nvSpPr>
          <p:cNvPr id="16" name="Text 13"/>
          <p:cNvSpPr txBox="1"/>
          <p:nvPr/>
        </p:nvSpPr>
        <p:spPr>
          <a:xfrm>
            <a:off x="566928" y="2304288"/>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17" name="Text 14"/>
          <p:cNvSpPr txBox="1"/>
          <p:nvPr/>
        </p:nvSpPr>
        <p:spPr>
          <a:xfrm>
            <a:off x="1234440" y="2295144"/>
            <a:ext cx="1828800" cy="274320"/>
          </a:xfrm>
          <a:prstGeom prst="rect">
            <a:avLst/>
          </a:prstGeom>
          <a:noFill/>
          <a:ln/>
        </p:spPr>
        <p:txBody>
          <a:bodyPr wrap="square" lIns="0" tIns="0" rIns="0" bIns="0" rtlCol="0" anchor="t"/>
          <a:lstStyle/>
          <a:p>
            <a:pPr indent="0" marL="0">
              <a:buNone/>
            </a:pPr>
            <a:r>
              <a:rPr lang="en-US" sz="1300" b="1" dirty="0">
                <a:solidFill>
                  <a:schemeClr val="tx1"/>
                </a:solidFill>
              </a:rPr>
              <a:t>Label arrival delay</a:t>
            </a:r>
            <a:endParaRPr lang="en-US" sz="1300" dirty="0"/>
          </a:p>
        </p:txBody>
      </p:sp>
      <p:sp>
        <p:nvSpPr>
          <p:cNvPr id="18" name="Text 15"/>
          <p:cNvSpPr txBox="1"/>
          <p:nvPr/>
        </p:nvSpPr>
        <p:spPr>
          <a:xfrm>
            <a:off x="3063240" y="2231136"/>
            <a:ext cx="5532120" cy="411480"/>
          </a:xfrm>
          <a:prstGeom prst="rect">
            <a:avLst/>
          </a:prstGeom>
          <a:noFill/>
          <a:ln/>
        </p:spPr>
        <p:txBody>
          <a:bodyPr wrap="square" lIns="0" tIns="0" rIns="0" bIns="0" rtlCol="0" anchor="ctr"/>
          <a:lstStyle/>
          <a:p>
            <a:pPr indent="0" marL="0">
              <a:buNone/>
            </a:pPr>
            <a:r>
              <a:rPr lang="en-US" sz="1200" dirty="0">
                <a:solidFill>
                  <a:schemeClr val="tx1"/>
                </a:solidFill>
              </a:rPr>
              <a:t>15 days (emulated), grounded in CFPB's rule: published after the company responds or after 15 days</a:t>
            </a:r>
            <a:endParaRPr lang="en-US" sz="1200" dirty="0"/>
          </a:p>
        </p:txBody>
      </p:sp>
      <p:sp>
        <p:nvSpPr>
          <p:cNvPr id="19" name="Shape 16"/>
          <p:cNvSpPr/>
          <p:nvPr/>
        </p:nvSpPr>
        <p:spPr>
          <a:xfrm>
            <a:off x="457200" y="2779776"/>
            <a:ext cx="8229600" cy="530352"/>
          </a:xfrm>
          <a:prstGeom prst="roundRect">
            <a:avLst>
              <a:gd name="adj" fmla="val 10345"/>
            </a:avLst>
          </a:prstGeom>
          <a:solidFill>
            <a:schemeClr val="bg2"/>
          </a:solidFill>
          <a:ln w="9525">
            <a:solidFill>
              <a:schemeClr val="bg2"/>
            </a:solidFill>
            <a:prstDash val="solid"/>
          </a:ln>
        </p:spPr>
      </p:sp>
      <p:sp>
        <p:nvSpPr>
          <p:cNvPr id="20" name="Shape 17"/>
          <p:cNvSpPr/>
          <p:nvPr/>
        </p:nvSpPr>
        <p:spPr>
          <a:xfrm>
            <a:off x="566928" y="2926080"/>
            <a:ext cx="548640" cy="237744"/>
          </a:xfrm>
          <a:prstGeom prst="roundRect">
            <a:avLst>
              <a:gd name="adj" fmla="val 50000"/>
            </a:avLst>
          </a:prstGeom>
          <a:solidFill>
            <a:srgbClr val="3F7D4E"/>
          </a:solidFill>
          <a:ln w="6350">
            <a:solidFill>
              <a:srgbClr val="3F7D4E"/>
            </a:solidFill>
            <a:prstDash val="solid"/>
          </a:ln>
        </p:spPr>
      </p:sp>
      <p:sp>
        <p:nvSpPr>
          <p:cNvPr id="21" name="Text 18"/>
          <p:cNvSpPr txBox="1"/>
          <p:nvPr/>
        </p:nvSpPr>
        <p:spPr>
          <a:xfrm>
            <a:off x="566928" y="2926080"/>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22" name="Text 19"/>
          <p:cNvSpPr txBox="1"/>
          <p:nvPr/>
        </p:nvSpPr>
        <p:spPr>
          <a:xfrm>
            <a:off x="1234440" y="2916936"/>
            <a:ext cx="1828800" cy="274320"/>
          </a:xfrm>
          <a:prstGeom prst="rect">
            <a:avLst/>
          </a:prstGeom>
          <a:noFill/>
          <a:ln/>
        </p:spPr>
        <p:txBody>
          <a:bodyPr wrap="square" lIns="0" tIns="0" rIns="0" bIns="0" rtlCol="0" anchor="t"/>
          <a:lstStyle/>
          <a:p>
            <a:pPr indent="0" marL="0">
              <a:buNone/>
            </a:pPr>
            <a:r>
              <a:rPr lang="en-US" sz="1300" b="1" dirty="0">
                <a:solidFill>
                  <a:schemeClr val="tx1"/>
                </a:solidFill>
              </a:rPr>
              <a:t>Text surface / corpus</a:t>
            </a:r>
            <a:endParaRPr lang="en-US" sz="1300" dirty="0"/>
          </a:p>
        </p:txBody>
      </p:sp>
      <p:sp>
        <p:nvSpPr>
          <p:cNvPr id="23" name="Text 20"/>
          <p:cNvSpPr txBox="1"/>
          <p:nvPr/>
        </p:nvSpPr>
        <p:spPr>
          <a:xfrm>
            <a:off x="3063240" y="2852928"/>
            <a:ext cx="5532120" cy="411480"/>
          </a:xfrm>
          <a:prstGeom prst="rect">
            <a:avLst/>
          </a:prstGeom>
          <a:noFill/>
          <a:ln/>
        </p:spPr>
        <p:txBody>
          <a:bodyPr wrap="square" lIns="0" tIns="0" rIns="0" bIns="0" rtlCol="0" anchor="ctr"/>
          <a:lstStyle/>
          <a:p>
            <a:pPr indent="0" marL="0">
              <a:buNone/>
            </a:pPr>
            <a:r>
              <a:rPr lang="en-US" sz="1200" dirty="0">
                <a:solidFill>
                  <a:schemeClr val="tx1"/>
                </a:solidFill>
              </a:rPr>
              <a:t>Narratives are the data; Lab 3 corpus: Ask CFPB articles + eCFR Regs B, E, F, V, X, Z</a:t>
            </a:r>
            <a:endParaRPr lang="en-US" sz="1200" dirty="0"/>
          </a:p>
        </p:txBody>
      </p:sp>
      <p:sp>
        <p:nvSpPr>
          <p:cNvPr id="24" name="Shape 21"/>
          <p:cNvSpPr/>
          <p:nvPr/>
        </p:nvSpPr>
        <p:spPr>
          <a:xfrm>
            <a:off x="457200" y="3566160"/>
            <a:ext cx="4937760" cy="384048"/>
          </a:xfrm>
          <a:prstGeom prst="rect">
            <a:avLst/>
          </a:prstGeom>
          <a:solidFill>
            <a:srgbClr val="2F6F8F"/>
          </a:solidFill>
          <a:ln w="12700">
            <a:solidFill>
              <a:srgbClr val="FFFFFF"/>
            </a:solidFill>
            <a:prstDash val="solid"/>
          </a:ln>
        </p:spPr>
      </p:sp>
      <p:sp>
        <p:nvSpPr>
          <p:cNvPr id="25" name="Text 22"/>
          <p:cNvSpPr txBox="1"/>
          <p:nvPr/>
        </p:nvSpPr>
        <p:spPr>
          <a:xfrm>
            <a:off x="502920" y="3566160"/>
            <a:ext cx="4846320" cy="384048"/>
          </a:xfrm>
          <a:prstGeom prst="rect">
            <a:avLst/>
          </a:prstGeom>
          <a:noFill/>
          <a:ln/>
        </p:spPr>
        <p:txBody>
          <a:bodyPr wrap="square" lIns="0" tIns="0" rIns="0" bIns="0" rtlCol="0" anchor="ctr"/>
          <a:lstStyle/>
          <a:p>
            <a:pPr algn="ctr" indent="0" marL="0">
              <a:buNone/>
            </a:pPr>
            <a:r>
              <a:rPr lang="en-US" sz="1100" b="1" dirty="0">
                <a:solidFill>
                  <a:schemeClr val="bg1"/>
                </a:solidFill>
              </a:rPr>
              <a:t>Train · 24 mo · 1.54 M</a:t>
            </a:r>
            <a:endParaRPr lang="en-US" sz="1100" dirty="0"/>
          </a:p>
        </p:txBody>
      </p:sp>
      <p:sp>
        <p:nvSpPr>
          <p:cNvPr id="26" name="Shape 23"/>
          <p:cNvSpPr/>
          <p:nvPr/>
        </p:nvSpPr>
        <p:spPr>
          <a:xfrm>
            <a:off x="5394960" y="3566160"/>
            <a:ext cx="617220" cy="384048"/>
          </a:xfrm>
          <a:prstGeom prst="rect">
            <a:avLst/>
          </a:prstGeom>
          <a:solidFill>
            <a:srgbClr val="C9741F"/>
          </a:solidFill>
          <a:ln w="12700">
            <a:solidFill>
              <a:srgbClr val="FFFFFF"/>
            </a:solidFill>
            <a:prstDash val="solid"/>
          </a:ln>
        </p:spPr>
      </p:sp>
      <p:sp>
        <p:nvSpPr>
          <p:cNvPr id="27" name="Text 24"/>
          <p:cNvSpPr txBox="1"/>
          <p:nvPr/>
        </p:nvSpPr>
        <p:spPr>
          <a:xfrm>
            <a:off x="5440680" y="3566160"/>
            <a:ext cx="525780" cy="384048"/>
          </a:xfrm>
          <a:prstGeom prst="rect">
            <a:avLst/>
          </a:prstGeom>
          <a:noFill/>
          <a:ln/>
        </p:spPr>
        <p:txBody>
          <a:bodyPr wrap="square" lIns="0" tIns="0" rIns="0" bIns="0" rtlCol="0" anchor="ctr"/>
          <a:lstStyle/>
          <a:p>
            <a:pPr algn="ctr" indent="0" marL="0">
              <a:buNone/>
            </a:pPr>
            <a:r>
              <a:rPr lang="en-US" sz="900" b="1" dirty="0">
                <a:solidFill>
                  <a:schemeClr val="bg1"/>
                </a:solidFill>
              </a:rPr>
              <a:t>Val · 325 k</a:t>
            </a:r>
            <a:endParaRPr lang="en-US" sz="900" dirty="0"/>
          </a:p>
        </p:txBody>
      </p:sp>
      <p:sp>
        <p:nvSpPr>
          <p:cNvPr id="28" name="Shape 25"/>
          <p:cNvSpPr/>
          <p:nvPr/>
        </p:nvSpPr>
        <p:spPr>
          <a:xfrm>
            <a:off x="6012180" y="3566160"/>
            <a:ext cx="617220" cy="384048"/>
          </a:xfrm>
          <a:prstGeom prst="rect">
            <a:avLst/>
          </a:prstGeom>
          <a:solidFill>
            <a:srgbClr val="3F7D4E"/>
          </a:solidFill>
          <a:ln w="12700">
            <a:solidFill>
              <a:srgbClr val="FFFFFF"/>
            </a:solidFill>
            <a:prstDash val="solid"/>
          </a:ln>
        </p:spPr>
      </p:sp>
      <p:sp>
        <p:nvSpPr>
          <p:cNvPr id="29" name="Text 26"/>
          <p:cNvSpPr txBox="1"/>
          <p:nvPr/>
        </p:nvSpPr>
        <p:spPr>
          <a:xfrm>
            <a:off x="6057900" y="3566160"/>
            <a:ext cx="525780" cy="384048"/>
          </a:xfrm>
          <a:prstGeom prst="rect">
            <a:avLst/>
          </a:prstGeom>
          <a:noFill/>
          <a:ln/>
        </p:spPr>
        <p:txBody>
          <a:bodyPr wrap="square" lIns="0" tIns="0" rIns="0" bIns="0" rtlCol="0" anchor="ctr"/>
          <a:lstStyle/>
          <a:p>
            <a:pPr algn="ctr" indent="0" marL="0">
              <a:buNone/>
            </a:pPr>
            <a:r>
              <a:rPr lang="en-US" sz="900" b="1" dirty="0">
                <a:solidFill>
                  <a:schemeClr val="bg1"/>
                </a:solidFill>
              </a:rPr>
              <a:t>Test · 316 k</a:t>
            </a:r>
            <a:endParaRPr lang="en-US" sz="900" dirty="0"/>
          </a:p>
        </p:txBody>
      </p:sp>
      <p:sp>
        <p:nvSpPr>
          <p:cNvPr id="30" name="Shape 27"/>
          <p:cNvSpPr/>
          <p:nvPr/>
        </p:nvSpPr>
        <p:spPr>
          <a:xfrm>
            <a:off x="6629400" y="3566160"/>
            <a:ext cx="2057400" cy="384048"/>
          </a:xfrm>
          <a:prstGeom prst="rect">
            <a:avLst/>
          </a:prstGeom>
          <a:solidFill>
            <a:srgbClr val="9AA6B2"/>
          </a:solidFill>
          <a:ln w="12700">
            <a:solidFill>
              <a:srgbClr val="FFFFFF"/>
            </a:solidFill>
            <a:prstDash val="solid"/>
          </a:ln>
        </p:spPr>
      </p:sp>
      <p:sp>
        <p:nvSpPr>
          <p:cNvPr id="31" name="Text 28"/>
          <p:cNvSpPr txBox="1"/>
          <p:nvPr/>
        </p:nvSpPr>
        <p:spPr>
          <a:xfrm>
            <a:off x="6675120" y="3566160"/>
            <a:ext cx="1965960" cy="384048"/>
          </a:xfrm>
          <a:prstGeom prst="rect">
            <a:avLst/>
          </a:prstGeom>
          <a:noFill/>
          <a:ln/>
        </p:spPr>
        <p:txBody>
          <a:bodyPr wrap="square" lIns="0" tIns="0" rIns="0" bIns="0" rtlCol="0" anchor="ctr"/>
          <a:lstStyle/>
          <a:p>
            <a:pPr algn="ctr" indent="0" marL="0">
              <a:buNone/>
            </a:pPr>
            <a:r>
              <a:rPr lang="en-US" sz="1100" b="1" dirty="0">
                <a:solidFill>
                  <a:schemeClr val="bg1"/>
                </a:solidFill>
              </a:rPr>
              <a:t>Replay 2025-10 →</a:t>
            </a:r>
            <a:endParaRPr lang="en-US" sz="1100" dirty="0"/>
          </a:p>
        </p:txBody>
      </p:sp>
      <p:sp>
        <p:nvSpPr>
          <p:cNvPr id="32" name="Text 29"/>
          <p:cNvSpPr txBox="1"/>
          <p:nvPr/>
        </p:nvSpPr>
        <p:spPr>
          <a:xfrm>
            <a:off x="457200" y="3986784"/>
            <a:ext cx="640080" cy="201168"/>
          </a:xfrm>
          <a:prstGeom prst="rect">
            <a:avLst/>
          </a:prstGeom>
          <a:noFill/>
          <a:ln/>
        </p:spPr>
        <p:txBody>
          <a:bodyPr wrap="square" lIns="0" tIns="0" rIns="0" bIns="0" rtlCol="0" anchor="t"/>
          <a:lstStyle/>
          <a:p>
            <a:pPr algn="l" indent="0" marL="0">
              <a:buNone/>
            </a:pPr>
            <a:r>
              <a:rPr lang="en-US" sz="900" dirty="0">
                <a:solidFill>
                  <a:schemeClr val="accent5"/>
                </a:solidFill>
              </a:rPr>
              <a:t>2023-04</a:t>
            </a:r>
            <a:endParaRPr lang="en-US" sz="900" dirty="0"/>
          </a:p>
        </p:txBody>
      </p:sp>
      <p:sp>
        <p:nvSpPr>
          <p:cNvPr id="33" name="Text 30"/>
          <p:cNvSpPr txBox="1"/>
          <p:nvPr/>
        </p:nvSpPr>
        <p:spPr>
          <a:xfrm>
            <a:off x="5394960" y="3986784"/>
            <a:ext cx="640080" cy="201168"/>
          </a:xfrm>
          <a:prstGeom prst="rect">
            <a:avLst/>
          </a:prstGeom>
          <a:noFill/>
          <a:ln/>
        </p:spPr>
        <p:txBody>
          <a:bodyPr wrap="square" lIns="0" tIns="0" rIns="0" bIns="0" rtlCol="0" anchor="t"/>
          <a:lstStyle/>
          <a:p>
            <a:pPr algn="l" indent="0" marL="0">
              <a:buNone/>
            </a:pPr>
            <a:r>
              <a:rPr lang="en-US" sz="900" dirty="0">
                <a:solidFill>
                  <a:schemeClr val="accent5"/>
                </a:solidFill>
              </a:rPr>
              <a:t>2025-04</a:t>
            </a:r>
            <a:endParaRPr lang="en-US" sz="900" dirty="0"/>
          </a:p>
        </p:txBody>
      </p:sp>
      <p:sp>
        <p:nvSpPr>
          <p:cNvPr id="34" name="Text 31"/>
          <p:cNvSpPr txBox="1"/>
          <p:nvPr/>
        </p:nvSpPr>
        <p:spPr>
          <a:xfrm>
            <a:off x="6629400" y="3986784"/>
            <a:ext cx="640080" cy="201168"/>
          </a:xfrm>
          <a:prstGeom prst="rect">
            <a:avLst/>
          </a:prstGeom>
          <a:noFill/>
          <a:ln/>
        </p:spPr>
        <p:txBody>
          <a:bodyPr wrap="square" lIns="0" tIns="0" rIns="0" bIns="0" rtlCol="0" anchor="t"/>
          <a:lstStyle/>
          <a:p>
            <a:pPr algn="l" indent="0" marL="0">
              <a:buNone/>
            </a:pPr>
            <a:r>
              <a:rPr lang="en-US" sz="900" dirty="0">
                <a:solidFill>
                  <a:schemeClr val="accent5"/>
                </a:solidFill>
              </a:rPr>
              <a:t>2025-10</a:t>
            </a:r>
            <a:endParaRPr lang="en-US" sz="900" dirty="0"/>
          </a:p>
        </p:txBody>
      </p:sp>
      <p:sp>
        <p:nvSpPr>
          <p:cNvPr id="35" name="Text 32"/>
          <p:cNvSpPr txBox="1"/>
          <p:nvPr/>
        </p:nvSpPr>
        <p:spPr>
          <a:xfrm>
            <a:off x="8046720" y="3986784"/>
            <a:ext cx="640080" cy="201168"/>
          </a:xfrm>
          <a:prstGeom prst="rect">
            <a:avLst/>
          </a:prstGeom>
          <a:noFill/>
          <a:ln/>
        </p:spPr>
        <p:txBody>
          <a:bodyPr wrap="square" lIns="0" tIns="0" rIns="0" bIns="0" rtlCol="0" anchor="t"/>
          <a:lstStyle/>
          <a:p>
            <a:pPr algn="r" indent="0" marL="0">
              <a:buNone/>
            </a:pPr>
            <a:r>
              <a:rPr lang="en-US" sz="900" dirty="0">
                <a:solidFill>
                  <a:schemeClr val="accent5"/>
                </a:solidFill>
              </a:rPr>
              <a:t>2026-07</a:t>
            </a:r>
            <a:endParaRPr lang="en-US" sz="900" dirty="0"/>
          </a:p>
        </p:txBody>
      </p:sp>
      <p:sp>
        <p:nvSpPr>
          <p:cNvPr id="36" name="Text 33"/>
          <p:cNvSpPr txBox="1"/>
          <p:nvPr/>
        </p:nvSpPr>
        <p:spPr>
          <a:xfrm>
            <a:off x="457200" y="4279392"/>
            <a:ext cx="8229600" cy="274320"/>
          </a:xfrm>
          <a:prstGeom prst="rect">
            <a:avLst/>
          </a:prstGeom>
          <a:noFill/>
          <a:ln/>
        </p:spPr>
        <p:txBody>
          <a:bodyPr wrap="square" lIns="0" tIns="0" rIns="0" bIns="0" rtlCol="0" anchor="t"/>
          <a:lstStyle/>
          <a:p>
            <a:pPr indent="0" marL="0">
              <a:buNone/>
            </a:pPr>
            <a:r>
              <a:rPr lang="en-US" sz="1200" i="1" dirty="0">
                <a:solidFill>
                  <a:schemeClr val="accent5"/>
                </a:solidFill>
              </a:rPr>
              <a:t>Split by time, never random: complaints about one event share wording and cluster in time.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3600" b="1" dirty="0">
                <a:solidFill>
                  <a:schemeClr val="bg1"/>
                </a:solidFill>
              </a:rPr>
              <a:t>The design</a:t>
            </a:r>
            <a:endParaRPr lang="en-US" sz="3600" dirty="0"/>
          </a:p>
        </p:txBody>
      </p:sp>
      <p:sp>
        <p:nvSpPr>
          <p:cNvPr id="3" name="Text 0"/>
          <p:cNvSpPr/>
          <p:nvPr>
            <p:ph idx="101" type="body" hasCustomPrompt="1"/>
          </p:nvPr>
        </p:nvSpPr>
        <p:spPr>
          <a:xfrm>
            <a:off x="548640" y="2743200"/>
            <a:ext cx="7315200" cy="731520"/>
          </a:xfrm>
          <a:prstGeom prst="rect">
            <a:avLst/>
          </a:prstGeom>
          <a:noFill/>
          <a:ln/>
        </p:spPr>
        <p:txBody>
          <a:bodyPr wrap="square" lIns="0" tIns="0" rIns="0" bIns="0" rtlCol="0" anchor="t"/>
          <a:lstStyle/>
          <a:p>
            <a:pPr indent="0" marL="0">
              <a:buNone/>
            </a:pPr>
            <a:r>
              <a:rPr lang="en-US" sz="1600" dirty="0">
                <a:solidFill>
                  <a:schemeClr val="bg2"/>
                </a:solidFill>
              </a:rPr>
              <a:t>Three diagrams that agree with each other and with docs/design.md, then model, monitoring, infrastructure and risks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System context: one box, every external party around it</a:t>
            </a:r>
            <a:endParaRPr lang="en-US" sz="2400" dirty="0"/>
          </a:p>
        </p:txBody>
      </p:sp>
      <p:sp>
        <p:nvSpPr>
          <p:cNvPr id="4" name="Shape 1"/>
          <p:cNvSpPr/>
          <p:nvPr/>
        </p:nvSpPr>
        <p:spPr>
          <a:xfrm>
            <a:off x="457200" y="1005840"/>
            <a:ext cx="2103120" cy="777240"/>
          </a:xfrm>
          <a:prstGeom prst="roundRect">
            <a:avLst>
              <a:gd name="adj" fmla="val 7059"/>
            </a:avLst>
          </a:prstGeom>
          <a:solidFill>
            <a:schemeClr val="bg2"/>
          </a:solidFill>
          <a:ln w="12700">
            <a:solidFill>
              <a:srgbClr val="D3DAE2"/>
            </a:solidFill>
            <a:prstDash val="solid"/>
          </a:ln>
        </p:spPr>
      </p:sp>
      <p:sp>
        <p:nvSpPr>
          <p:cNvPr id="5" name="Text 2"/>
          <p:cNvSpPr txBox="1"/>
          <p:nvPr/>
        </p:nvSpPr>
        <p:spPr>
          <a:xfrm>
            <a:off x="566928" y="1097280"/>
            <a:ext cx="1920240" cy="256032"/>
          </a:xfrm>
          <a:prstGeom prst="rect">
            <a:avLst/>
          </a:prstGeom>
          <a:noFill/>
          <a:ln/>
        </p:spPr>
        <p:txBody>
          <a:bodyPr wrap="square" lIns="0" tIns="0" rIns="0" bIns="0" rtlCol="0" anchor="t"/>
          <a:lstStyle/>
          <a:p>
            <a:pPr indent="0" marL="0">
              <a:buNone/>
            </a:pPr>
            <a:r>
              <a:rPr lang="en-US" sz="1300" b="1" dirty="0">
                <a:solidFill>
                  <a:schemeClr val="tx1"/>
                </a:solidFill>
              </a:rPr>
              <a:t>CFPB database</a:t>
            </a:r>
            <a:endParaRPr lang="en-US" sz="1300" dirty="0"/>
          </a:p>
        </p:txBody>
      </p:sp>
      <p:sp>
        <p:nvSpPr>
          <p:cNvPr id="6" name="Text 3"/>
          <p:cNvSpPr txBox="1"/>
          <p:nvPr/>
        </p:nvSpPr>
        <p:spPr>
          <a:xfrm>
            <a:off x="566928" y="138988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daily export + 2026-07 text snapshot</a:t>
            </a:r>
            <a:endParaRPr lang="en-US" sz="1000" dirty="0"/>
          </a:p>
        </p:txBody>
      </p:sp>
      <p:sp>
        <p:nvSpPr>
          <p:cNvPr id="7" name="Shape 4"/>
          <p:cNvSpPr/>
          <p:nvPr/>
        </p:nvSpPr>
        <p:spPr>
          <a:xfrm>
            <a:off x="457200" y="2194560"/>
            <a:ext cx="2103120" cy="777240"/>
          </a:xfrm>
          <a:prstGeom prst="roundRect">
            <a:avLst>
              <a:gd name="adj" fmla="val 7059"/>
            </a:avLst>
          </a:prstGeom>
          <a:solidFill>
            <a:schemeClr val="bg2"/>
          </a:solidFill>
          <a:ln w="12700">
            <a:solidFill>
              <a:srgbClr val="D3DAE2"/>
            </a:solidFill>
            <a:prstDash val="solid"/>
          </a:ln>
        </p:spPr>
      </p:sp>
      <p:sp>
        <p:nvSpPr>
          <p:cNvPr id="8" name="Text 5"/>
          <p:cNvSpPr txBox="1"/>
          <p:nvPr/>
        </p:nvSpPr>
        <p:spPr>
          <a:xfrm>
            <a:off x="566928" y="2286000"/>
            <a:ext cx="1920240" cy="256032"/>
          </a:xfrm>
          <a:prstGeom prst="rect">
            <a:avLst/>
          </a:prstGeom>
          <a:noFill/>
          <a:ln/>
        </p:spPr>
        <p:txBody>
          <a:bodyPr wrap="square" lIns="0" tIns="0" rIns="0" bIns="0" rtlCol="0" anchor="t"/>
          <a:lstStyle/>
          <a:p>
            <a:pPr indent="0" marL="0">
              <a:buNone/>
            </a:pPr>
            <a:r>
              <a:rPr lang="en-US" sz="1300" b="1" dirty="0">
                <a:solidFill>
                  <a:schemeClr val="tx1"/>
                </a:solidFill>
              </a:rPr>
              <a:t>Routing outcomes</a:t>
            </a:r>
            <a:endParaRPr lang="en-US" sz="1300" dirty="0"/>
          </a:p>
        </p:txBody>
      </p:sp>
      <p:sp>
        <p:nvSpPr>
          <p:cNvPr id="9" name="Text 6"/>
          <p:cNvSpPr txBox="1"/>
          <p:nvPr/>
        </p:nvSpPr>
        <p:spPr>
          <a:xfrm>
            <a:off x="566928" y="257860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product +15 days, agent overrides</a:t>
            </a:r>
            <a:endParaRPr lang="en-US" sz="1000" dirty="0"/>
          </a:p>
        </p:txBody>
      </p:sp>
      <p:sp>
        <p:nvSpPr>
          <p:cNvPr id="10" name="Shape 7"/>
          <p:cNvSpPr/>
          <p:nvPr/>
        </p:nvSpPr>
        <p:spPr>
          <a:xfrm>
            <a:off x="457200" y="3383280"/>
            <a:ext cx="2103120" cy="777240"/>
          </a:xfrm>
          <a:prstGeom prst="roundRect">
            <a:avLst>
              <a:gd name="adj" fmla="val 7059"/>
            </a:avLst>
          </a:prstGeom>
          <a:solidFill>
            <a:schemeClr val="bg2"/>
          </a:solidFill>
          <a:ln w="12700">
            <a:solidFill>
              <a:srgbClr val="D3DAE2"/>
            </a:solidFill>
            <a:prstDash val="solid"/>
          </a:ln>
        </p:spPr>
      </p:sp>
      <p:sp>
        <p:nvSpPr>
          <p:cNvPr id="11" name="Text 8"/>
          <p:cNvSpPr txBox="1"/>
          <p:nvPr/>
        </p:nvSpPr>
        <p:spPr>
          <a:xfrm>
            <a:off x="566928" y="3474720"/>
            <a:ext cx="1920240" cy="256032"/>
          </a:xfrm>
          <a:prstGeom prst="rect">
            <a:avLst/>
          </a:prstGeom>
          <a:noFill/>
          <a:ln/>
        </p:spPr>
        <p:txBody>
          <a:bodyPr wrap="square" lIns="0" tIns="0" rIns="0" bIns="0" rtlCol="0" anchor="t"/>
          <a:lstStyle/>
          <a:p>
            <a:pPr indent="0" marL="0">
              <a:buNone/>
            </a:pPr>
            <a:r>
              <a:rPr lang="en-US" sz="1300" b="1" dirty="0">
                <a:solidFill>
                  <a:schemeClr val="tx1"/>
                </a:solidFill>
              </a:rPr>
              <a:t>Ask CFPB + eCFR</a:t>
            </a:r>
            <a:endParaRPr lang="en-US" sz="1300" dirty="0"/>
          </a:p>
        </p:txBody>
      </p:sp>
      <p:sp>
        <p:nvSpPr>
          <p:cNvPr id="12" name="Text 9"/>
          <p:cNvSpPr txBox="1"/>
          <p:nvPr/>
        </p:nvSpPr>
        <p:spPr>
          <a:xfrm>
            <a:off x="566928" y="376732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Lab 3 retrieval corpus</a:t>
            </a:r>
            <a:endParaRPr lang="en-US" sz="1000" dirty="0"/>
          </a:p>
        </p:txBody>
      </p:sp>
      <p:sp>
        <p:nvSpPr>
          <p:cNvPr id="13" name="Shape 10"/>
          <p:cNvSpPr/>
          <p:nvPr/>
        </p:nvSpPr>
        <p:spPr>
          <a:xfrm>
            <a:off x="3429000" y="1371600"/>
            <a:ext cx="2286000" cy="2194560"/>
          </a:xfrm>
          <a:prstGeom prst="roundRect">
            <a:avLst>
              <a:gd name="adj" fmla="val 2500"/>
            </a:avLst>
          </a:prstGeom>
          <a:solidFill>
            <a:schemeClr val="accent2"/>
          </a:solidFill>
          <a:ln w="12700">
            <a:solidFill>
              <a:srgbClr val="2F6F8F"/>
            </a:solidFill>
            <a:prstDash val="solid"/>
          </a:ln>
        </p:spPr>
      </p:sp>
      <p:sp>
        <p:nvSpPr>
          <p:cNvPr id="14" name="Text 11"/>
          <p:cNvSpPr txBox="1"/>
          <p:nvPr/>
        </p:nvSpPr>
        <p:spPr>
          <a:xfrm>
            <a:off x="3520440" y="2103120"/>
            <a:ext cx="2103120" cy="320040"/>
          </a:xfrm>
          <a:prstGeom prst="rect">
            <a:avLst/>
          </a:prstGeom>
          <a:noFill/>
          <a:ln/>
        </p:spPr>
        <p:txBody>
          <a:bodyPr wrap="square" lIns="0" tIns="0" rIns="0" bIns="0" rtlCol="0" anchor="t"/>
          <a:lstStyle/>
          <a:p>
            <a:pPr algn="ctr" indent="0" marL="0">
              <a:buNone/>
            </a:pPr>
            <a:r>
              <a:rPr lang="en-US" sz="1600" b="1" dirty="0">
                <a:solidFill>
                  <a:schemeClr val="bg1"/>
                </a:solidFill>
              </a:rPr>
              <a:t>complaint-router</a:t>
            </a:r>
            <a:endParaRPr lang="en-US" sz="1600" dirty="0"/>
          </a:p>
        </p:txBody>
      </p:sp>
      <p:sp>
        <p:nvSpPr>
          <p:cNvPr id="15" name="Text 12"/>
          <p:cNvSpPr txBox="1"/>
          <p:nvPr/>
        </p:nvSpPr>
        <p:spPr>
          <a:xfrm>
            <a:off x="3520440" y="2468880"/>
            <a:ext cx="2103120" cy="274320"/>
          </a:xfrm>
          <a:prstGeom prst="rect">
            <a:avLst/>
          </a:prstGeom>
          <a:noFill/>
          <a:ln/>
        </p:spPr>
        <p:txBody>
          <a:bodyPr wrap="square" lIns="0" tIns="0" rIns="0" bIns="0" rtlCol="0" anchor="t"/>
          <a:lstStyle/>
          <a:p>
            <a:pPr algn="ctr" indent="0" marL="0">
              <a:buNone/>
            </a:pPr>
            <a:r>
              <a:rPr lang="en-US" sz="1100" dirty="0">
                <a:solidFill>
                  <a:schemeClr val="bg1"/>
                </a:solidFill>
              </a:rPr>
              <a:t>ingests · trains · serves · monitors</a:t>
            </a:r>
            <a:endParaRPr lang="en-US" sz="1100" dirty="0"/>
          </a:p>
        </p:txBody>
      </p:sp>
      <p:sp>
        <p:nvSpPr>
          <p:cNvPr id="16" name="Shape 13"/>
          <p:cNvSpPr/>
          <p:nvPr/>
        </p:nvSpPr>
        <p:spPr>
          <a:xfrm>
            <a:off x="2560320" y="1389888"/>
            <a:ext cx="868680" cy="347472"/>
          </a:xfrm>
          <a:prstGeom prst="line">
            <a:avLst/>
          </a:prstGeom>
          <a:noFill/>
          <a:ln w="15875">
            <a:solidFill>
              <a:srgbClr val="6B7785"/>
            </a:solidFill>
            <a:prstDash val="solid"/>
            <a:tailEnd type="triangle"/>
          </a:ln>
        </p:spPr>
      </p:sp>
      <p:sp>
        <p:nvSpPr>
          <p:cNvPr id="17" name="Text 14"/>
          <p:cNvSpPr txBox="1"/>
          <p:nvPr/>
        </p:nvSpPr>
        <p:spPr>
          <a:xfrm>
            <a:off x="2633472" y="1170432"/>
            <a:ext cx="1097280" cy="201168"/>
          </a:xfrm>
          <a:prstGeom prst="rect">
            <a:avLst/>
          </a:prstGeom>
          <a:noFill/>
          <a:ln/>
        </p:spPr>
        <p:txBody>
          <a:bodyPr wrap="square" lIns="0" tIns="0" rIns="0" bIns="0" rtlCol="0" anchor="t"/>
          <a:lstStyle/>
          <a:p>
            <a:pPr indent="0" marL="0">
              <a:buNone/>
            </a:pPr>
            <a:r>
              <a:rPr lang="en-US" sz="900" dirty="0">
                <a:solidFill>
                  <a:schemeClr val="accent5"/>
                </a:solidFill>
              </a:rPr>
              <a:t>complaints + labels</a:t>
            </a:r>
            <a:endParaRPr lang="en-US" sz="900" dirty="0"/>
          </a:p>
        </p:txBody>
      </p:sp>
      <p:sp>
        <p:nvSpPr>
          <p:cNvPr id="18" name="Shape 15"/>
          <p:cNvSpPr/>
          <p:nvPr/>
        </p:nvSpPr>
        <p:spPr>
          <a:xfrm flipV="1">
            <a:off x="2560320" y="2514600"/>
            <a:ext cx="868680" cy="64008"/>
          </a:xfrm>
          <a:prstGeom prst="line">
            <a:avLst/>
          </a:prstGeom>
          <a:noFill/>
          <a:ln w="15875">
            <a:solidFill>
              <a:srgbClr val="6B7785"/>
            </a:solidFill>
            <a:prstDash val="solid"/>
            <a:tailEnd type="triangle"/>
          </a:ln>
        </p:spPr>
      </p:sp>
      <p:sp>
        <p:nvSpPr>
          <p:cNvPr id="19" name="Text 16"/>
          <p:cNvSpPr txBox="1"/>
          <p:nvPr/>
        </p:nvSpPr>
        <p:spPr>
          <a:xfrm>
            <a:off x="2697480" y="2331720"/>
            <a:ext cx="731520" cy="201168"/>
          </a:xfrm>
          <a:prstGeom prst="rect">
            <a:avLst/>
          </a:prstGeom>
          <a:noFill/>
          <a:ln/>
        </p:spPr>
        <p:txBody>
          <a:bodyPr wrap="square" lIns="0" tIns="0" rIns="0" bIns="0" rtlCol="0" anchor="t"/>
          <a:lstStyle/>
          <a:p>
            <a:pPr indent="0" marL="0">
              <a:buNone/>
            </a:pPr>
            <a:r>
              <a:rPr lang="en-US" sz="900" dirty="0">
                <a:solidFill>
                  <a:schemeClr val="accent5"/>
                </a:solidFill>
              </a:rPr>
              <a:t>labels</a:t>
            </a:r>
            <a:endParaRPr lang="en-US" sz="900" dirty="0"/>
          </a:p>
        </p:txBody>
      </p:sp>
      <p:sp>
        <p:nvSpPr>
          <p:cNvPr id="20" name="Shape 17"/>
          <p:cNvSpPr/>
          <p:nvPr/>
        </p:nvSpPr>
        <p:spPr>
          <a:xfrm flipV="1">
            <a:off x="2560320" y="3291840"/>
            <a:ext cx="868680" cy="475488"/>
          </a:xfrm>
          <a:prstGeom prst="line">
            <a:avLst/>
          </a:prstGeom>
          <a:noFill/>
          <a:ln w="15875">
            <a:solidFill>
              <a:srgbClr val="6B7785"/>
            </a:solidFill>
            <a:prstDash val="solid"/>
            <a:tailEnd type="triangle"/>
          </a:ln>
        </p:spPr>
      </p:sp>
      <p:sp>
        <p:nvSpPr>
          <p:cNvPr id="21" name="Text 18"/>
          <p:cNvSpPr txBox="1"/>
          <p:nvPr/>
        </p:nvSpPr>
        <p:spPr>
          <a:xfrm>
            <a:off x="2697480" y="3657600"/>
            <a:ext cx="822960" cy="201168"/>
          </a:xfrm>
          <a:prstGeom prst="rect">
            <a:avLst/>
          </a:prstGeom>
          <a:noFill/>
          <a:ln/>
        </p:spPr>
        <p:txBody>
          <a:bodyPr wrap="square" lIns="0" tIns="0" rIns="0" bIns="0" rtlCol="0" anchor="t"/>
          <a:lstStyle/>
          <a:p>
            <a:pPr indent="0" marL="0">
              <a:buNone/>
            </a:pPr>
            <a:r>
              <a:rPr lang="en-US" sz="900" dirty="0">
                <a:solidFill>
                  <a:schemeClr val="accent5"/>
                </a:solidFill>
              </a:rPr>
              <a:t>documents</a:t>
            </a:r>
            <a:endParaRPr lang="en-US" sz="900" dirty="0"/>
          </a:p>
        </p:txBody>
      </p:sp>
      <p:sp>
        <p:nvSpPr>
          <p:cNvPr id="22" name="Shape 19"/>
          <p:cNvSpPr/>
          <p:nvPr/>
        </p:nvSpPr>
        <p:spPr>
          <a:xfrm>
            <a:off x="6583680" y="1005840"/>
            <a:ext cx="2103120" cy="777240"/>
          </a:xfrm>
          <a:prstGeom prst="roundRect">
            <a:avLst>
              <a:gd name="adj" fmla="val 7059"/>
            </a:avLst>
          </a:prstGeom>
          <a:solidFill>
            <a:schemeClr val="bg2"/>
          </a:solidFill>
          <a:ln w="12700">
            <a:solidFill>
              <a:srgbClr val="D3DAE2"/>
            </a:solidFill>
            <a:prstDash val="solid"/>
          </a:ln>
        </p:spPr>
      </p:sp>
      <p:sp>
        <p:nvSpPr>
          <p:cNvPr id="23" name="Text 20"/>
          <p:cNvSpPr txBox="1"/>
          <p:nvPr/>
        </p:nvSpPr>
        <p:spPr>
          <a:xfrm>
            <a:off x="6693408" y="1097280"/>
            <a:ext cx="1920240" cy="256032"/>
          </a:xfrm>
          <a:prstGeom prst="rect">
            <a:avLst/>
          </a:prstGeom>
          <a:noFill/>
          <a:ln/>
        </p:spPr>
        <p:txBody>
          <a:bodyPr wrap="square" lIns="0" tIns="0" rIns="0" bIns="0" rtlCol="0" anchor="t"/>
          <a:lstStyle/>
          <a:p>
            <a:pPr indent="0" marL="0">
              <a:buNone/>
            </a:pPr>
            <a:r>
              <a:rPr lang="en-US" sz="1300" b="1" dirty="0">
                <a:solidFill>
                  <a:schemeClr val="tx1"/>
                </a:solidFill>
              </a:rPr>
              <a:t>Intake channel</a:t>
            </a:r>
            <a:endParaRPr lang="en-US" sz="1300" dirty="0"/>
          </a:p>
        </p:txBody>
      </p:sp>
      <p:sp>
        <p:nvSpPr>
          <p:cNvPr id="24" name="Text 21"/>
          <p:cNvSpPr txBox="1"/>
          <p:nvPr/>
        </p:nvSpPr>
        <p:spPr>
          <a:xfrm>
            <a:off x="6693408" y="138988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simulated replay</a:t>
            </a:r>
            <a:endParaRPr lang="en-US" sz="1000" dirty="0"/>
          </a:p>
        </p:txBody>
      </p:sp>
      <p:sp>
        <p:nvSpPr>
          <p:cNvPr id="25" name="Shape 22"/>
          <p:cNvSpPr/>
          <p:nvPr/>
        </p:nvSpPr>
        <p:spPr>
          <a:xfrm>
            <a:off x="6583680" y="2194560"/>
            <a:ext cx="2103120" cy="777240"/>
          </a:xfrm>
          <a:prstGeom prst="roundRect">
            <a:avLst>
              <a:gd name="adj" fmla="val 7059"/>
            </a:avLst>
          </a:prstGeom>
          <a:solidFill>
            <a:schemeClr val="bg2"/>
          </a:solidFill>
          <a:ln w="12700">
            <a:solidFill>
              <a:srgbClr val="D3DAE2"/>
            </a:solidFill>
            <a:prstDash val="solid"/>
          </a:ln>
        </p:spPr>
      </p:sp>
      <p:sp>
        <p:nvSpPr>
          <p:cNvPr id="26" name="Text 23"/>
          <p:cNvSpPr txBox="1"/>
          <p:nvPr/>
        </p:nvSpPr>
        <p:spPr>
          <a:xfrm>
            <a:off x="6693408" y="2286000"/>
            <a:ext cx="1920240" cy="256032"/>
          </a:xfrm>
          <a:prstGeom prst="rect">
            <a:avLst/>
          </a:prstGeom>
          <a:noFill/>
          <a:ln/>
        </p:spPr>
        <p:txBody>
          <a:bodyPr wrap="square" lIns="0" tIns="0" rIns="0" bIns="0" rtlCol="0" anchor="t"/>
          <a:lstStyle/>
          <a:p>
            <a:pPr indent="0" marL="0">
              <a:buNone/>
            </a:pPr>
            <a:r>
              <a:rPr lang="en-US" sz="1300" b="1" dirty="0">
                <a:solidFill>
                  <a:schemeClr val="tx1"/>
                </a:solidFill>
              </a:rPr>
              <a:t>Triage desk</a:t>
            </a:r>
            <a:endParaRPr lang="en-US" sz="1300" dirty="0"/>
          </a:p>
        </p:txBody>
      </p:sp>
      <p:sp>
        <p:nvSpPr>
          <p:cNvPr id="27" name="Text 24"/>
          <p:cNvSpPr txBox="1"/>
          <p:nvPr/>
        </p:nvSpPr>
        <p:spPr>
          <a:xfrm>
            <a:off x="6693408" y="257860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ticket queue · consumer</a:t>
            </a:r>
            <a:endParaRPr lang="en-US" sz="1000" dirty="0"/>
          </a:p>
        </p:txBody>
      </p:sp>
      <p:sp>
        <p:nvSpPr>
          <p:cNvPr id="28" name="Shape 25"/>
          <p:cNvSpPr/>
          <p:nvPr/>
        </p:nvSpPr>
        <p:spPr>
          <a:xfrm>
            <a:off x="6583680" y="3383280"/>
            <a:ext cx="2103120" cy="777240"/>
          </a:xfrm>
          <a:prstGeom prst="roundRect">
            <a:avLst>
              <a:gd name="adj" fmla="val 7059"/>
            </a:avLst>
          </a:prstGeom>
          <a:solidFill>
            <a:schemeClr val="bg2"/>
          </a:solidFill>
          <a:ln w="12700">
            <a:solidFill>
              <a:srgbClr val="D3DAE2"/>
            </a:solidFill>
            <a:prstDash val="solid"/>
          </a:ln>
        </p:spPr>
      </p:sp>
      <p:sp>
        <p:nvSpPr>
          <p:cNvPr id="29" name="Text 26"/>
          <p:cNvSpPr txBox="1"/>
          <p:nvPr/>
        </p:nvSpPr>
        <p:spPr>
          <a:xfrm>
            <a:off x="6693408" y="3474720"/>
            <a:ext cx="1920240" cy="256032"/>
          </a:xfrm>
          <a:prstGeom prst="rect">
            <a:avLst/>
          </a:prstGeom>
          <a:noFill/>
          <a:ln/>
        </p:spPr>
        <p:txBody>
          <a:bodyPr wrap="square" lIns="0" tIns="0" rIns="0" bIns="0" rtlCol="0" anchor="t"/>
          <a:lstStyle/>
          <a:p>
            <a:pPr indent="0" marL="0">
              <a:buNone/>
            </a:pPr>
            <a:r>
              <a:rPr lang="en-US" sz="1300" b="1" dirty="0">
                <a:solidFill>
                  <a:schemeClr val="tx1"/>
                </a:solidFill>
              </a:rPr>
              <a:t>ML on-call</a:t>
            </a:r>
            <a:endParaRPr lang="en-US" sz="1300" dirty="0"/>
          </a:p>
        </p:txBody>
      </p:sp>
      <p:sp>
        <p:nvSpPr>
          <p:cNvPr id="30" name="Text 27"/>
          <p:cNvSpPr txBox="1"/>
          <p:nvPr/>
        </p:nvSpPr>
        <p:spPr>
          <a:xfrm>
            <a:off x="6693408" y="376732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project owner · e-mail</a:t>
            </a:r>
            <a:endParaRPr lang="en-US" sz="1000" dirty="0"/>
          </a:p>
        </p:txBody>
      </p:sp>
      <p:sp>
        <p:nvSpPr>
          <p:cNvPr id="31" name="Shape 28"/>
          <p:cNvSpPr/>
          <p:nvPr/>
        </p:nvSpPr>
        <p:spPr>
          <a:xfrm>
            <a:off x="7635240" y="1783080"/>
            <a:ext cx="0" cy="411480"/>
          </a:xfrm>
          <a:prstGeom prst="line">
            <a:avLst/>
          </a:prstGeom>
          <a:noFill/>
          <a:ln w="15875">
            <a:solidFill>
              <a:srgbClr val="6B7785"/>
            </a:solidFill>
            <a:prstDash val="solid"/>
            <a:tailEnd type="triangle"/>
          </a:ln>
        </p:spPr>
      </p:sp>
      <p:sp>
        <p:nvSpPr>
          <p:cNvPr id="32" name="Text 29"/>
          <p:cNvSpPr txBox="1"/>
          <p:nvPr/>
        </p:nvSpPr>
        <p:spPr>
          <a:xfrm>
            <a:off x="7726680" y="1874520"/>
            <a:ext cx="1005840" cy="201168"/>
          </a:xfrm>
          <a:prstGeom prst="rect">
            <a:avLst/>
          </a:prstGeom>
          <a:noFill/>
          <a:ln/>
        </p:spPr>
        <p:txBody>
          <a:bodyPr wrap="square" lIns="0" tIns="0" rIns="0" bIns="0" rtlCol="0" anchor="t"/>
          <a:lstStyle/>
          <a:p>
            <a:pPr indent="0" marL="0">
              <a:buNone/>
            </a:pPr>
            <a:r>
              <a:rPr lang="en-US" sz="900" dirty="0">
                <a:solidFill>
                  <a:schemeClr val="accent5"/>
                </a:solidFill>
              </a:rPr>
              <a:t>new complaint</a:t>
            </a:r>
            <a:endParaRPr lang="en-US" sz="900" dirty="0"/>
          </a:p>
        </p:txBody>
      </p:sp>
      <p:sp>
        <p:nvSpPr>
          <p:cNvPr id="33" name="Shape 30"/>
          <p:cNvSpPr/>
          <p:nvPr/>
        </p:nvSpPr>
        <p:spPr>
          <a:xfrm flipH="1" flipV="1">
            <a:off x="5715000" y="2240280"/>
            <a:ext cx="868680" cy="155448"/>
          </a:xfrm>
          <a:prstGeom prst="line">
            <a:avLst/>
          </a:prstGeom>
          <a:noFill/>
          <a:ln w="15875">
            <a:solidFill>
              <a:srgbClr val="6B7785"/>
            </a:solidFill>
            <a:prstDash val="solid"/>
            <a:tailEnd type="triangle"/>
          </a:ln>
        </p:spPr>
      </p:sp>
      <p:sp>
        <p:nvSpPr>
          <p:cNvPr id="34" name="Text 31"/>
          <p:cNvSpPr txBox="1"/>
          <p:nvPr/>
        </p:nvSpPr>
        <p:spPr>
          <a:xfrm>
            <a:off x="5806440" y="1965960"/>
            <a:ext cx="914400" cy="201168"/>
          </a:xfrm>
          <a:prstGeom prst="rect">
            <a:avLst/>
          </a:prstGeom>
          <a:noFill/>
          <a:ln/>
        </p:spPr>
        <p:txBody>
          <a:bodyPr wrap="square" lIns="0" tIns="0" rIns="0" bIns="0" rtlCol="0" anchor="t"/>
          <a:lstStyle/>
          <a:p>
            <a:pPr indent="0" marL="0">
              <a:buNone/>
            </a:pPr>
            <a:r>
              <a:rPr lang="en-US" sz="900" dirty="0">
                <a:solidFill>
                  <a:schemeClr val="accent5"/>
                </a:solidFill>
              </a:rPr>
              <a:t>POST /predict</a:t>
            </a:r>
            <a:endParaRPr lang="en-US" sz="900" dirty="0"/>
          </a:p>
        </p:txBody>
      </p:sp>
      <p:sp>
        <p:nvSpPr>
          <p:cNvPr id="35" name="Shape 32"/>
          <p:cNvSpPr/>
          <p:nvPr/>
        </p:nvSpPr>
        <p:spPr>
          <a:xfrm>
            <a:off x="5715000" y="2697480"/>
            <a:ext cx="868680" cy="0"/>
          </a:xfrm>
          <a:prstGeom prst="line">
            <a:avLst/>
          </a:prstGeom>
          <a:noFill/>
          <a:ln w="15875">
            <a:solidFill>
              <a:srgbClr val="6B7785"/>
            </a:solidFill>
            <a:prstDash val="solid"/>
            <a:tailEnd type="triangle"/>
          </a:ln>
        </p:spPr>
      </p:sp>
      <p:sp>
        <p:nvSpPr>
          <p:cNvPr id="36" name="Text 33"/>
          <p:cNvSpPr txBox="1"/>
          <p:nvPr/>
        </p:nvSpPr>
        <p:spPr>
          <a:xfrm>
            <a:off x="5760720" y="2743200"/>
            <a:ext cx="822960" cy="365760"/>
          </a:xfrm>
          <a:prstGeom prst="rect">
            <a:avLst/>
          </a:prstGeom>
          <a:noFill/>
          <a:ln/>
        </p:spPr>
        <p:txBody>
          <a:bodyPr wrap="square" lIns="0" tIns="0" rIns="0" bIns="0" rtlCol="0" anchor="t"/>
          <a:lstStyle/>
          <a:p>
            <a:pPr indent="0" marL="0">
              <a:buNone/>
            </a:pPr>
            <a:r>
              <a:rPr lang="en-US" sz="900" dirty="0">
                <a:solidFill>
                  <a:schemeClr val="accent5"/>
                </a:solidFill>
              </a:rPr>
              <a:t>product · confidence</a:t>
            </a:r>
            <a:endParaRPr lang="en-US" sz="900" dirty="0"/>
          </a:p>
          <a:p>
            <a:pPr indent="0" marL="0">
              <a:buNone/>
            </a:pPr>
            <a:r>
              <a:rPr lang="en-US" sz="900" dirty="0">
                <a:solidFill>
                  <a:schemeClr val="accent5"/>
                </a:solidFill>
              </a:rPr>
              <a:t>· route</a:t>
            </a:r>
            <a:endParaRPr lang="en-US" sz="900" dirty="0"/>
          </a:p>
        </p:txBody>
      </p:sp>
      <p:sp>
        <p:nvSpPr>
          <p:cNvPr id="37" name="Shape 34"/>
          <p:cNvSpPr/>
          <p:nvPr/>
        </p:nvSpPr>
        <p:spPr>
          <a:xfrm>
            <a:off x="5715000" y="3291840"/>
            <a:ext cx="868680" cy="502920"/>
          </a:xfrm>
          <a:prstGeom prst="line">
            <a:avLst/>
          </a:prstGeom>
          <a:noFill/>
          <a:ln w="15875">
            <a:solidFill>
              <a:srgbClr val="6B7785"/>
            </a:solidFill>
            <a:prstDash val="solid"/>
            <a:tailEnd type="triangle"/>
          </a:ln>
        </p:spPr>
      </p:sp>
      <p:sp>
        <p:nvSpPr>
          <p:cNvPr id="38" name="Text 35"/>
          <p:cNvSpPr txBox="1"/>
          <p:nvPr/>
        </p:nvSpPr>
        <p:spPr>
          <a:xfrm>
            <a:off x="5989320" y="3611880"/>
            <a:ext cx="548640" cy="201168"/>
          </a:xfrm>
          <a:prstGeom prst="rect">
            <a:avLst/>
          </a:prstGeom>
          <a:noFill/>
          <a:ln/>
        </p:spPr>
        <p:txBody>
          <a:bodyPr wrap="square" lIns="0" tIns="0" rIns="0" bIns="0" rtlCol="0" anchor="t"/>
          <a:lstStyle/>
          <a:p>
            <a:pPr indent="0" marL="0">
              <a:buNone/>
            </a:pPr>
            <a:r>
              <a:rPr lang="en-US" sz="900" dirty="0">
                <a:solidFill>
                  <a:schemeClr val="accent5"/>
                </a:solidFill>
              </a:rPr>
              <a:t>alerts</a:t>
            </a:r>
            <a:endParaRPr lang="en-US" sz="900" dirty="0"/>
          </a:p>
        </p:txBody>
      </p:sp>
      <p:sp>
        <p:nvSpPr>
          <p:cNvPr id="39" name="Text 36"/>
          <p:cNvSpPr txBox="1"/>
          <p:nvPr/>
        </p:nvSpPr>
        <p:spPr>
          <a:xfrm>
            <a:off x="457200" y="4343400"/>
            <a:ext cx="8229600" cy="274320"/>
          </a:xfrm>
          <a:prstGeom prst="rect">
            <a:avLst/>
          </a:prstGeom>
          <a:noFill/>
          <a:ln/>
        </p:spPr>
        <p:txBody>
          <a:bodyPr wrap="square" lIns="0" tIns="0" rIns="0" bIns="0" rtlCol="0" anchor="t"/>
          <a:lstStyle/>
          <a:p>
            <a:pPr algn="ctr" indent="0" marL="0">
              <a:buNone/>
            </a:pPr>
            <a:r>
              <a:rPr lang="en-US" sz="1200" i="1" dirty="0">
                <a:solidFill>
                  <a:schemeClr val="accent5"/>
                </a:solidFill>
              </a:rPr>
              <a:t>One box. Everything outside it belongs to someone else.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Data flow on the seven layers, with the three marks</a:t>
            </a:r>
            <a:endParaRPr lang="en-US" sz="2400" dirty="0"/>
          </a:p>
        </p:txBody>
      </p:sp>
      <p:sp>
        <p:nvSpPr>
          <p:cNvPr id="4" name="Shape 1"/>
          <p:cNvSpPr/>
          <p:nvPr/>
        </p:nvSpPr>
        <p:spPr>
          <a:xfrm>
            <a:off x="365760" y="1051560"/>
            <a:ext cx="1600200" cy="777240"/>
          </a:xfrm>
          <a:prstGeom prst="rect">
            <a:avLst/>
          </a:prstGeom>
          <a:solidFill>
            <a:schemeClr val="bg1"/>
          </a:solidFill>
          <a:ln w="12700">
            <a:solidFill>
              <a:srgbClr val="6B7785"/>
            </a:solidFill>
            <a:prstDash val="solid"/>
          </a:ln>
        </p:spPr>
      </p:sp>
      <p:sp>
        <p:nvSpPr>
          <p:cNvPr id="5" name="Text 2"/>
          <p:cNvSpPr txBox="1"/>
          <p:nvPr/>
        </p:nvSpPr>
        <p:spPr>
          <a:xfrm>
            <a:off x="438912" y="1097280"/>
            <a:ext cx="1453896" cy="228600"/>
          </a:xfrm>
          <a:prstGeom prst="rect">
            <a:avLst/>
          </a:prstGeom>
          <a:noFill/>
          <a:ln/>
        </p:spPr>
        <p:txBody>
          <a:bodyPr wrap="square" lIns="0" tIns="0" rIns="0" bIns="0" rtlCol="0" anchor="t"/>
          <a:lstStyle/>
          <a:p>
            <a:pPr indent="0" marL="0">
              <a:buNone/>
            </a:pPr>
            <a:r>
              <a:rPr lang="en-US" sz="1100" b="1" dirty="0">
                <a:solidFill>
                  <a:schemeClr val="tx1"/>
                </a:solidFill>
              </a:rPr>
              <a:t>1 · Ingestion</a:t>
            </a:r>
            <a:endParaRPr lang="en-US" sz="1100" dirty="0"/>
          </a:p>
        </p:txBody>
      </p:sp>
      <p:sp>
        <p:nvSpPr>
          <p:cNvPr id="6" name="Text 3"/>
          <p:cNvSpPr txBox="1"/>
          <p:nvPr/>
        </p:nvSpPr>
        <p:spPr>
          <a:xfrm>
            <a:off x="438912" y="1325880"/>
            <a:ext cx="1453896" cy="475488"/>
          </a:xfrm>
          <a:prstGeom prst="rect">
            <a:avLst/>
          </a:prstGeom>
          <a:noFill/>
          <a:ln/>
        </p:spPr>
        <p:txBody>
          <a:bodyPr wrap="square" lIns="0" tIns="0" rIns="0" bIns="0" rtlCol="0" anchor="t"/>
          <a:lstStyle/>
          <a:p>
            <a:pPr indent="0" marL="0">
              <a:buNone/>
            </a:pPr>
            <a:r>
              <a:rPr lang="en-US" sz="950" dirty="0">
                <a:solidFill>
                  <a:schemeClr val="accent5"/>
                </a:solidFill>
              </a:rPr>
              <a:t>Airflow ingest_ccdb</a:t>
            </a:r>
            <a:endParaRPr lang="en-US" sz="950" dirty="0"/>
          </a:p>
          <a:p>
            <a:pPr indent="0" marL="0">
              <a:buNone/>
            </a:pPr>
            <a:r>
              <a:rPr lang="en-US" sz="950" dirty="0">
                <a:solidFill>
                  <a:schemeClr val="accent5"/>
                </a:solidFill>
              </a:rPr>
              <a:t>month slice → MinIO raw/</a:t>
            </a:r>
            <a:endParaRPr lang="en-US" sz="950" dirty="0"/>
          </a:p>
        </p:txBody>
      </p:sp>
      <p:sp>
        <p:nvSpPr>
          <p:cNvPr id="7" name="Shape 4"/>
          <p:cNvSpPr/>
          <p:nvPr/>
        </p:nvSpPr>
        <p:spPr>
          <a:xfrm>
            <a:off x="2514600" y="1051560"/>
            <a:ext cx="1737360" cy="777240"/>
          </a:xfrm>
          <a:prstGeom prst="rect">
            <a:avLst/>
          </a:prstGeom>
          <a:solidFill>
            <a:schemeClr val="bg1"/>
          </a:solidFill>
          <a:ln w="12700">
            <a:solidFill>
              <a:srgbClr val="6B7785"/>
            </a:solidFill>
            <a:prstDash val="solid"/>
          </a:ln>
        </p:spPr>
      </p:sp>
      <p:sp>
        <p:nvSpPr>
          <p:cNvPr id="8" name="Text 5"/>
          <p:cNvSpPr txBox="1"/>
          <p:nvPr/>
        </p:nvSpPr>
        <p:spPr>
          <a:xfrm>
            <a:off x="2587752" y="1097280"/>
            <a:ext cx="1591056" cy="228600"/>
          </a:xfrm>
          <a:prstGeom prst="rect">
            <a:avLst/>
          </a:prstGeom>
          <a:noFill/>
          <a:ln/>
        </p:spPr>
        <p:txBody>
          <a:bodyPr wrap="square" lIns="0" tIns="0" rIns="0" bIns="0" rtlCol="0" anchor="t"/>
          <a:lstStyle/>
          <a:p>
            <a:pPr indent="0" marL="0">
              <a:buNone/>
            </a:pPr>
            <a:r>
              <a:rPr lang="en-US" sz="1100" b="1" dirty="0">
                <a:solidFill>
                  <a:schemeClr val="tx1"/>
                </a:solidFill>
              </a:rPr>
              <a:t>2 · Preprocessing</a:t>
            </a:r>
            <a:endParaRPr lang="en-US" sz="1100" dirty="0"/>
          </a:p>
        </p:txBody>
      </p:sp>
      <p:sp>
        <p:nvSpPr>
          <p:cNvPr id="9" name="Text 6"/>
          <p:cNvSpPr txBox="1"/>
          <p:nvPr/>
        </p:nvSpPr>
        <p:spPr>
          <a:xfrm>
            <a:off x="2587752" y="1325880"/>
            <a:ext cx="1591056" cy="475488"/>
          </a:xfrm>
          <a:prstGeom prst="rect">
            <a:avLst/>
          </a:prstGeom>
          <a:noFill/>
          <a:ln/>
        </p:spPr>
        <p:txBody>
          <a:bodyPr wrap="square" lIns="0" tIns="0" rIns="0" bIns="0" rtlCol="0" anchor="t"/>
          <a:lstStyle/>
          <a:p>
            <a:pPr indent="0" marL="0">
              <a:buNone/>
            </a:pPr>
            <a:r>
              <a:rPr lang="en-US" sz="950" dirty="0">
                <a:solidFill>
                  <a:schemeClr val="accent5"/>
                </a:solidFill>
              </a:rPr>
              <a:t>clean_month: taxonomy map,</a:t>
            </a:r>
            <a:endParaRPr lang="en-US" sz="950" dirty="0"/>
          </a:p>
          <a:p>
            <a:pPr indent="0" marL="0">
              <a:buNone/>
            </a:pPr>
            <a:r>
              <a:rPr lang="en-US" sz="950" dirty="0">
                <a:solidFill>
                  <a:schemeClr val="accent5"/>
                </a:solidFill>
              </a:rPr>
              <a:t>PII mask, drop leakage</a:t>
            </a:r>
            <a:endParaRPr lang="en-US" sz="950" dirty="0"/>
          </a:p>
        </p:txBody>
      </p:sp>
      <p:sp>
        <p:nvSpPr>
          <p:cNvPr id="10" name="Shape 7"/>
          <p:cNvSpPr/>
          <p:nvPr/>
        </p:nvSpPr>
        <p:spPr>
          <a:xfrm>
            <a:off x="4800600" y="1051560"/>
            <a:ext cx="2377440" cy="777240"/>
          </a:xfrm>
          <a:prstGeom prst="rect">
            <a:avLst/>
          </a:prstGeom>
          <a:solidFill>
            <a:schemeClr val="bg1"/>
          </a:solidFill>
          <a:ln w="12700">
            <a:solidFill>
              <a:srgbClr val="6B7785"/>
            </a:solidFill>
            <a:prstDash val="solid"/>
          </a:ln>
        </p:spPr>
      </p:sp>
      <p:sp>
        <p:nvSpPr>
          <p:cNvPr id="11" name="Text 8"/>
          <p:cNvSpPr txBox="1"/>
          <p:nvPr/>
        </p:nvSpPr>
        <p:spPr>
          <a:xfrm>
            <a:off x="4873752" y="1097280"/>
            <a:ext cx="2194560" cy="228600"/>
          </a:xfrm>
          <a:prstGeom prst="rect">
            <a:avLst/>
          </a:prstGeom>
          <a:noFill/>
          <a:ln/>
        </p:spPr>
        <p:txBody>
          <a:bodyPr wrap="square" lIns="0" tIns="0" rIns="0" bIns="0" rtlCol="0" anchor="t"/>
          <a:lstStyle/>
          <a:p>
            <a:pPr indent="0" marL="0">
              <a:buNone/>
            </a:pPr>
            <a:r>
              <a:rPr lang="en-US" sz="1100" b="1" dirty="0">
                <a:solidFill>
                  <a:schemeClr val="tx1"/>
                </a:solidFill>
              </a:rPr>
              <a:t>3 · Feature store</a:t>
            </a:r>
            <a:endParaRPr lang="en-US" sz="1100" dirty="0"/>
          </a:p>
        </p:txBody>
      </p:sp>
      <p:sp>
        <p:nvSpPr>
          <p:cNvPr id="12" name="Shape 9"/>
          <p:cNvSpPr/>
          <p:nvPr/>
        </p:nvSpPr>
        <p:spPr>
          <a:xfrm>
            <a:off x="4873752" y="1344168"/>
            <a:ext cx="1069848" cy="411480"/>
          </a:xfrm>
          <a:prstGeom prst="rect">
            <a:avLst/>
          </a:prstGeom>
          <a:solidFill>
            <a:srgbClr val="E4EEF3"/>
          </a:solidFill>
          <a:ln w="12700">
            <a:solidFill>
              <a:srgbClr val="2F6F8F"/>
            </a:solidFill>
            <a:prstDash val="solid"/>
          </a:ln>
        </p:spPr>
      </p:sp>
      <p:sp>
        <p:nvSpPr>
          <p:cNvPr id="13" name="Text 10"/>
          <p:cNvSpPr txBox="1"/>
          <p:nvPr/>
        </p:nvSpPr>
        <p:spPr>
          <a:xfrm>
            <a:off x="4901184" y="1353312"/>
            <a:ext cx="1014984" cy="393192"/>
          </a:xfrm>
          <a:prstGeom prst="rect">
            <a:avLst/>
          </a:prstGeom>
          <a:noFill/>
          <a:ln/>
        </p:spPr>
        <p:txBody>
          <a:bodyPr wrap="square" lIns="0" tIns="0" rIns="0" bIns="0" rtlCol="0" anchor="ctr"/>
          <a:lstStyle/>
          <a:p>
            <a:pPr algn="ctr" indent="0" marL="0">
              <a:buNone/>
            </a:pPr>
            <a:r>
              <a:rPr lang="en-US" sz="900" dirty="0">
                <a:solidFill>
                  <a:schemeClr val="tx1"/>
                </a:solidFill>
              </a:rPr>
              <a:t>offline</a:t>
            </a:r>
            <a:endParaRPr lang="en-US" sz="900" dirty="0"/>
          </a:p>
          <a:p>
            <a:pPr algn="ctr" indent="0" marL="0">
              <a:buNone/>
            </a:pPr>
            <a:r>
              <a:rPr lang="en-US" sz="900" dirty="0">
                <a:solidFill>
                  <a:schemeClr val="tx1"/>
                </a:solidFill>
              </a:rPr>
              <a:t>Parquet · MinIO</a:t>
            </a:r>
            <a:endParaRPr lang="en-US" sz="900" dirty="0"/>
          </a:p>
        </p:txBody>
      </p:sp>
      <p:sp>
        <p:nvSpPr>
          <p:cNvPr id="14" name="Shape 11"/>
          <p:cNvSpPr/>
          <p:nvPr/>
        </p:nvSpPr>
        <p:spPr>
          <a:xfrm>
            <a:off x="6035040" y="1344168"/>
            <a:ext cx="1069848" cy="411480"/>
          </a:xfrm>
          <a:prstGeom prst="rect">
            <a:avLst/>
          </a:prstGeom>
          <a:solidFill>
            <a:srgbClr val="E4EEF3"/>
          </a:solidFill>
          <a:ln w="12700">
            <a:solidFill>
              <a:srgbClr val="2F6F8F"/>
            </a:solidFill>
            <a:prstDash val="solid"/>
          </a:ln>
        </p:spPr>
      </p:sp>
      <p:sp>
        <p:nvSpPr>
          <p:cNvPr id="15" name="Text 12"/>
          <p:cNvSpPr txBox="1"/>
          <p:nvPr/>
        </p:nvSpPr>
        <p:spPr>
          <a:xfrm>
            <a:off x="6062472" y="1353312"/>
            <a:ext cx="1014984" cy="393192"/>
          </a:xfrm>
          <a:prstGeom prst="rect">
            <a:avLst/>
          </a:prstGeom>
          <a:noFill/>
          <a:ln/>
        </p:spPr>
        <p:txBody>
          <a:bodyPr wrap="square" lIns="0" tIns="0" rIns="0" bIns="0" rtlCol="0" anchor="ctr"/>
          <a:lstStyle/>
          <a:p>
            <a:pPr algn="ctr" indent="0" marL="0">
              <a:buNone/>
            </a:pPr>
            <a:r>
              <a:rPr lang="en-US" sz="900" dirty="0">
                <a:solidFill>
                  <a:schemeClr val="tx1"/>
                </a:solidFill>
              </a:rPr>
              <a:t>online</a:t>
            </a:r>
            <a:endParaRPr lang="en-US" sz="900" dirty="0"/>
          </a:p>
          <a:p>
            <a:pPr algn="ctr" indent="0" marL="0">
              <a:buNone/>
            </a:pPr>
            <a:r>
              <a:rPr lang="en-US" sz="900" dirty="0">
                <a:solidFill>
                  <a:schemeClr val="tx1"/>
                </a:solidFill>
              </a:rPr>
              <a:t>from the request</a:t>
            </a:r>
            <a:endParaRPr lang="en-US" sz="900" dirty="0"/>
          </a:p>
        </p:txBody>
      </p:sp>
      <p:sp>
        <p:nvSpPr>
          <p:cNvPr id="16" name="Shape 13"/>
          <p:cNvSpPr/>
          <p:nvPr/>
        </p:nvSpPr>
        <p:spPr>
          <a:xfrm>
            <a:off x="1965960" y="1435608"/>
            <a:ext cx="54864" cy="0"/>
          </a:xfrm>
          <a:prstGeom prst="line">
            <a:avLst/>
          </a:prstGeom>
          <a:noFill/>
          <a:ln w="15875">
            <a:solidFill>
              <a:srgbClr val="6B7785"/>
            </a:solidFill>
            <a:prstDash val="solid"/>
          </a:ln>
        </p:spPr>
      </p:sp>
      <p:sp>
        <p:nvSpPr>
          <p:cNvPr id="17" name="Shape 14"/>
          <p:cNvSpPr/>
          <p:nvPr/>
        </p:nvSpPr>
        <p:spPr>
          <a:xfrm>
            <a:off x="2459736" y="1435608"/>
            <a:ext cx="54864" cy="0"/>
          </a:xfrm>
          <a:prstGeom prst="line">
            <a:avLst/>
          </a:prstGeom>
          <a:noFill/>
          <a:ln w="15875">
            <a:solidFill>
              <a:srgbClr val="6B7785"/>
            </a:solidFill>
            <a:prstDash val="solid"/>
            <a:tailEnd type="triangle"/>
          </a:ln>
        </p:spPr>
      </p:sp>
      <p:sp>
        <p:nvSpPr>
          <p:cNvPr id="18" name="Shape 15"/>
          <p:cNvSpPr/>
          <p:nvPr/>
        </p:nvSpPr>
        <p:spPr>
          <a:xfrm>
            <a:off x="2020824" y="1216152"/>
            <a:ext cx="438912" cy="438912"/>
          </a:xfrm>
          <a:prstGeom prst="ellipse">
            <a:avLst/>
          </a:prstGeom>
          <a:solidFill>
            <a:srgbClr val="FBF0E3"/>
          </a:solidFill>
          <a:ln w="25400">
            <a:solidFill>
              <a:srgbClr val="C9741F"/>
            </a:solidFill>
            <a:prstDash val="solid"/>
          </a:ln>
        </p:spPr>
      </p:sp>
      <p:sp>
        <p:nvSpPr>
          <p:cNvPr id="19" name="Text 16"/>
          <p:cNvSpPr txBox="1"/>
          <p:nvPr/>
        </p:nvSpPr>
        <p:spPr>
          <a:xfrm>
            <a:off x="2020824" y="1216152"/>
            <a:ext cx="438912" cy="438912"/>
          </a:xfrm>
          <a:prstGeom prst="rect">
            <a:avLst/>
          </a:prstGeom>
          <a:noFill/>
          <a:ln/>
        </p:spPr>
        <p:txBody>
          <a:bodyPr wrap="square" lIns="0" tIns="0" rIns="0" bIns="0" rtlCol="0" anchor="ctr"/>
          <a:lstStyle/>
          <a:p>
            <a:pPr algn="ctr" indent="0" marL="0">
              <a:buNone/>
            </a:pPr>
            <a:r>
              <a:rPr lang="en-US" sz="900" b="1" dirty="0">
                <a:solidFill>
                  <a:schemeClr val="accent1"/>
                </a:solidFill>
              </a:rPr>
              <a:t>DVC</a:t>
            </a:r>
            <a:endParaRPr lang="en-US" sz="900" dirty="0"/>
          </a:p>
        </p:txBody>
      </p:sp>
      <p:sp>
        <p:nvSpPr>
          <p:cNvPr id="20" name="Text 17"/>
          <p:cNvSpPr txBox="1"/>
          <p:nvPr/>
        </p:nvSpPr>
        <p:spPr>
          <a:xfrm>
            <a:off x="1691640" y="850392"/>
            <a:ext cx="1097280" cy="228600"/>
          </a:xfrm>
          <a:prstGeom prst="rect">
            <a:avLst/>
          </a:prstGeom>
          <a:noFill/>
          <a:ln/>
        </p:spPr>
        <p:txBody>
          <a:bodyPr wrap="square" lIns="0" tIns="0" rIns="0" bIns="0" rtlCol="0" anchor="t"/>
          <a:lstStyle/>
          <a:p>
            <a:pPr algn="ctr" indent="0" marL="0">
              <a:buNone/>
            </a:pPr>
            <a:r>
              <a:rPr lang="en-US" sz="850" b="1" dirty="0">
                <a:solidFill>
                  <a:schemeClr val="accent1"/>
                </a:solidFill>
              </a:rPr>
              <a:t>VERSION POINT</a:t>
            </a:r>
            <a:endParaRPr lang="en-US" sz="850" dirty="0"/>
          </a:p>
        </p:txBody>
      </p:sp>
      <p:sp>
        <p:nvSpPr>
          <p:cNvPr id="21" name="Shape 18"/>
          <p:cNvSpPr/>
          <p:nvPr/>
        </p:nvSpPr>
        <p:spPr>
          <a:xfrm>
            <a:off x="4251960" y="1435608"/>
            <a:ext cx="54864" cy="0"/>
          </a:xfrm>
          <a:prstGeom prst="line">
            <a:avLst/>
          </a:prstGeom>
          <a:noFill/>
          <a:ln w="15875">
            <a:solidFill>
              <a:srgbClr val="6B7785"/>
            </a:solidFill>
            <a:prstDash val="solid"/>
          </a:ln>
        </p:spPr>
      </p:sp>
      <p:sp>
        <p:nvSpPr>
          <p:cNvPr id="22" name="Shape 19"/>
          <p:cNvSpPr/>
          <p:nvPr/>
        </p:nvSpPr>
        <p:spPr>
          <a:xfrm>
            <a:off x="4745736" y="1435608"/>
            <a:ext cx="54864" cy="0"/>
          </a:xfrm>
          <a:prstGeom prst="line">
            <a:avLst/>
          </a:prstGeom>
          <a:noFill/>
          <a:ln w="15875">
            <a:solidFill>
              <a:srgbClr val="6B7785"/>
            </a:solidFill>
            <a:prstDash val="solid"/>
            <a:tailEnd type="triangle"/>
          </a:ln>
        </p:spPr>
      </p:sp>
      <p:sp>
        <p:nvSpPr>
          <p:cNvPr id="23" name="Shape 20"/>
          <p:cNvSpPr/>
          <p:nvPr/>
        </p:nvSpPr>
        <p:spPr>
          <a:xfrm>
            <a:off x="4306824" y="1216152"/>
            <a:ext cx="438912" cy="438912"/>
          </a:xfrm>
          <a:prstGeom prst="ellipse">
            <a:avLst/>
          </a:prstGeom>
          <a:solidFill>
            <a:srgbClr val="FBF0E3"/>
          </a:solidFill>
          <a:ln w="25400">
            <a:solidFill>
              <a:srgbClr val="C9741F"/>
            </a:solidFill>
            <a:prstDash val="solid"/>
          </a:ln>
        </p:spPr>
      </p:sp>
      <p:sp>
        <p:nvSpPr>
          <p:cNvPr id="24" name="Text 21"/>
          <p:cNvSpPr txBox="1"/>
          <p:nvPr/>
        </p:nvSpPr>
        <p:spPr>
          <a:xfrm>
            <a:off x="4306824" y="1216152"/>
            <a:ext cx="438912" cy="438912"/>
          </a:xfrm>
          <a:prstGeom prst="rect">
            <a:avLst/>
          </a:prstGeom>
          <a:noFill/>
          <a:ln/>
        </p:spPr>
        <p:txBody>
          <a:bodyPr wrap="square" lIns="0" tIns="0" rIns="0" bIns="0" rtlCol="0" anchor="ctr"/>
          <a:lstStyle/>
          <a:p>
            <a:pPr algn="ctr" indent="0" marL="0">
              <a:buNone/>
            </a:pPr>
            <a:r>
              <a:rPr lang="en-US" sz="900" b="1" dirty="0">
                <a:solidFill>
                  <a:schemeClr val="accent1"/>
                </a:solidFill>
              </a:rPr>
              <a:t>QG</a:t>
            </a:r>
            <a:endParaRPr lang="en-US" sz="900" dirty="0"/>
          </a:p>
        </p:txBody>
      </p:sp>
      <p:sp>
        <p:nvSpPr>
          <p:cNvPr id="25" name="Text 22"/>
          <p:cNvSpPr txBox="1"/>
          <p:nvPr/>
        </p:nvSpPr>
        <p:spPr>
          <a:xfrm>
            <a:off x="3977640" y="850392"/>
            <a:ext cx="1097280" cy="228600"/>
          </a:xfrm>
          <a:prstGeom prst="rect">
            <a:avLst/>
          </a:prstGeom>
          <a:noFill/>
          <a:ln/>
        </p:spPr>
        <p:txBody>
          <a:bodyPr wrap="square" lIns="0" tIns="0" rIns="0" bIns="0" rtlCol="0" anchor="t"/>
          <a:lstStyle/>
          <a:p>
            <a:pPr algn="ctr" indent="0" marL="0">
              <a:buNone/>
            </a:pPr>
            <a:r>
              <a:rPr lang="en-US" sz="850" b="1" dirty="0">
                <a:solidFill>
                  <a:schemeClr val="accent1"/>
                </a:solidFill>
              </a:rPr>
              <a:t>QUALITY GATE</a:t>
            </a:r>
            <a:endParaRPr lang="en-US" sz="850" dirty="0"/>
          </a:p>
        </p:txBody>
      </p:sp>
      <p:sp>
        <p:nvSpPr>
          <p:cNvPr id="26" name="Shape 23"/>
          <p:cNvSpPr/>
          <p:nvPr/>
        </p:nvSpPr>
        <p:spPr>
          <a:xfrm>
            <a:off x="5440680" y="1920240"/>
            <a:ext cx="1097280" cy="237744"/>
          </a:xfrm>
          <a:prstGeom prst="roundRect">
            <a:avLst>
              <a:gd name="adj" fmla="val 50000"/>
            </a:avLst>
          </a:prstGeom>
          <a:solidFill>
            <a:srgbClr val="FBEDEC"/>
          </a:solidFill>
          <a:ln w="15875">
            <a:solidFill>
              <a:srgbClr val="B3261E"/>
            </a:solidFill>
            <a:prstDash val="solid"/>
          </a:ln>
        </p:spPr>
      </p:sp>
      <p:sp>
        <p:nvSpPr>
          <p:cNvPr id="27" name="Text 24"/>
          <p:cNvSpPr txBox="1"/>
          <p:nvPr/>
        </p:nvSpPr>
        <p:spPr>
          <a:xfrm>
            <a:off x="5440680" y="1920240"/>
            <a:ext cx="1097280" cy="237744"/>
          </a:xfrm>
          <a:prstGeom prst="rect">
            <a:avLst/>
          </a:prstGeom>
          <a:noFill/>
          <a:ln/>
        </p:spPr>
        <p:txBody>
          <a:bodyPr wrap="square" lIns="0" tIns="0" rIns="0" bIns="0" rtlCol="0" anchor="ctr"/>
          <a:lstStyle/>
          <a:p>
            <a:pPr algn="ctr" indent="0" marL="0">
              <a:buNone/>
            </a:pPr>
            <a:r>
              <a:rPr lang="en-US" sz="850" b="1" dirty="0">
                <a:solidFill>
                  <a:schemeClr val="accent3"/>
                </a:solidFill>
              </a:rPr>
              <a:t>TRAIN ≠ SERVE</a:t>
            </a:r>
            <a:endParaRPr lang="en-US" sz="850" dirty="0"/>
          </a:p>
        </p:txBody>
      </p:sp>
      <p:sp>
        <p:nvSpPr>
          <p:cNvPr id="28" name="Shape 25"/>
          <p:cNvSpPr/>
          <p:nvPr/>
        </p:nvSpPr>
        <p:spPr>
          <a:xfrm>
            <a:off x="365760" y="2423160"/>
            <a:ext cx="1600200" cy="777240"/>
          </a:xfrm>
          <a:prstGeom prst="rect">
            <a:avLst/>
          </a:prstGeom>
          <a:solidFill>
            <a:schemeClr val="bg1"/>
          </a:solidFill>
          <a:ln w="12700">
            <a:solidFill>
              <a:srgbClr val="6B7785"/>
            </a:solidFill>
            <a:prstDash val="solid"/>
          </a:ln>
        </p:spPr>
      </p:sp>
      <p:sp>
        <p:nvSpPr>
          <p:cNvPr id="29" name="Text 26"/>
          <p:cNvSpPr txBox="1"/>
          <p:nvPr/>
        </p:nvSpPr>
        <p:spPr>
          <a:xfrm>
            <a:off x="438912" y="2468880"/>
            <a:ext cx="1453896" cy="228600"/>
          </a:xfrm>
          <a:prstGeom prst="rect">
            <a:avLst/>
          </a:prstGeom>
          <a:noFill/>
          <a:ln/>
        </p:spPr>
        <p:txBody>
          <a:bodyPr wrap="square" lIns="0" tIns="0" rIns="0" bIns="0" rtlCol="0" anchor="t"/>
          <a:lstStyle/>
          <a:p>
            <a:pPr indent="0" marL="0">
              <a:buNone/>
            </a:pPr>
            <a:r>
              <a:rPr lang="en-US" sz="1100" b="1" dirty="0">
                <a:solidFill>
                  <a:schemeClr val="tx1"/>
                </a:solidFill>
              </a:rPr>
              <a:t>4 · Training</a:t>
            </a:r>
            <a:endParaRPr lang="en-US" sz="1100" dirty="0"/>
          </a:p>
        </p:txBody>
      </p:sp>
      <p:sp>
        <p:nvSpPr>
          <p:cNvPr id="30" name="Text 27"/>
          <p:cNvSpPr txBox="1"/>
          <p:nvPr/>
        </p:nvSpPr>
        <p:spPr>
          <a:xfrm>
            <a:off x="438912" y="2697480"/>
            <a:ext cx="1453896" cy="475488"/>
          </a:xfrm>
          <a:prstGeom prst="rect">
            <a:avLst/>
          </a:prstGeom>
          <a:noFill/>
          <a:ln/>
        </p:spPr>
        <p:txBody>
          <a:bodyPr wrap="square" lIns="0" tIns="0" rIns="0" bIns="0" rtlCol="0" anchor="t"/>
          <a:lstStyle/>
          <a:p>
            <a:pPr indent="0" marL="0">
              <a:buNone/>
            </a:pPr>
            <a:r>
              <a:rPr lang="en-US" sz="950" dirty="0">
                <a:solidFill>
                  <a:schemeClr val="accent5"/>
                </a:solidFill>
              </a:rPr>
              <a:t>train_eval: TF-IDF + LR</a:t>
            </a:r>
            <a:endParaRPr lang="en-US" sz="950" dirty="0"/>
          </a:p>
          <a:p>
            <a:pPr indent="0" marL="0">
              <a:buNone/>
            </a:pPr>
            <a:r>
              <a:rPr lang="en-US" sz="950" dirty="0">
                <a:solidFill>
                  <a:schemeClr val="accent5"/>
                </a:solidFill>
              </a:rPr>
              <a:t>time split · MLflow</a:t>
            </a:r>
            <a:endParaRPr lang="en-US" sz="950" dirty="0"/>
          </a:p>
        </p:txBody>
      </p:sp>
      <p:sp>
        <p:nvSpPr>
          <p:cNvPr id="31" name="Shape 28"/>
          <p:cNvSpPr/>
          <p:nvPr/>
        </p:nvSpPr>
        <p:spPr>
          <a:xfrm>
            <a:off x="2514600" y="2423160"/>
            <a:ext cx="1737360" cy="777240"/>
          </a:xfrm>
          <a:prstGeom prst="rect">
            <a:avLst/>
          </a:prstGeom>
          <a:solidFill>
            <a:schemeClr val="bg1"/>
          </a:solidFill>
          <a:ln w="12700">
            <a:solidFill>
              <a:srgbClr val="6B7785"/>
            </a:solidFill>
            <a:prstDash val="solid"/>
          </a:ln>
        </p:spPr>
      </p:sp>
      <p:sp>
        <p:nvSpPr>
          <p:cNvPr id="32" name="Text 29"/>
          <p:cNvSpPr txBox="1"/>
          <p:nvPr/>
        </p:nvSpPr>
        <p:spPr>
          <a:xfrm>
            <a:off x="2587752" y="2468880"/>
            <a:ext cx="1591056" cy="228600"/>
          </a:xfrm>
          <a:prstGeom prst="rect">
            <a:avLst/>
          </a:prstGeom>
          <a:noFill/>
          <a:ln/>
        </p:spPr>
        <p:txBody>
          <a:bodyPr wrap="square" lIns="0" tIns="0" rIns="0" bIns="0" rtlCol="0" anchor="t"/>
          <a:lstStyle/>
          <a:p>
            <a:pPr indent="0" marL="0">
              <a:buNone/>
            </a:pPr>
            <a:r>
              <a:rPr lang="en-US" sz="1100" b="1" dirty="0">
                <a:solidFill>
                  <a:schemeClr val="tx1"/>
                </a:solidFill>
              </a:rPr>
              <a:t>5 · Registry</a:t>
            </a:r>
            <a:endParaRPr lang="en-US" sz="1100" dirty="0"/>
          </a:p>
        </p:txBody>
      </p:sp>
      <p:sp>
        <p:nvSpPr>
          <p:cNvPr id="33" name="Text 30"/>
          <p:cNvSpPr txBox="1"/>
          <p:nvPr/>
        </p:nvSpPr>
        <p:spPr>
          <a:xfrm>
            <a:off x="2587752" y="2697480"/>
            <a:ext cx="1591056" cy="475488"/>
          </a:xfrm>
          <a:prstGeom prst="rect">
            <a:avLst/>
          </a:prstGeom>
          <a:noFill/>
          <a:ln/>
        </p:spPr>
        <p:txBody>
          <a:bodyPr wrap="square" lIns="0" tIns="0" rIns="0" bIns="0" rtlCol="0" anchor="t"/>
          <a:lstStyle/>
          <a:p>
            <a:pPr indent="0" marL="0">
              <a:buNone/>
            </a:pPr>
            <a:r>
              <a:rPr lang="en-US" sz="950" dirty="0">
                <a:solidFill>
                  <a:schemeClr val="accent5"/>
                </a:solidFill>
              </a:rPr>
              <a:t>MLflow · @challenger ←</a:t>
            </a:r>
            <a:endParaRPr lang="en-US" sz="950" dirty="0"/>
          </a:p>
          <a:p>
            <a:pPr indent="0" marL="0">
              <a:buNone/>
            </a:pPr>
            <a:r>
              <a:rPr lang="en-US" sz="950" dirty="0">
                <a:solidFill>
                  <a:schemeClr val="accent5"/>
                </a:solidFill>
              </a:rPr>
              <a:t>pipeline, @champion ← human</a:t>
            </a:r>
            <a:endParaRPr lang="en-US" sz="950" dirty="0"/>
          </a:p>
        </p:txBody>
      </p:sp>
      <p:sp>
        <p:nvSpPr>
          <p:cNvPr id="34" name="Shape 31"/>
          <p:cNvSpPr/>
          <p:nvPr/>
        </p:nvSpPr>
        <p:spPr>
          <a:xfrm>
            <a:off x="4800600" y="2423160"/>
            <a:ext cx="2377440" cy="777240"/>
          </a:xfrm>
          <a:prstGeom prst="rect">
            <a:avLst/>
          </a:prstGeom>
          <a:solidFill>
            <a:schemeClr val="bg1"/>
          </a:solidFill>
          <a:ln w="12700">
            <a:solidFill>
              <a:srgbClr val="6B7785"/>
            </a:solidFill>
            <a:prstDash val="solid"/>
          </a:ln>
        </p:spPr>
      </p:sp>
      <p:sp>
        <p:nvSpPr>
          <p:cNvPr id="35" name="Text 32"/>
          <p:cNvSpPr txBox="1"/>
          <p:nvPr/>
        </p:nvSpPr>
        <p:spPr>
          <a:xfrm>
            <a:off x="4873752" y="2468880"/>
            <a:ext cx="2194560" cy="228600"/>
          </a:xfrm>
          <a:prstGeom prst="rect">
            <a:avLst/>
          </a:prstGeom>
          <a:noFill/>
          <a:ln/>
        </p:spPr>
        <p:txBody>
          <a:bodyPr wrap="square" lIns="0" tIns="0" rIns="0" bIns="0" rtlCol="0" anchor="t"/>
          <a:lstStyle/>
          <a:p>
            <a:pPr indent="0" marL="0">
              <a:buNone/>
            </a:pPr>
            <a:r>
              <a:rPr lang="en-US" sz="1100" b="1" dirty="0">
                <a:solidFill>
                  <a:schemeClr val="tx1"/>
                </a:solidFill>
              </a:rPr>
              <a:t>6 · Inference</a:t>
            </a:r>
            <a:endParaRPr lang="en-US" sz="1100" dirty="0"/>
          </a:p>
        </p:txBody>
      </p:sp>
      <p:sp>
        <p:nvSpPr>
          <p:cNvPr id="36" name="Shape 33"/>
          <p:cNvSpPr/>
          <p:nvPr/>
        </p:nvSpPr>
        <p:spPr>
          <a:xfrm>
            <a:off x="4873752" y="2715768"/>
            <a:ext cx="1069848" cy="411480"/>
          </a:xfrm>
          <a:prstGeom prst="rect">
            <a:avLst/>
          </a:prstGeom>
          <a:solidFill>
            <a:srgbClr val="E4EEF3"/>
          </a:solidFill>
          <a:ln w="12700">
            <a:solidFill>
              <a:srgbClr val="2F6F8F"/>
            </a:solidFill>
            <a:prstDash val="solid"/>
          </a:ln>
        </p:spPr>
      </p:sp>
      <p:sp>
        <p:nvSpPr>
          <p:cNvPr id="37" name="Text 34"/>
          <p:cNvSpPr txBox="1"/>
          <p:nvPr/>
        </p:nvSpPr>
        <p:spPr>
          <a:xfrm>
            <a:off x="4901184" y="2724912"/>
            <a:ext cx="1014984" cy="393192"/>
          </a:xfrm>
          <a:prstGeom prst="rect">
            <a:avLst/>
          </a:prstGeom>
          <a:noFill/>
          <a:ln/>
        </p:spPr>
        <p:txBody>
          <a:bodyPr wrap="square" lIns="0" tIns="0" rIns="0" bIns="0" rtlCol="0" anchor="ctr"/>
          <a:lstStyle/>
          <a:p>
            <a:pPr algn="ctr" indent="0" marL="0">
              <a:buNone/>
            </a:pPr>
            <a:r>
              <a:rPr lang="en-US" sz="900" dirty="0">
                <a:solidFill>
                  <a:schemeClr val="tx1"/>
                </a:solidFill>
              </a:rPr>
              <a:t>batch</a:t>
            </a:r>
            <a:endParaRPr lang="en-US" sz="900" dirty="0"/>
          </a:p>
          <a:p>
            <a:pPr algn="ctr" indent="0" marL="0">
              <a:buNone/>
            </a:pPr>
            <a:r>
              <a:rPr lang="en-US" sz="900" dirty="0">
                <a:solidFill>
                  <a:schemeClr val="tx1"/>
                </a:solidFill>
              </a:rPr>
              <a:t>nightly rescoring</a:t>
            </a:r>
            <a:endParaRPr lang="en-US" sz="900" dirty="0"/>
          </a:p>
        </p:txBody>
      </p:sp>
      <p:sp>
        <p:nvSpPr>
          <p:cNvPr id="38" name="Shape 35"/>
          <p:cNvSpPr/>
          <p:nvPr/>
        </p:nvSpPr>
        <p:spPr>
          <a:xfrm>
            <a:off x="6035040" y="2715768"/>
            <a:ext cx="1069848" cy="411480"/>
          </a:xfrm>
          <a:prstGeom prst="rect">
            <a:avLst/>
          </a:prstGeom>
          <a:solidFill>
            <a:schemeClr val="accent2"/>
          </a:solidFill>
          <a:ln w="12700">
            <a:solidFill>
              <a:srgbClr val="2F6F8F"/>
            </a:solidFill>
            <a:prstDash val="solid"/>
          </a:ln>
        </p:spPr>
      </p:sp>
      <p:sp>
        <p:nvSpPr>
          <p:cNvPr id="39" name="Text 36"/>
          <p:cNvSpPr txBox="1"/>
          <p:nvPr/>
        </p:nvSpPr>
        <p:spPr>
          <a:xfrm>
            <a:off x="6062472" y="2724912"/>
            <a:ext cx="1014984" cy="393192"/>
          </a:xfrm>
          <a:prstGeom prst="rect">
            <a:avLst/>
          </a:prstGeom>
          <a:noFill/>
          <a:ln/>
        </p:spPr>
        <p:txBody>
          <a:bodyPr wrap="square" lIns="0" tIns="0" rIns="0" bIns="0" rtlCol="0" anchor="ctr"/>
          <a:lstStyle/>
          <a:p>
            <a:pPr algn="ctr" indent="0" marL="0">
              <a:buNone/>
            </a:pPr>
            <a:r>
              <a:rPr lang="en-US" sz="900" dirty="0">
                <a:solidFill>
                  <a:schemeClr val="bg1"/>
                </a:solidFill>
              </a:rPr>
              <a:t>real-time</a:t>
            </a:r>
            <a:endParaRPr lang="en-US" sz="900" dirty="0"/>
          </a:p>
          <a:p>
            <a:pPr algn="ctr" indent="0" marL="0">
              <a:buNone/>
            </a:pPr>
            <a:r>
              <a:rPr lang="en-US" sz="900" dirty="0">
                <a:solidFill>
                  <a:schemeClr val="bg1"/>
                </a:solidFill>
              </a:rPr>
              <a:t>FastAPI /predict</a:t>
            </a:r>
            <a:endParaRPr lang="en-US" sz="900" dirty="0"/>
          </a:p>
        </p:txBody>
      </p:sp>
      <p:sp>
        <p:nvSpPr>
          <p:cNvPr id="40" name="Shape 37"/>
          <p:cNvSpPr/>
          <p:nvPr/>
        </p:nvSpPr>
        <p:spPr>
          <a:xfrm>
            <a:off x="7680960" y="2423160"/>
            <a:ext cx="1097280" cy="777240"/>
          </a:xfrm>
          <a:prstGeom prst="rect">
            <a:avLst/>
          </a:prstGeom>
          <a:solidFill>
            <a:schemeClr val="bg1"/>
          </a:solidFill>
          <a:ln w="12700">
            <a:solidFill>
              <a:srgbClr val="6B7785"/>
            </a:solidFill>
            <a:prstDash val="solid"/>
          </a:ln>
        </p:spPr>
      </p:sp>
      <p:sp>
        <p:nvSpPr>
          <p:cNvPr id="41" name="Text 38"/>
          <p:cNvSpPr txBox="1"/>
          <p:nvPr/>
        </p:nvSpPr>
        <p:spPr>
          <a:xfrm>
            <a:off x="7754112" y="2468880"/>
            <a:ext cx="950976" cy="228600"/>
          </a:xfrm>
          <a:prstGeom prst="rect">
            <a:avLst/>
          </a:prstGeom>
          <a:noFill/>
          <a:ln/>
        </p:spPr>
        <p:txBody>
          <a:bodyPr wrap="square" lIns="0" tIns="0" rIns="0" bIns="0" rtlCol="0" anchor="t"/>
          <a:lstStyle/>
          <a:p>
            <a:pPr indent="0" marL="0">
              <a:buNone/>
            </a:pPr>
            <a:r>
              <a:rPr lang="en-US" sz="1100" b="1" dirty="0">
                <a:solidFill>
                  <a:schemeClr val="tx1"/>
                </a:solidFill>
              </a:rPr>
              <a:t>Triage desk</a:t>
            </a:r>
            <a:endParaRPr lang="en-US" sz="1100" dirty="0"/>
          </a:p>
        </p:txBody>
      </p:sp>
      <p:sp>
        <p:nvSpPr>
          <p:cNvPr id="42" name="Text 39"/>
          <p:cNvSpPr txBox="1"/>
          <p:nvPr/>
        </p:nvSpPr>
        <p:spPr>
          <a:xfrm>
            <a:off x="7754112" y="2697480"/>
            <a:ext cx="950976" cy="475488"/>
          </a:xfrm>
          <a:prstGeom prst="rect">
            <a:avLst/>
          </a:prstGeom>
          <a:noFill/>
          <a:ln/>
        </p:spPr>
        <p:txBody>
          <a:bodyPr wrap="square" lIns="0" tIns="0" rIns="0" bIns="0" rtlCol="0" anchor="t"/>
          <a:lstStyle/>
          <a:p>
            <a:pPr indent="0" marL="0">
              <a:buNone/>
            </a:pPr>
            <a:r>
              <a:rPr lang="en-US" sz="950" dirty="0">
                <a:solidFill>
                  <a:schemeClr val="accent5"/>
                </a:solidFill>
              </a:rPr>
              <a:t>auto / manual</a:t>
            </a:r>
            <a:endParaRPr lang="en-US" sz="950" dirty="0"/>
          </a:p>
          <a:p>
            <a:pPr indent="0" marL="0">
              <a:buNone/>
            </a:pPr>
            <a:r>
              <a:rPr lang="en-US" sz="950" dirty="0">
                <a:solidFill>
                  <a:schemeClr val="accent5"/>
                </a:solidFill>
              </a:rPr>
              <a:t>queues</a:t>
            </a:r>
            <a:endParaRPr lang="en-US" sz="950" dirty="0"/>
          </a:p>
        </p:txBody>
      </p:sp>
      <p:sp>
        <p:nvSpPr>
          <p:cNvPr id="43" name="Shape 40"/>
          <p:cNvSpPr/>
          <p:nvPr/>
        </p:nvSpPr>
        <p:spPr>
          <a:xfrm>
            <a:off x="2514600" y="3657600"/>
            <a:ext cx="4663440" cy="777240"/>
          </a:xfrm>
          <a:prstGeom prst="rect">
            <a:avLst/>
          </a:prstGeom>
          <a:solidFill>
            <a:schemeClr val="bg1"/>
          </a:solidFill>
          <a:ln w="12700">
            <a:solidFill>
              <a:srgbClr val="6B7785"/>
            </a:solidFill>
            <a:prstDash val="solid"/>
          </a:ln>
        </p:spPr>
      </p:sp>
      <p:sp>
        <p:nvSpPr>
          <p:cNvPr id="44" name="Text 41"/>
          <p:cNvSpPr txBox="1"/>
          <p:nvPr/>
        </p:nvSpPr>
        <p:spPr>
          <a:xfrm>
            <a:off x="2587752" y="3703320"/>
            <a:ext cx="4517136" cy="228600"/>
          </a:xfrm>
          <a:prstGeom prst="rect">
            <a:avLst/>
          </a:prstGeom>
          <a:noFill/>
          <a:ln/>
        </p:spPr>
        <p:txBody>
          <a:bodyPr wrap="square" lIns="0" tIns="0" rIns="0" bIns="0" rtlCol="0" anchor="t"/>
          <a:lstStyle/>
          <a:p>
            <a:pPr indent="0" marL="0">
              <a:buNone/>
            </a:pPr>
            <a:r>
              <a:rPr lang="en-US" sz="1100" b="1" dirty="0">
                <a:solidFill>
                  <a:schemeClr val="tx1"/>
                </a:solidFill>
              </a:rPr>
              <a:t>7 · Monitoring and retraining loop</a:t>
            </a:r>
            <a:endParaRPr lang="en-US" sz="1100" dirty="0"/>
          </a:p>
        </p:txBody>
      </p:sp>
      <p:sp>
        <p:nvSpPr>
          <p:cNvPr id="45" name="Text 42"/>
          <p:cNvSpPr txBox="1"/>
          <p:nvPr/>
        </p:nvSpPr>
        <p:spPr>
          <a:xfrm>
            <a:off x="2587752" y="3931920"/>
            <a:ext cx="4517136" cy="475488"/>
          </a:xfrm>
          <a:prstGeom prst="rect">
            <a:avLst/>
          </a:prstGeom>
          <a:noFill/>
          <a:ln/>
        </p:spPr>
        <p:txBody>
          <a:bodyPr wrap="square" lIns="0" tIns="0" rIns="0" bIns="0" rtlCol="0" anchor="t"/>
          <a:lstStyle/>
          <a:p>
            <a:pPr indent="0" marL="0">
              <a:buNone/>
            </a:pPr>
            <a:r>
              <a:rPr lang="en-US" sz="950" dirty="0">
                <a:solidFill>
                  <a:schemeClr val="accent5"/>
                </a:solidFill>
              </a:rPr>
              <a:t>Evidently daily: input, prediction and confidence drift · macro-F1 weekly once labels arrive (+15 d)</a:t>
            </a:r>
            <a:endParaRPr lang="en-US" sz="950" dirty="0"/>
          </a:p>
          <a:p>
            <a:pPr indent="0" marL="0">
              <a:buNone/>
            </a:pPr>
            <a:r>
              <a:rPr lang="en-US" sz="950" dirty="0">
                <a:solidFill>
                  <a:schemeClr val="accent5"/>
                </a:solidFill>
              </a:rPr>
              <a:t>Prometheus + Grafana: latency, errors → alert ML on-call → may trigger train_eval</a:t>
            </a:r>
            <a:endParaRPr lang="en-US" sz="950" dirty="0"/>
          </a:p>
        </p:txBody>
      </p:sp>
      <p:sp>
        <p:nvSpPr>
          <p:cNvPr id="46" name="Shape 43"/>
          <p:cNvSpPr/>
          <p:nvPr/>
        </p:nvSpPr>
        <p:spPr>
          <a:xfrm>
            <a:off x="7680960" y="3657600"/>
            <a:ext cx="1097280" cy="777240"/>
          </a:xfrm>
          <a:prstGeom prst="rect">
            <a:avLst/>
          </a:prstGeom>
          <a:solidFill>
            <a:schemeClr val="bg1"/>
          </a:solidFill>
          <a:ln w="12700">
            <a:solidFill>
              <a:srgbClr val="6B7785"/>
            </a:solidFill>
            <a:prstDash val="solid"/>
          </a:ln>
        </p:spPr>
      </p:sp>
      <p:sp>
        <p:nvSpPr>
          <p:cNvPr id="47" name="Text 44"/>
          <p:cNvSpPr txBox="1"/>
          <p:nvPr/>
        </p:nvSpPr>
        <p:spPr>
          <a:xfrm>
            <a:off x="7754112" y="3703320"/>
            <a:ext cx="950976" cy="228600"/>
          </a:xfrm>
          <a:prstGeom prst="rect">
            <a:avLst/>
          </a:prstGeom>
          <a:noFill/>
          <a:ln/>
        </p:spPr>
        <p:txBody>
          <a:bodyPr wrap="square" lIns="0" tIns="0" rIns="0" bIns="0" rtlCol="0" anchor="t"/>
          <a:lstStyle/>
          <a:p>
            <a:pPr indent="0" marL="0">
              <a:buNone/>
            </a:pPr>
            <a:r>
              <a:rPr lang="en-US" sz="1100" b="1" dirty="0">
                <a:solidFill>
                  <a:schemeClr val="tx1"/>
                </a:solidFill>
              </a:rPr>
              <a:t>Labels</a:t>
            </a:r>
            <a:endParaRPr lang="en-US" sz="1100" dirty="0"/>
          </a:p>
        </p:txBody>
      </p:sp>
      <p:sp>
        <p:nvSpPr>
          <p:cNvPr id="48" name="Text 45"/>
          <p:cNvSpPr txBox="1"/>
          <p:nvPr/>
        </p:nvSpPr>
        <p:spPr>
          <a:xfrm>
            <a:off x="7754112" y="3931920"/>
            <a:ext cx="950976" cy="475488"/>
          </a:xfrm>
          <a:prstGeom prst="rect">
            <a:avLst/>
          </a:prstGeom>
          <a:noFill/>
          <a:ln/>
        </p:spPr>
        <p:txBody>
          <a:bodyPr wrap="square" lIns="0" tIns="0" rIns="0" bIns="0" rtlCol="0" anchor="t"/>
          <a:lstStyle/>
          <a:p>
            <a:pPr indent="0" marL="0">
              <a:buNone/>
            </a:pPr>
            <a:r>
              <a:rPr lang="en-US" sz="950" dirty="0">
                <a:solidFill>
                  <a:schemeClr val="accent5"/>
                </a:solidFill>
              </a:rPr>
              <a:t>CFPB +15 days</a:t>
            </a:r>
            <a:endParaRPr lang="en-US" sz="950" dirty="0"/>
          </a:p>
          <a:p>
            <a:pPr indent="0" marL="0">
              <a:buNone/>
            </a:pPr>
            <a:r>
              <a:rPr lang="en-US" sz="950" dirty="0">
                <a:solidFill>
                  <a:schemeClr val="accent5"/>
                </a:solidFill>
              </a:rPr>
              <a:t>+ overrides</a:t>
            </a:r>
            <a:endParaRPr lang="en-US" sz="950" dirty="0"/>
          </a:p>
        </p:txBody>
      </p:sp>
      <p:sp>
        <p:nvSpPr>
          <p:cNvPr id="49" name="Shape 46"/>
          <p:cNvSpPr/>
          <p:nvPr/>
        </p:nvSpPr>
        <p:spPr>
          <a:xfrm>
            <a:off x="5413248" y="1755648"/>
            <a:ext cx="0" cy="347472"/>
          </a:xfrm>
          <a:prstGeom prst="line">
            <a:avLst/>
          </a:prstGeom>
          <a:noFill/>
          <a:ln w="15875">
            <a:solidFill>
              <a:srgbClr val="2F6F8F"/>
            </a:solidFill>
            <a:prstDash val="solid"/>
          </a:ln>
        </p:spPr>
      </p:sp>
      <p:sp>
        <p:nvSpPr>
          <p:cNvPr id="50" name="Shape 47"/>
          <p:cNvSpPr/>
          <p:nvPr/>
        </p:nvSpPr>
        <p:spPr>
          <a:xfrm flipH="1">
            <a:off x="1161288" y="2103120"/>
            <a:ext cx="4251960" cy="0"/>
          </a:xfrm>
          <a:prstGeom prst="line">
            <a:avLst/>
          </a:prstGeom>
          <a:noFill/>
          <a:ln w="15875">
            <a:solidFill>
              <a:srgbClr val="2F6F8F"/>
            </a:solidFill>
            <a:prstDash val="solid"/>
          </a:ln>
        </p:spPr>
      </p:sp>
      <p:sp>
        <p:nvSpPr>
          <p:cNvPr id="51" name="Shape 48"/>
          <p:cNvSpPr/>
          <p:nvPr/>
        </p:nvSpPr>
        <p:spPr>
          <a:xfrm>
            <a:off x="1161288" y="2103120"/>
            <a:ext cx="0" cy="320040"/>
          </a:xfrm>
          <a:prstGeom prst="line">
            <a:avLst/>
          </a:prstGeom>
          <a:noFill/>
          <a:ln w="15875">
            <a:solidFill>
              <a:srgbClr val="2F6F8F"/>
            </a:solidFill>
            <a:prstDash val="solid"/>
            <a:tailEnd type="triangle"/>
          </a:ln>
        </p:spPr>
      </p:sp>
      <p:sp>
        <p:nvSpPr>
          <p:cNvPr id="52" name="Text 49"/>
          <p:cNvSpPr txBox="1"/>
          <p:nvPr/>
        </p:nvSpPr>
        <p:spPr>
          <a:xfrm>
            <a:off x="2377440" y="2130552"/>
            <a:ext cx="1463040" cy="182880"/>
          </a:xfrm>
          <a:prstGeom prst="rect">
            <a:avLst/>
          </a:prstGeom>
          <a:noFill/>
          <a:ln/>
        </p:spPr>
        <p:txBody>
          <a:bodyPr wrap="square" lIns="0" tIns="0" rIns="0" bIns="0" rtlCol="0" anchor="t"/>
          <a:lstStyle/>
          <a:p>
            <a:pPr indent="0" marL="0">
              <a:buNone/>
            </a:pPr>
            <a:r>
              <a:rPr lang="en-US" sz="850" dirty="0">
                <a:solidFill>
                  <a:schemeClr val="accent2"/>
                </a:solidFill>
              </a:rPr>
              <a:t>training path (offline)</a:t>
            </a:r>
            <a:endParaRPr lang="en-US" sz="850" dirty="0"/>
          </a:p>
        </p:txBody>
      </p:sp>
      <p:sp>
        <p:nvSpPr>
          <p:cNvPr id="53" name="Shape 50"/>
          <p:cNvSpPr/>
          <p:nvPr/>
        </p:nvSpPr>
        <p:spPr>
          <a:xfrm>
            <a:off x="6565392" y="1755648"/>
            <a:ext cx="0" cy="960120"/>
          </a:xfrm>
          <a:prstGeom prst="line">
            <a:avLst/>
          </a:prstGeom>
          <a:noFill/>
          <a:ln w="15875">
            <a:solidFill>
              <a:srgbClr val="2F6F8F"/>
            </a:solidFill>
            <a:prstDash val="solid"/>
            <a:tailEnd type="triangle"/>
          </a:ln>
        </p:spPr>
      </p:sp>
      <p:sp>
        <p:nvSpPr>
          <p:cNvPr id="54" name="Text 51"/>
          <p:cNvSpPr txBox="1"/>
          <p:nvPr/>
        </p:nvSpPr>
        <p:spPr>
          <a:xfrm>
            <a:off x="6629400" y="2194560"/>
            <a:ext cx="868680" cy="182880"/>
          </a:xfrm>
          <a:prstGeom prst="rect">
            <a:avLst/>
          </a:prstGeom>
          <a:noFill/>
          <a:ln/>
        </p:spPr>
        <p:txBody>
          <a:bodyPr wrap="square" lIns="0" tIns="0" rIns="0" bIns="0" rtlCol="0" anchor="t"/>
          <a:lstStyle/>
          <a:p>
            <a:pPr indent="0" marL="0">
              <a:buNone/>
            </a:pPr>
            <a:r>
              <a:rPr lang="en-US" sz="850" dirty="0">
                <a:solidFill>
                  <a:schemeClr val="accent2"/>
                </a:solidFill>
              </a:rPr>
              <a:t>serving path</a:t>
            </a:r>
            <a:endParaRPr lang="en-US" sz="850" dirty="0"/>
          </a:p>
        </p:txBody>
      </p:sp>
      <p:sp>
        <p:nvSpPr>
          <p:cNvPr id="55" name="Shape 52"/>
          <p:cNvSpPr/>
          <p:nvPr/>
        </p:nvSpPr>
        <p:spPr>
          <a:xfrm>
            <a:off x="1965960" y="2807208"/>
            <a:ext cx="548640" cy="0"/>
          </a:xfrm>
          <a:prstGeom prst="line">
            <a:avLst/>
          </a:prstGeom>
          <a:noFill/>
          <a:ln w="15875">
            <a:solidFill>
              <a:srgbClr val="6B7785"/>
            </a:solidFill>
            <a:prstDash val="solid"/>
            <a:tailEnd type="triangle"/>
          </a:ln>
        </p:spPr>
      </p:sp>
      <p:sp>
        <p:nvSpPr>
          <p:cNvPr id="56" name="Shape 53"/>
          <p:cNvSpPr/>
          <p:nvPr/>
        </p:nvSpPr>
        <p:spPr>
          <a:xfrm>
            <a:off x="4251960" y="2807208"/>
            <a:ext cx="548640" cy="0"/>
          </a:xfrm>
          <a:prstGeom prst="line">
            <a:avLst/>
          </a:prstGeom>
          <a:noFill/>
          <a:ln w="15875">
            <a:solidFill>
              <a:srgbClr val="6B7785"/>
            </a:solidFill>
            <a:prstDash val="solid"/>
            <a:tailEnd type="triangle"/>
          </a:ln>
        </p:spPr>
      </p:sp>
      <p:sp>
        <p:nvSpPr>
          <p:cNvPr id="57" name="Text 54"/>
          <p:cNvSpPr txBox="1"/>
          <p:nvPr/>
        </p:nvSpPr>
        <p:spPr>
          <a:xfrm>
            <a:off x="4261104" y="2852928"/>
            <a:ext cx="548640" cy="182880"/>
          </a:xfrm>
          <a:prstGeom prst="rect">
            <a:avLst/>
          </a:prstGeom>
          <a:noFill/>
          <a:ln/>
        </p:spPr>
        <p:txBody>
          <a:bodyPr wrap="square" lIns="0" tIns="0" rIns="0" bIns="0" rtlCol="0" anchor="t"/>
          <a:lstStyle/>
          <a:p>
            <a:pPr indent="0" marL="0">
              <a:buNone/>
            </a:pPr>
            <a:r>
              <a:rPr lang="en-US" sz="800" dirty="0">
                <a:solidFill>
                  <a:schemeClr val="accent5"/>
                </a:solidFill>
              </a:rPr>
              <a:t>@champion</a:t>
            </a:r>
            <a:endParaRPr lang="en-US" sz="800" dirty="0"/>
          </a:p>
        </p:txBody>
      </p:sp>
      <p:sp>
        <p:nvSpPr>
          <p:cNvPr id="58" name="Shape 55"/>
          <p:cNvSpPr/>
          <p:nvPr/>
        </p:nvSpPr>
        <p:spPr>
          <a:xfrm>
            <a:off x="7178040" y="2807208"/>
            <a:ext cx="502920" cy="0"/>
          </a:xfrm>
          <a:prstGeom prst="line">
            <a:avLst/>
          </a:prstGeom>
          <a:noFill/>
          <a:ln w="15875">
            <a:solidFill>
              <a:srgbClr val="6B7785"/>
            </a:solidFill>
            <a:prstDash val="solid"/>
            <a:tailEnd type="triangle"/>
          </a:ln>
        </p:spPr>
      </p:sp>
      <p:sp>
        <p:nvSpPr>
          <p:cNvPr id="59" name="Shape 56"/>
          <p:cNvSpPr/>
          <p:nvPr/>
        </p:nvSpPr>
        <p:spPr>
          <a:xfrm>
            <a:off x="5989320" y="3200400"/>
            <a:ext cx="0" cy="457200"/>
          </a:xfrm>
          <a:prstGeom prst="line">
            <a:avLst/>
          </a:prstGeom>
          <a:noFill/>
          <a:ln w="15875">
            <a:solidFill>
              <a:srgbClr val="6B7785"/>
            </a:solidFill>
            <a:prstDash val="solid"/>
            <a:tailEnd type="triangle"/>
          </a:ln>
        </p:spPr>
      </p:sp>
      <p:sp>
        <p:nvSpPr>
          <p:cNvPr id="60" name="Text 57"/>
          <p:cNvSpPr txBox="1"/>
          <p:nvPr/>
        </p:nvSpPr>
        <p:spPr>
          <a:xfrm>
            <a:off x="6053328" y="3310128"/>
            <a:ext cx="914400" cy="182880"/>
          </a:xfrm>
          <a:prstGeom prst="rect">
            <a:avLst/>
          </a:prstGeom>
          <a:noFill/>
          <a:ln/>
        </p:spPr>
        <p:txBody>
          <a:bodyPr wrap="square" lIns="0" tIns="0" rIns="0" bIns="0" rtlCol="0" anchor="t"/>
          <a:lstStyle/>
          <a:p>
            <a:pPr indent="0" marL="0">
              <a:buNone/>
            </a:pPr>
            <a:r>
              <a:rPr lang="en-US" sz="850" dirty="0">
                <a:solidFill>
                  <a:schemeClr val="accent5"/>
                </a:solidFill>
              </a:rPr>
              <a:t>predictions log</a:t>
            </a:r>
            <a:endParaRPr lang="en-US" sz="850" dirty="0"/>
          </a:p>
        </p:txBody>
      </p:sp>
      <p:sp>
        <p:nvSpPr>
          <p:cNvPr id="61" name="Shape 58"/>
          <p:cNvSpPr/>
          <p:nvPr/>
        </p:nvSpPr>
        <p:spPr>
          <a:xfrm flipH="1">
            <a:off x="7178040" y="4041648"/>
            <a:ext cx="502920" cy="0"/>
          </a:xfrm>
          <a:prstGeom prst="line">
            <a:avLst/>
          </a:prstGeom>
          <a:noFill/>
          <a:ln w="15875">
            <a:solidFill>
              <a:srgbClr val="6B7785"/>
            </a:solidFill>
            <a:prstDash val="solid"/>
            <a:tailEnd type="triangle"/>
          </a:ln>
        </p:spPr>
      </p:sp>
      <p:sp>
        <p:nvSpPr>
          <p:cNvPr id="62" name="Shape 59"/>
          <p:cNvSpPr/>
          <p:nvPr/>
        </p:nvSpPr>
        <p:spPr>
          <a:xfrm flipH="1">
            <a:off x="1161288" y="4041648"/>
            <a:ext cx="1353312" cy="0"/>
          </a:xfrm>
          <a:prstGeom prst="line">
            <a:avLst/>
          </a:prstGeom>
          <a:noFill/>
          <a:ln w="15875">
            <a:solidFill>
              <a:srgbClr val="C9741F"/>
            </a:solidFill>
            <a:prstDash val="solid"/>
          </a:ln>
        </p:spPr>
      </p:sp>
      <p:sp>
        <p:nvSpPr>
          <p:cNvPr id="63" name="Shape 60"/>
          <p:cNvSpPr/>
          <p:nvPr/>
        </p:nvSpPr>
        <p:spPr>
          <a:xfrm flipV="1">
            <a:off x="1161288" y="3200400"/>
            <a:ext cx="0" cy="841248"/>
          </a:xfrm>
          <a:prstGeom prst="line">
            <a:avLst/>
          </a:prstGeom>
          <a:noFill/>
          <a:ln w="15875">
            <a:solidFill>
              <a:srgbClr val="C9741F"/>
            </a:solidFill>
            <a:prstDash val="solid"/>
            <a:tailEnd type="triangle"/>
          </a:ln>
        </p:spPr>
      </p:sp>
      <p:sp>
        <p:nvSpPr>
          <p:cNvPr id="64" name="Text 61"/>
          <p:cNvSpPr txBox="1"/>
          <p:nvPr/>
        </p:nvSpPr>
        <p:spPr>
          <a:xfrm>
            <a:off x="1234440" y="3794760"/>
            <a:ext cx="1188720" cy="182880"/>
          </a:xfrm>
          <a:prstGeom prst="rect">
            <a:avLst/>
          </a:prstGeom>
          <a:noFill/>
          <a:ln/>
        </p:spPr>
        <p:txBody>
          <a:bodyPr wrap="square" lIns="0" tIns="0" rIns="0" bIns="0" rtlCol="0" anchor="t"/>
          <a:lstStyle/>
          <a:p>
            <a:pPr indent="0" marL="0">
              <a:buNone/>
            </a:pPr>
            <a:r>
              <a:rPr lang="en-US" sz="850" dirty="0">
                <a:solidFill>
                  <a:schemeClr val="accent1"/>
                </a:solidFill>
              </a:rPr>
              <a:t>trigger retraining</a:t>
            </a:r>
            <a:endParaRPr lang="en-US" sz="8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Model: start from rules, keep the candidate simple</a:t>
            </a:r>
            <a:endParaRPr lang="en-US" sz="2400" dirty="0"/>
          </a:p>
        </p:txBody>
      </p:sp>
      <p:sp>
        <p:nvSpPr>
          <p:cNvPr id="4" name="Shape 1"/>
          <p:cNvSpPr/>
          <p:nvPr/>
        </p:nvSpPr>
        <p:spPr>
          <a:xfrm>
            <a:off x="457200" y="960120"/>
            <a:ext cx="3566160" cy="896112"/>
          </a:xfrm>
          <a:prstGeom prst="roundRect">
            <a:avLst>
              <a:gd name="adj" fmla="val 6122"/>
            </a:avLst>
          </a:prstGeom>
          <a:solidFill>
            <a:schemeClr val="bg2"/>
          </a:solidFill>
          <a:ln w="9525">
            <a:solidFill>
              <a:schemeClr val="bg2"/>
            </a:solidFill>
            <a:prstDash val="solid"/>
          </a:ln>
        </p:spPr>
      </p:sp>
      <p:sp>
        <p:nvSpPr>
          <p:cNvPr id="5" name="Text 2"/>
          <p:cNvSpPr txBox="1"/>
          <p:nvPr/>
        </p:nvSpPr>
        <p:spPr>
          <a:xfrm>
            <a:off x="594360" y="1051560"/>
            <a:ext cx="3291840" cy="256032"/>
          </a:xfrm>
          <a:prstGeom prst="rect">
            <a:avLst/>
          </a:prstGeom>
          <a:noFill/>
          <a:ln/>
        </p:spPr>
        <p:txBody>
          <a:bodyPr wrap="square" lIns="0" tIns="0" rIns="0" bIns="0" rtlCol="0" anchor="t"/>
          <a:lstStyle/>
          <a:p>
            <a:pPr indent="0" marL="0">
              <a:buNone/>
            </a:pPr>
            <a:r>
              <a:rPr lang="en-US" sz="1300" b="1" dirty="0">
                <a:solidFill>
                  <a:schemeClr val="tx1"/>
                </a:solidFill>
              </a:rPr>
              <a:t>Baseline 0</a:t>
            </a:r>
            <a:endParaRPr lang="en-US" sz="1300" dirty="0"/>
          </a:p>
        </p:txBody>
      </p:sp>
      <p:sp>
        <p:nvSpPr>
          <p:cNvPr id="6" name="Text 3"/>
          <p:cNvSpPr txBox="1"/>
          <p:nvPr/>
        </p:nvSpPr>
        <p:spPr>
          <a:xfrm>
            <a:off x="594360" y="1344168"/>
            <a:ext cx="3291840" cy="475488"/>
          </a:xfrm>
          <a:prstGeom prst="rect">
            <a:avLst/>
          </a:prstGeom>
          <a:noFill/>
          <a:ln/>
        </p:spPr>
        <p:txBody>
          <a:bodyPr wrap="square" lIns="0" tIns="0" rIns="0" bIns="0" rtlCol="0" anchor="t"/>
          <a:lstStyle/>
          <a:p>
            <a:pPr indent="0" marL="0">
              <a:buNone/>
            </a:pPr>
            <a:r>
              <a:rPr lang="en-US" sz="1100" dirty="0">
                <a:solidFill>
                  <a:schemeClr val="tx1"/>
                </a:solidFill>
              </a:rPr>
              <a:t>always “Credit reporting”: the macro-F1 floor</a:t>
            </a:r>
            <a:endParaRPr lang="en-US" sz="1100" dirty="0"/>
          </a:p>
        </p:txBody>
      </p:sp>
      <p:sp>
        <p:nvSpPr>
          <p:cNvPr id="7" name="Shape 4"/>
          <p:cNvSpPr/>
          <p:nvPr/>
        </p:nvSpPr>
        <p:spPr>
          <a:xfrm>
            <a:off x="457200" y="1984248"/>
            <a:ext cx="3566160" cy="896112"/>
          </a:xfrm>
          <a:prstGeom prst="roundRect">
            <a:avLst>
              <a:gd name="adj" fmla="val 6122"/>
            </a:avLst>
          </a:prstGeom>
          <a:solidFill>
            <a:schemeClr val="bg2"/>
          </a:solidFill>
          <a:ln w="9525">
            <a:solidFill>
              <a:schemeClr val="bg2"/>
            </a:solidFill>
            <a:prstDash val="solid"/>
          </a:ln>
        </p:spPr>
      </p:sp>
      <p:sp>
        <p:nvSpPr>
          <p:cNvPr id="8" name="Text 5"/>
          <p:cNvSpPr txBox="1"/>
          <p:nvPr/>
        </p:nvSpPr>
        <p:spPr>
          <a:xfrm>
            <a:off x="594360" y="2075688"/>
            <a:ext cx="3291840" cy="256032"/>
          </a:xfrm>
          <a:prstGeom prst="rect">
            <a:avLst/>
          </a:prstGeom>
          <a:noFill/>
          <a:ln/>
        </p:spPr>
        <p:txBody>
          <a:bodyPr wrap="square" lIns="0" tIns="0" rIns="0" bIns="0" rtlCol="0" anchor="t"/>
          <a:lstStyle/>
          <a:p>
            <a:pPr indent="0" marL="0">
              <a:buNone/>
            </a:pPr>
            <a:r>
              <a:rPr lang="en-US" sz="1300" b="1" dirty="0">
                <a:solidFill>
                  <a:schemeClr val="tx1"/>
                </a:solidFill>
              </a:rPr>
              <a:t>Baseline 1</a:t>
            </a:r>
            <a:endParaRPr lang="en-US" sz="1300" dirty="0"/>
          </a:p>
        </p:txBody>
      </p:sp>
      <p:sp>
        <p:nvSpPr>
          <p:cNvPr id="9" name="Text 6"/>
          <p:cNvSpPr txBox="1"/>
          <p:nvPr/>
        </p:nvSpPr>
        <p:spPr>
          <a:xfrm>
            <a:off x="594360" y="2368296"/>
            <a:ext cx="3291840" cy="475488"/>
          </a:xfrm>
          <a:prstGeom prst="rect">
            <a:avLst/>
          </a:prstGeom>
          <a:noFill/>
          <a:ln/>
        </p:spPr>
        <p:txBody>
          <a:bodyPr wrap="square" lIns="0" tIns="0" rIns="0" bIns="0" rtlCol="0" anchor="t"/>
          <a:lstStyle/>
          <a:p>
            <a:pPr indent="0" marL="0">
              <a:buNone/>
            </a:pPr>
            <a:r>
              <a:rPr lang="en-US" sz="1100" dirty="0">
                <a:solidFill>
                  <a:schemeClr val="tx1"/>
                </a:solidFill>
              </a:rPr>
              <a:t>keyword rule per product; no match → manual</a:t>
            </a:r>
            <a:endParaRPr lang="en-US" sz="1100" dirty="0"/>
          </a:p>
        </p:txBody>
      </p:sp>
      <p:sp>
        <p:nvSpPr>
          <p:cNvPr id="10" name="Shape 7"/>
          <p:cNvSpPr/>
          <p:nvPr/>
        </p:nvSpPr>
        <p:spPr>
          <a:xfrm>
            <a:off x="457200" y="3008376"/>
            <a:ext cx="3566160" cy="896112"/>
          </a:xfrm>
          <a:prstGeom prst="roundRect">
            <a:avLst>
              <a:gd name="adj" fmla="val 6122"/>
            </a:avLst>
          </a:prstGeom>
          <a:solidFill>
            <a:srgbClr val="E4EEF3"/>
          </a:solidFill>
          <a:ln w="9525">
            <a:solidFill>
              <a:srgbClr val="E4EEF3"/>
            </a:solidFill>
            <a:prstDash val="solid"/>
          </a:ln>
        </p:spPr>
      </p:sp>
      <p:sp>
        <p:nvSpPr>
          <p:cNvPr id="11" name="Text 8"/>
          <p:cNvSpPr txBox="1"/>
          <p:nvPr/>
        </p:nvSpPr>
        <p:spPr>
          <a:xfrm>
            <a:off x="594360" y="3099816"/>
            <a:ext cx="3291840" cy="256032"/>
          </a:xfrm>
          <a:prstGeom prst="rect">
            <a:avLst/>
          </a:prstGeom>
          <a:noFill/>
          <a:ln/>
        </p:spPr>
        <p:txBody>
          <a:bodyPr wrap="square" lIns="0" tIns="0" rIns="0" bIns="0" rtlCol="0" anchor="t"/>
          <a:lstStyle/>
          <a:p>
            <a:pPr indent="0" marL="0">
              <a:buNone/>
            </a:pPr>
            <a:r>
              <a:rPr lang="en-US" sz="1300" b="1" dirty="0">
                <a:solidFill>
                  <a:schemeClr val="accent2"/>
                </a:solidFill>
              </a:rPr>
              <a:t>Candidate</a:t>
            </a:r>
            <a:endParaRPr lang="en-US" sz="1300" dirty="0"/>
          </a:p>
        </p:txBody>
      </p:sp>
      <p:sp>
        <p:nvSpPr>
          <p:cNvPr id="12" name="Text 9"/>
          <p:cNvSpPr txBox="1"/>
          <p:nvPr/>
        </p:nvSpPr>
        <p:spPr>
          <a:xfrm>
            <a:off x="594360" y="3392424"/>
            <a:ext cx="3291840" cy="475488"/>
          </a:xfrm>
          <a:prstGeom prst="rect">
            <a:avLst/>
          </a:prstGeom>
          <a:noFill/>
          <a:ln/>
        </p:spPr>
        <p:txBody>
          <a:bodyPr wrap="square" lIns="0" tIns="0" rIns="0" bIns="0" rtlCol="0" anchor="t"/>
          <a:lstStyle/>
          <a:p>
            <a:pPr indent="0" marL="0">
              <a:buNone/>
            </a:pPr>
            <a:r>
              <a:rPr lang="en-US" sz="1100" dirty="0">
                <a:solidFill>
                  <a:schemeClr val="tx1"/>
                </a:solidFill>
              </a:rPr>
              <a:t>TF-IDF (word 1–2, char 3–5) + one-hot fields → logistic regression, class weights, isotonic calibration</a:t>
            </a:r>
            <a:endParaRPr lang="en-US" sz="1100" dirty="0"/>
          </a:p>
        </p:txBody>
      </p:sp>
      <p:sp>
        <p:nvSpPr>
          <p:cNvPr id="13" name="Text 10"/>
          <p:cNvSpPr txBox="1"/>
          <p:nvPr/>
        </p:nvSpPr>
        <p:spPr>
          <a:xfrm>
            <a:off x="457200" y="4069080"/>
            <a:ext cx="3566160" cy="457200"/>
          </a:xfrm>
          <a:prstGeom prst="rect">
            <a:avLst/>
          </a:prstGeom>
          <a:noFill/>
          <a:ln/>
        </p:spPr>
        <p:txBody>
          <a:bodyPr wrap="square" lIns="0" tIns="0" rIns="0" bIns="0" rtlCol="0" anchor="t"/>
          <a:lstStyle/>
          <a:p>
            <a:pPr indent="0" marL="0">
              <a:buNone/>
            </a:pPr>
            <a:r>
              <a:rPr lang="en-US" sz="1100" i="1" dirty="0">
                <a:solidFill>
                  <a:schemeClr val="accent5"/>
                </a:solidFill>
              </a:rPr>
              <a:t>LLM zero-shot classifier: evaluated as the LLM baseline in Lab 3, not as the router.</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251960" y="960120"/>
          <a:ext cx="4434840" cy="914400"/>
        </p:xfrm>
        <a:graphic>
          <a:graphicData uri="http://schemas.openxmlformats.org/drawingml/2006/table">
            <a:tbl>
              <a:tblPr/>
              <a:tblGrid>
                <a:gridCol w="1234440"/>
                <a:gridCol w="1325880"/>
                <a:gridCol w="1874520"/>
              </a:tblGrid>
              <a:tr h="0">
                <a:tc>
                  <a:txBody>
                    <a:bodyPr/>
                    <a:lstStyle/>
                    <a:p>
                      <a:pPr indent="0" marL="0">
                        <a:buNone/>
                      </a:pPr>
                      <a:r>
                        <a:rPr lang="en-US" sz="1100" b="1" dirty="0">
                          <a:solidFill>
                            <a:schemeClr val="bg1"/>
                          </a:solidFill>
                        </a:rPr>
                        <a:t>Feature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Training source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Serving source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100" dirty="0">
                          <a:solidFill>
                            <a:schemeClr val="tx1"/>
                          </a:solidFill>
                        </a:rPr>
                        <a:t>Narrative TF-IDF</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clean/ Parquet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request text, same preprocess()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Narrative length</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clean/ Parquet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computed from request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Submitted via, state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CFPB fields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request; missing → unknown</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accent3"/>
                          </a:solidFill>
                        </a:rPr>
                        <a:t>Company bucket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CFPB normalized name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accent3"/>
                          </a:solidFill>
                        </a:rPr>
                        <a:t>raw text → alias table (skew risk, monitored)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15" name="Text 11"/>
          <p:cNvSpPr txBox="1"/>
          <p:nvPr/>
        </p:nvSpPr>
        <p:spPr>
          <a:xfrm>
            <a:off x="4251960" y="4069080"/>
            <a:ext cx="4434840" cy="457200"/>
          </a:xfrm>
          <a:prstGeom prst="rect">
            <a:avLst/>
          </a:prstGeom>
          <a:noFill/>
          <a:ln/>
        </p:spPr>
        <p:txBody>
          <a:bodyPr wrap="square" lIns="0" tIns="0" rIns="0" bIns="0" rtlCol="0" anchor="t"/>
          <a:lstStyle/>
          <a:p>
            <a:pPr indent="0" marL="0">
              <a:buNone/>
            </a:pPr>
            <a:r>
              <a:rPr lang="en-US" sz="1100" i="1" dirty="0">
                <a:solidFill>
                  <a:schemeClr val="accent5"/>
                </a:solidFill>
              </a:rPr>
              <a:t>CFPB masks personal data as XXXX in 62% of texts; the service applies the same mask at intake.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Monitoring: what we can see before the labels arrive</a:t>
            </a:r>
            <a:endParaRPr lang="en-US" sz="2400" dirty="0"/>
          </a:p>
        </p:txBody>
      </p:sp>
      <p:sp>
        <p:nvSpPr>
          <p:cNvPr id="4" name="Shape 1"/>
          <p:cNvSpPr/>
          <p:nvPr/>
        </p:nvSpPr>
        <p:spPr>
          <a:xfrm>
            <a:off x="457200" y="960120"/>
            <a:ext cx="365760" cy="320040"/>
          </a:xfrm>
          <a:prstGeom prst="rect">
            <a:avLst/>
          </a:prstGeom>
          <a:solidFill>
            <a:srgbClr val="2F6F8F"/>
          </a:solidFill>
          <a:ln w="6350">
            <a:solidFill>
              <a:srgbClr val="FFFFFF"/>
            </a:solidFill>
            <a:prstDash val="solid"/>
          </a:ln>
        </p:spPr>
      </p:sp>
      <p:sp>
        <p:nvSpPr>
          <p:cNvPr id="5" name="Text 2"/>
          <p:cNvSpPr txBox="1"/>
          <p:nvPr/>
        </p:nvSpPr>
        <p:spPr>
          <a:xfrm>
            <a:off x="365760"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0</a:t>
            </a:r>
            <a:endParaRPr lang="en-US" sz="900" dirty="0"/>
          </a:p>
        </p:txBody>
      </p:sp>
      <p:sp>
        <p:nvSpPr>
          <p:cNvPr id="6" name="Shape 3"/>
          <p:cNvSpPr/>
          <p:nvPr/>
        </p:nvSpPr>
        <p:spPr>
          <a:xfrm>
            <a:off x="849112" y="960120"/>
            <a:ext cx="365760" cy="320040"/>
          </a:xfrm>
          <a:prstGeom prst="rect">
            <a:avLst/>
          </a:prstGeom>
          <a:solidFill>
            <a:srgbClr val="F5E3CC"/>
          </a:solidFill>
          <a:ln w="6350">
            <a:solidFill>
              <a:srgbClr val="FFFFFF"/>
            </a:solidFill>
            <a:prstDash val="solid"/>
          </a:ln>
        </p:spPr>
      </p:sp>
      <p:sp>
        <p:nvSpPr>
          <p:cNvPr id="7" name="Shape 4"/>
          <p:cNvSpPr/>
          <p:nvPr/>
        </p:nvSpPr>
        <p:spPr>
          <a:xfrm>
            <a:off x="1241024" y="960120"/>
            <a:ext cx="365760" cy="320040"/>
          </a:xfrm>
          <a:prstGeom prst="rect">
            <a:avLst/>
          </a:prstGeom>
          <a:solidFill>
            <a:srgbClr val="F5E3CC"/>
          </a:solidFill>
          <a:ln w="6350">
            <a:solidFill>
              <a:srgbClr val="FFFFFF"/>
            </a:solidFill>
            <a:prstDash val="solid"/>
          </a:ln>
        </p:spPr>
      </p:sp>
      <p:sp>
        <p:nvSpPr>
          <p:cNvPr id="8" name="Shape 5"/>
          <p:cNvSpPr/>
          <p:nvPr/>
        </p:nvSpPr>
        <p:spPr>
          <a:xfrm>
            <a:off x="1632936" y="960120"/>
            <a:ext cx="365760" cy="320040"/>
          </a:xfrm>
          <a:prstGeom prst="rect">
            <a:avLst/>
          </a:prstGeom>
          <a:solidFill>
            <a:srgbClr val="F5E3CC"/>
          </a:solidFill>
          <a:ln w="6350">
            <a:solidFill>
              <a:srgbClr val="FFFFFF"/>
            </a:solidFill>
            <a:prstDash val="solid"/>
          </a:ln>
        </p:spPr>
      </p:sp>
      <p:sp>
        <p:nvSpPr>
          <p:cNvPr id="9" name="Shape 6"/>
          <p:cNvSpPr/>
          <p:nvPr/>
        </p:nvSpPr>
        <p:spPr>
          <a:xfrm>
            <a:off x="2024847" y="960120"/>
            <a:ext cx="365760" cy="320040"/>
          </a:xfrm>
          <a:prstGeom prst="rect">
            <a:avLst/>
          </a:prstGeom>
          <a:solidFill>
            <a:srgbClr val="F5E3CC"/>
          </a:solidFill>
          <a:ln w="6350">
            <a:solidFill>
              <a:srgbClr val="FFFFFF"/>
            </a:solidFill>
            <a:prstDash val="solid"/>
          </a:ln>
        </p:spPr>
      </p:sp>
      <p:sp>
        <p:nvSpPr>
          <p:cNvPr id="10" name="Shape 7"/>
          <p:cNvSpPr/>
          <p:nvPr/>
        </p:nvSpPr>
        <p:spPr>
          <a:xfrm>
            <a:off x="2416759" y="960120"/>
            <a:ext cx="365760" cy="320040"/>
          </a:xfrm>
          <a:prstGeom prst="rect">
            <a:avLst/>
          </a:prstGeom>
          <a:solidFill>
            <a:srgbClr val="F5E3CC"/>
          </a:solidFill>
          <a:ln w="6350">
            <a:solidFill>
              <a:srgbClr val="FFFFFF"/>
            </a:solidFill>
            <a:prstDash val="solid"/>
          </a:ln>
        </p:spPr>
      </p:sp>
      <p:sp>
        <p:nvSpPr>
          <p:cNvPr id="11" name="Text 8"/>
          <p:cNvSpPr txBox="1"/>
          <p:nvPr/>
        </p:nvSpPr>
        <p:spPr>
          <a:xfrm>
            <a:off x="2325319"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5</a:t>
            </a:r>
            <a:endParaRPr lang="en-US" sz="900" dirty="0"/>
          </a:p>
        </p:txBody>
      </p:sp>
      <p:sp>
        <p:nvSpPr>
          <p:cNvPr id="12" name="Shape 9"/>
          <p:cNvSpPr/>
          <p:nvPr/>
        </p:nvSpPr>
        <p:spPr>
          <a:xfrm>
            <a:off x="2808671" y="960120"/>
            <a:ext cx="365760" cy="320040"/>
          </a:xfrm>
          <a:prstGeom prst="rect">
            <a:avLst/>
          </a:prstGeom>
          <a:solidFill>
            <a:srgbClr val="F5E3CC"/>
          </a:solidFill>
          <a:ln w="6350">
            <a:solidFill>
              <a:srgbClr val="FFFFFF"/>
            </a:solidFill>
            <a:prstDash val="solid"/>
          </a:ln>
        </p:spPr>
      </p:sp>
      <p:sp>
        <p:nvSpPr>
          <p:cNvPr id="13" name="Shape 10"/>
          <p:cNvSpPr/>
          <p:nvPr/>
        </p:nvSpPr>
        <p:spPr>
          <a:xfrm>
            <a:off x="3200583" y="960120"/>
            <a:ext cx="365760" cy="320040"/>
          </a:xfrm>
          <a:prstGeom prst="rect">
            <a:avLst/>
          </a:prstGeom>
          <a:solidFill>
            <a:srgbClr val="F5E3CC"/>
          </a:solidFill>
          <a:ln w="6350">
            <a:solidFill>
              <a:srgbClr val="FFFFFF"/>
            </a:solidFill>
            <a:prstDash val="solid"/>
          </a:ln>
        </p:spPr>
      </p:sp>
      <p:sp>
        <p:nvSpPr>
          <p:cNvPr id="14" name="Shape 11"/>
          <p:cNvSpPr/>
          <p:nvPr/>
        </p:nvSpPr>
        <p:spPr>
          <a:xfrm>
            <a:off x="3592495" y="960120"/>
            <a:ext cx="365760" cy="320040"/>
          </a:xfrm>
          <a:prstGeom prst="rect">
            <a:avLst/>
          </a:prstGeom>
          <a:solidFill>
            <a:srgbClr val="F5E3CC"/>
          </a:solidFill>
          <a:ln w="6350">
            <a:solidFill>
              <a:srgbClr val="FFFFFF"/>
            </a:solidFill>
            <a:prstDash val="solid"/>
          </a:ln>
        </p:spPr>
      </p:sp>
      <p:sp>
        <p:nvSpPr>
          <p:cNvPr id="15" name="Shape 12"/>
          <p:cNvSpPr/>
          <p:nvPr/>
        </p:nvSpPr>
        <p:spPr>
          <a:xfrm>
            <a:off x="3984407" y="960120"/>
            <a:ext cx="365760" cy="320040"/>
          </a:xfrm>
          <a:prstGeom prst="rect">
            <a:avLst/>
          </a:prstGeom>
          <a:solidFill>
            <a:srgbClr val="F5E3CC"/>
          </a:solidFill>
          <a:ln w="6350">
            <a:solidFill>
              <a:srgbClr val="FFFFFF"/>
            </a:solidFill>
            <a:prstDash val="solid"/>
          </a:ln>
        </p:spPr>
      </p:sp>
      <p:sp>
        <p:nvSpPr>
          <p:cNvPr id="16" name="Shape 13"/>
          <p:cNvSpPr/>
          <p:nvPr/>
        </p:nvSpPr>
        <p:spPr>
          <a:xfrm>
            <a:off x="4376318" y="960120"/>
            <a:ext cx="365760" cy="320040"/>
          </a:xfrm>
          <a:prstGeom prst="rect">
            <a:avLst/>
          </a:prstGeom>
          <a:solidFill>
            <a:srgbClr val="F5E3CC"/>
          </a:solidFill>
          <a:ln w="6350">
            <a:solidFill>
              <a:srgbClr val="FFFFFF"/>
            </a:solidFill>
            <a:prstDash val="solid"/>
          </a:ln>
        </p:spPr>
      </p:sp>
      <p:sp>
        <p:nvSpPr>
          <p:cNvPr id="17" name="Text 14"/>
          <p:cNvSpPr txBox="1"/>
          <p:nvPr/>
        </p:nvSpPr>
        <p:spPr>
          <a:xfrm>
            <a:off x="4284878"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10</a:t>
            </a:r>
            <a:endParaRPr lang="en-US" sz="900" dirty="0"/>
          </a:p>
        </p:txBody>
      </p:sp>
      <p:sp>
        <p:nvSpPr>
          <p:cNvPr id="18" name="Shape 15"/>
          <p:cNvSpPr/>
          <p:nvPr/>
        </p:nvSpPr>
        <p:spPr>
          <a:xfrm>
            <a:off x="4768230" y="960120"/>
            <a:ext cx="365760" cy="320040"/>
          </a:xfrm>
          <a:prstGeom prst="rect">
            <a:avLst/>
          </a:prstGeom>
          <a:solidFill>
            <a:srgbClr val="F5E3CC"/>
          </a:solidFill>
          <a:ln w="6350">
            <a:solidFill>
              <a:srgbClr val="FFFFFF"/>
            </a:solidFill>
            <a:prstDash val="solid"/>
          </a:ln>
        </p:spPr>
      </p:sp>
      <p:sp>
        <p:nvSpPr>
          <p:cNvPr id="19" name="Shape 16"/>
          <p:cNvSpPr/>
          <p:nvPr/>
        </p:nvSpPr>
        <p:spPr>
          <a:xfrm>
            <a:off x="5160142" y="960120"/>
            <a:ext cx="365760" cy="320040"/>
          </a:xfrm>
          <a:prstGeom prst="rect">
            <a:avLst/>
          </a:prstGeom>
          <a:solidFill>
            <a:srgbClr val="F5E3CC"/>
          </a:solidFill>
          <a:ln w="6350">
            <a:solidFill>
              <a:srgbClr val="FFFFFF"/>
            </a:solidFill>
            <a:prstDash val="solid"/>
          </a:ln>
        </p:spPr>
      </p:sp>
      <p:sp>
        <p:nvSpPr>
          <p:cNvPr id="20" name="Shape 17"/>
          <p:cNvSpPr/>
          <p:nvPr/>
        </p:nvSpPr>
        <p:spPr>
          <a:xfrm>
            <a:off x="5552054" y="960120"/>
            <a:ext cx="365760" cy="320040"/>
          </a:xfrm>
          <a:prstGeom prst="rect">
            <a:avLst/>
          </a:prstGeom>
          <a:solidFill>
            <a:srgbClr val="F5E3CC"/>
          </a:solidFill>
          <a:ln w="6350">
            <a:solidFill>
              <a:srgbClr val="FFFFFF"/>
            </a:solidFill>
            <a:prstDash val="solid"/>
          </a:ln>
        </p:spPr>
      </p:sp>
      <p:sp>
        <p:nvSpPr>
          <p:cNvPr id="21" name="Shape 18"/>
          <p:cNvSpPr/>
          <p:nvPr/>
        </p:nvSpPr>
        <p:spPr>
          <a:xfrm>
            <a:off x="5943966" y="960120"/>
            <a:ext cx="365760" cy="320040"/>
          </a:xfrm>
          <a:prstGeom prst="rect">
            <a:avLst/>
          </a:prstGeom>
          <a:solidFill>
            <a:srgbClr val="F5E3CC"/>
          </a:solidFill>
          <a:ln w="6350">
            <a:solidFill>
              <a:srgbClr val="FFFFFF"/>
            </a:solidFill>
            <a:prstDash val="solid"/>
          </a:ln>
        </p:spPr>
      </p:sp>
      <p:sp>
        <p:nvSpPr>
          <p:cNvPr id="22" name="Shape 19"/>
          <p:cNvSpPr/>
          <p:nvPr/>
        </p:nvSpPr>
        <p:spPr>
          <a:xfrm>
            <a:off x="6335878" y="960120"/>
            <a:ext cx="365760" cy="320040"/>
          </a:xfrm>
          <a:prstGeom prst="rect">
            <a:avLst/>
          </a:prstGeom>
          <a:solidFill>
            <a:srgbClr val="3F7D4E"/>
          </a:solidFill>
          <a:ln w="6350">
            <a:solidFill>
              <a:srgbClr val="FFFFFF"/>
            </a:solidFill>
            <a:prstDash val="solid"/>
          </a:ln>
        </p:spPr>
      </p:sp>
      <p:sp>
        <p:nvSpPr>
          <p:cNvPr id="23" name="Text 20"/>
          <p:cNvSpPr txBox="1"/>
          <p:nvPr/>
        </p:nvSpPr>
        <p:spPr>
          <a:xfrm>
            <a:off x="6244438"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15</a:t>
            </a:r>
            <a:endParaRPr lang="en-US" sz="900" dirty="0"/>
          </a:p>
        </p:txBody>
      </p:sp>
      <p:sp>
        <p:nvSpPr>
          <p:cNvPr id="24" name="Shape 21"/>
          <p:cNvSpPr/>
          <p:nvPr/>
        </p:nvSpPr>
        <p:spPr>
          <a:xfrm>
            <a:off x="6727789" y="960120"/>
            <a:ext cx="365760" cy="320040"/>
          </a:xfrm>
          <a:prstGeom prst="rect">
            <a:avLst/>
          </a:prstGeom>
          <a:solidFill>
            <a:srgbClr val="3F7D4E"/>
          </a:solidFill>
          <a:ln w="6350">
            <a:solidFill>
              <a:srgbClr val="FFFFFF"/>
            </a:solidFill>
            <a:prstDash val="solid"/>
          </a:ln>
        </p:spPr>
      </p:sp>
      <p:sp>
        <p:nvSpPr>
          <p:cNvPr id="25" name="Shape 22"/>
          <p:cNvSpPr/>
          <p:nvPr/>
        </p:nvSpPr>
        <p:spPr>
          <a:xfrm>
            <a:off x="7119701" y="960120"/>
            <a:ext cx="365760" cy="320040"/>
          </a:xfrm>
          <a:prstGeom prst="rect">
            <a:avLst/>
          </a:prstGeom>
          <a:solidFill>
            <a:srgbClr val="3F7D4E"/>
          </a:solidFill>
          <a:ln w="6350">
            <a:solidFill>
              <a:srgbClr val="FFFFFF"/>
            </a:solidFill>
            <a:prstDash val="solid"/>
          </a:ln>
        </p:spPr>
      </p:sp>
      <p:sp>
        <p:nvSpPr>
          <p:cNvPr id="26" name="Shape 23"/>
          <p:cNvSpPr/>
          <p:nvPr/>
        </p:nvSpPr>
        <p:spPr>
          <a:xfrm>
            <a:off x="7511613" y="960120"/>
            <a:ext cx="365760" cy="320040"/>
          </a:xfrm>
          <a:prstGeom prst="rect">
            <a:avLst/>
          </a:prstGeom>
          <a:solidFill>
            <a:srgbClr val="3F7D4E"/>
          </a:solidFill>
          <a:ln w="6350">
            <a:solidFill>
              <a:srgbClr val="FFFFFF"/>
            </a:solidFill>
            <a:prstDash val="solid"/>
          </a:ln>
        </p:spPr>
      </p:sp>
      <p:sp>
        <p:nvSpPr>
          <p:cNvPr id="27" name="Shape 24"/>
          <p:cNvSpPr/>
          <p:nvPr/>
        </p:nvSpPr>
        <p:spPr>
          <a:xfrm>
            <a:off x="7903525" y="960120"/>
            <a:ext cx="365760" cy="320040"/>
          </a:xfrm>
          <a:prstGeom prst="rect">
            <a:avLst/>
          </a:prstGeom>
          <a:solidFill>
            <a:srgbClr val="3F7D4E"/>
          </a:solidFill>
          <a:ln w="6350">
            <a:solidFill>
              <a:srgbClr val="FFFFFF"/>
            </a:solidFill>
            <a:prstDash val="solid"/>
          </a:ln>
        </p:spPr>
      </p:sp>
      <p:sp>
        <p:nvSpPr>
          <p:cNvPr id="28" name="Shape 25"/>
          <p:cNvSpPr/>
          <p:nvPr/>
        </p:nvSpPr>
        <p:spPr>
          <a:xfrm>
            <a:off x="8295437" y="960120"/>
            <a:ext cx="365760" cy="320040"/>
          </a:xfrm>
          <a:prstGeom prst="rect">
            <a:avLst/>
          </a:prstGeom>
          <a:solidFill>
            <a:srgbClr val="3F7D4E"/>
          </a:solidFill>
          <a:ln w="6350">
            <a:solidFill>
              <a:srgbClr val="FFFFFF"/>
            </a:solidFill>
            <a:prstDash val="solid"/>
          </a:ln>
        </p:spPr>
      </p:sp>
      <p:sp>
        <p:nvSpPr>
          <p:cNvPr id="29" name="Text 26"/>
          <p:cNvSpPr txBox="1"/>
          <p:nvPr/>
        </p:nvSpPr>
        <p:spPr>
          <a:xfrm>
            <a:off x="8203997"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20</a:t>
            </a:r>
            <a:endParaRPr lang="en-US" sz="900" dirty="0"/>
          </a:p>
        </p:txBody>
      </p:sp>
      <p:sp>
        <p:nvSpPr>
          <p:cNvPr id="30" name="Shape 27"/>
          <p:cNvSpPr/>
          <p:nvPr/>
        </p:nvSpPr>
        <p:spPr>
          <a:xfrm>
            <a:off x="457200" y="1645920"/>
            <a:ext cx="5120640" cy="2926080"/>
          </a:xfrm>
          <a:prstGeom prst="roundRect">
            <a:avLst>
              <a:gd name="adj" fmla="val 1875"/>
            </a:avLst>
          </a:prstGeom>
          <a:solidFill>
            <a:schemeClr val="bg2"/>
          </a:solidFill>
          <a:ln w="9525">
            <a:solidFill>
              <a:schemeClr val="bg2"/>
            </a:solidFill>
            <a:prstDash val="solid"/>
          </a:ln>
        </p:spPr>
      </p:sp>
      <p:sp>
        <p:nvSpPr>
          <p:cNvPr id="31" name="Text 28"/>
          <p:cNvSpPr txBox="1"/>
          <p:nvPr/>
        </p:nvSpPr>
        <p:spPr>
          <a:xfrm>
            <a:off x="594360" y="1737360"/>
            <a:ext cx="4846320" cy="256032"/>
          </a:xfrm>
          <a:prstGeom prst="rect">
            <a:avLst/>
          </a:prstGeom>
          <a:noFill/>
          <a:ln/>
        </p:spPr>
        <p:txBody>
          <a:bodyPr wrap="square" lIns="0" tIns="0" rIns="0" bIns="0" rtlCol="0" anchor="t"/>
          <a:lstStyle/>
          <a:p>
            <a:pPr indent="0" marL="0">
              <a:buNone/>
            </a:pPr>
            <a:r>
              <a:rPr lang="en-US" sz="1300" b="1" dirty="0">
                <a:solidFill>
                  <a:schemeClr val="accent1"/>
                </a:solidFill>
              </a:rPr>
              <a:t>Visible from day 0 (proxies)</a:t>
            </a:r>
            <a:endParaRPr lang="en-US" sz="1300" dirty="0"/>
          </a:p>
        </p:txBody>
      </p:sp>
      <p:sp>
        <p:nvSpPr>
          <p:cNvPr id="32" name="Text 29"/>
          <p:cNvSpPr txBox="1"/>
          <p:nvPr/>
        </p:nvSpPr>
        <p:spPr>
          <a:xfrm>
            <a:off x="594360" y="2029968"/>
            <a:ext cx="4846320" cy="2468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Prediction drift: PSI of class mix &gt; 0.2</a:t>
            </a:r>
            <a:endParaRPr lang="en-US" sz="1150" dirty="0"/>
          </a:p>
          <a:p>
            <a:pPr marL="342900" indent="-342900">
              <a:spcAft>
                <a:spcPts val="400"/>
              </a:spcAft>
              <a:buSzPct val="100000"/>
              <a:buChar char="•"/>
            </a:pPr>
            <a:r>
              <a:rPr lang="en-US" sz="1150" dirty="0">
                <a:solidFill>
                  <a:schemeClr val="tx1"/>
                </a:solidFill>
              </a:rPr>
              <a:t>Input drift: OOV-token rate +50%, text length, channel mix</a:t>
            </a:r>
            <a:endParaRPr lang="en-US" sz="1150" dirty="0"/>
          </a:p>
          <a:p>
            <a:pPr marL="342900" indent="-342900">
              <a:spcAft>
                <a:spcPts val="400"/>
              </a:spcAft>
              <a:buSzPct val="100000"/>
              <a:buChar char="•"/>
            </a:pPr>
            <a:r>
              <a:rPr lang="en-US" sz="1150" dirty="0">
                <a:solidFill>
                  <a:schemeClr val="tx1"/>
                </a:solidFill>
              </a:rPr>
              <a:t>Confidence: mean max-prob −0.05, auto share &lt; 50%</a:t>
            </a:r>
            <a:endParaRPr lang="en-US" sz="1150" dirty="0"/>
          </a:p>
          <a:p>
            <a:pPr marL="342900" indent="-342900">
              <a:spcAft>
                <a:spcPts val="400"/>
              </a:spcAft>
              <a:buSzPct val="100000"/>
              <a:buChar char="•"/>
            </a:pPr>
            <a:r>
              <a:rPr lang="en-US" sz="1150" dirty="0">
                <a:solidFill>
                  <a:schemeClr val="tx1"/>
                </a:solidFill>
              </a:rPr>
              <a:t>Skew: unmatched company names &gt; 15%</a:t>
            </a:r>
            <a:endParaRPr lang="en-US" sz="1150" dirty="0"/>
          </a:p>
          <a:p>
            <a:pPr marL="342900" indent="-342900">
              <a:spcAft>
                <a:spcPts val="400"/>
              </a:spcAft>
              <a:buSzPct val="100000"/>
              <a:buChar char="•"/>
            </a:pPr>
            <a:r>
              <a:rPr lang="en-US" sz="1150" dirty="0">
                <a:solidFill>
                  <a:schemeClr val="tx1"/>
                </a:solidFill>
              </a:rPr>
              <a:t>Service: p95 &gt; 300 ms or 5xx &gt; 1% for 5 min</a:t>
            </a:r>
            <a:endParaRPr lang="en-US" sz="1150" dirty="0"/>
          </a:p>
          <a:p>
            <a:pPr marL="342900" indent="-342900">
              <a:spcAft>
                <a:spcPts val="400"/>
              </a:spcAft>
              <a:buSzPct val="100000"/>
              <a:buChar char="•"/>
            </a:pPr>
            <a:r>
              <a:rPr lang="en-US" sz="1150" dirty="0">
                <a:solidFill>
                  <a:schemeClr val="tx1"/>
                </a:solidFill>
              </a:rPr>
              <a:t>Data: newest row &gt; 3 days old; row count equal to previous interval; text share &lt; ½ reference</a:t>
            </a:r>
            <a:endParaRPr lang="en-US" sz="1150" dirty="0"/>
          </a:p>
        </p:txBody>
      </p:sp>
      <p:sp>
        <p:nvSpPr>
          <p:cNvPr id="33" name="Shape 30"/>
          <p:cNvSpPr/>
          <p:nvPr/>
        </p:nvSpPr>
        <p:spPr>
          <a:xfrm>
            <a:off x="5760720" y="1645920"/>
            <a:ext cx="2926080" cy="2926080"/>
          </a:xfrm>
          <a:prstGeom prst="roundRect">
            <a:avLst>
              <a:gd name="adj" fmla="val 1875"/>
            </a:avLst>
          </a:prstGeom>
          <a:solidFill>
            <a:srgbClr val="E8F2EA"/>
          </a:solidFill>
          <a:ln w="9525">
            <a:solidFill>
              <a:srgbClr val="E8F2EA"/>
            </a:solidFill>
            <a:prstDash val="solid"/>
          </a:ln>
        </p:spPr>
      </p:sp>
      <p:sp>
        <p:nvSpPr>
          <p:cNvPr id="34" name="Text 31"/>
          <p:cNvSpPr txBox="1"/>
          <p:nvPr/>
        </p:nvSpPr>
        <p:spPr>
          <a:xfrm>
            <a:off x="5897880" y="1737360"/>
            <a:ext cx="2651760" cy="256032"/>
          </a:xfrm>
          <a:prstGeom prst="rect">
            <a:avLst/>
          </a:prstGeom>
          <a:noFill/>
          <a:ln/>
        </p:spPr>
        <p:txBody>
          <a:bodyPr wrap="square" lIns="0" tIns="0" rIns="0" bIns="0" rtlCol="0" anchor="t"/>
          <a:lstStyle/>
          <a:p>
            <a:pPr indent="0" marL="0">
              <a:buNone/>
            </a:pPr>
            <a:r>
              <a:rPr lang="en-US" sz="1300" b="1" dirty="0">
                <a:solidFill>
                  <a:schemeClr val="accent4"/>
                </a:solidFill>
              </a:rPr>
              <a:t>From day 15 (labels)</a:t>
            </a:r>
            <a:endParaRPr lang="en-US" sz="1300" dirty="0"/>
          </a:p>
        </p:txBody>
      </p:sp>
      <p:sp>
        <p:nvSpPr>
          <p:cNvPr id="35" name="Text 32"/>
          <p:cNvSpPr txBox="1"/>
          <p:nvPr/>
        </p:nvSpPr>
        <p:spPr>
          <a:xfrm>
            <a:off x="5897880" y="2029968"/>
            <a:ext cx="2651760" cy="18288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macro-F1 &lt; 0.75 or a class recall −10 pp → alert + retrain trigger</a:t>
            </a:r>
            <a:endParaRPr lang="en-US" sz="1150" dirty="0"/>
          </a:p>
          <a:p>
            <a:pPr marL="342900" indent="-342900">
              <a:spcAft>
                <a:spcPts val="400"/>
              </a:spcAft>
              <a:buSzPct val="100000"/>
              <a:buChar char="•"/>
            </a:pPr>
            <a:r>
              <a:rPr lang="en-US" sz="1150" dirty="0">
                <a:solidFill>
                  <a:schemeClr val="tx1"/>
                </a:solidFill>
              </a:rPr>
              <a:t>Real misrouting rate (business metric)</a:t>
            </a:r>
            <a:endParaRPr lang="en-US" sz="1150" dirty="0"/>
          </a:p>
          <a:p>
            <a:pPr marL="342900" indent="-342900">
              <a:spcAft>
                <a:spcPts val="400"/>
              </a:spcAft>
              <a:buSzPct val="100000"/>
              <a:buChar char="•"/>
            </a:pPr>
            <a:r>
              <a:rPr lang="en-US" sz="1150" dirty="0">
                <a:solidFill>
                  <a:schemeClr val="tx1"/>
                </a:solidFill>
              </a:rPr>
              <a:t>Concept drift: same words, different correct product</a:t>
            </a:r>
            <a:endParaRPr lang="en-US" sz="1150" dirty="0"/>
          </a:p>
        </p:txBody>
      </p:sp>
      <p:sp>
        <p:nvSpPr>
          <p:cNvPr id="36" name="Text 33"/>
          <p:cNvSpPr txBox="1"/>
          <p:nvPr/>
        </p:nvSpPr>
        <p:spPr>
          <a:xfrm>
            <a:off x="5897880" y="3931920"/>
            <a:ext cx="2651760" cy="548640"/>
          </a:xfrm>
          <a:prstGeom prst="rect">
            <a:avLst/>
          </a:prstGeom>
          <a:noFill/>
          <a:ln/>
        </p:spPr>
        <p:txBody>
          <a:bodyPr wrap="square" lIns="0" tIns="0" rIns="0" bIns="0" rtlCol="0" anchor="t"/>
          <a:lstStyle/>
          <a:p>
            <a:pPr indent="0" marL="0">
              <a:buNone/>
            </a:pPr>
            <a:r>
              <a:rPr lang="en-US" sz="1000" i="1" dirty="0">
                <a:solidFill>
                  <a:schemeClr val="accent5"/>
                </a:solidFill>
              </a:rPr>
              <a:t>Alerts: Grafana e-mail to the ML on-call, acknowledged within 1 business day.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Runs on a laptop; every component has a priced cloud twin</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5120640" cy="914400"/>
        </p:xfrm>
        <a:graphic>
          <a:graphicData uri="http://schemas.openxmlformats.org/drawingml/2006/table">
            <a:tbl>
              <a:tblPr/>
              <a:tblGrid>
                <a:gridCol w="1828800"/>
                <a:gridCol w="2194560"/>
                <a:gridCol w="1097280"/>
              </a:tblGrid>
              <a:tr h="329184">
                <a:tc>
                  <a:txBody>
                    <a:bodyPr/>
                    <a:lstStyle/>
                    <a:p>
                      <a:pPr indent="0" marL="0">
                        <a:buNone/>
                      </a:pPr>
                      <a:r>
                        <a:rPr lang="en-US" sz="1100" b="1" dirty="0">
                          <a:solidFill>
                            <a:schemeClr val="bg1"/>
                          </a:solidFill>
                        </a:rPr>
                        <a:t>Local (pinned)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AWS equivalent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 / month</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329184">
                <a:tc>
                  <a:txBody>
                    <a:bodyPr/>
                    <a:lstStyle/>
                    <a:p>
                      <a:pPr indent="0" marL="0">
                        <a:buNone/>
                      </a:pPr>
                      <a:r>
                        <a:rPr lang="en-US" sz="1100" dirty="0">
                          <a:solidFill>
                            <a:schemeClr val="tx1"/>
                          </a:solidFill>
                        </a:rPr>
                        <a:t>MinIO (S3 API)</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S3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PostgreSQL 16</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RDS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15</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Airflow 3.3.1</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MWAA</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250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MLflow 3.16.1</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SageMaker with MLflow</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150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FastAPI on Minikube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EKS + ECR</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136</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Prometheus + Grafana</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CloudWatch</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15</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Evidently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EKS CronJob</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pgvector (Lab 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OpenSearch Serverless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175</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LLM (Lab 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Bedrock</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160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Text 1"/>
          <p:cNvSpPr txBox="1"/>
          <p:nvPr/>
        </p:nvSpPr>
        <p:spPr>
          <a:xfrm>
            <a:off x="5897880" y="960120"/>
            <a:ext cx="2743200" cy="502920"/>
          </a:xfrm>
          <a:prstGeom prst="rect">
            <a:avLst/>
          </a:prstGeom>
          <a:noFill/>
          <a:ln/>
        </p:spPr>
        <p:txBody>
          <a:bodyPr wrap="square" lIns="0" tIns="0" rIns="0" bIns="0" rtlCol="0" anchor="t"/>
          <a:lstStyle/>
          <a:p>
            <a:pPr indent="0" marL="0">
              <a:buNone/>
            </a:pPr>
            <a:r>
              <a:rPr lang="en-US" sz="3000" b="1" dirty="0">
                <a:solidFill>
                  <a:schemeClr val="accent3"/>
                </a:solidFill>
              </a:rPr>
              <a:t>$904</a:t>
            </a:r>
            <a:endParaRPr lang="en-US" sz="3000" dirty="0"/>
          </a:p>
        </p:txBody>
      </p:sp>
      <p:sp>
        <p:nvSpPr>
          <p:cNvPr id="6" name="Text 2"/>
          <p:cNvSpPr txBox="1"/>
          <p:nvPr/>
        </p:nvSpPr>
        <p:spPr>
          <a:xfrm>
            <a:off x="5897880" y="1463040"/>
            <a:ext cx="2743200" cy="457200"/>
          </a:xfrm>
          <a:prstGeom prst="rect">
            <a:avLst/>
          </a:prstGeom>
          <a:noFill/>
          <a:ln/>
        </p:spPr>
        <p:txBody>
          <a:bodyPr wrap="square" lIns="0" tIns="0" rIns="0" bIns="0" rtlCol="0" anchor="t"/>
          <a:lstStyle/>
          <a:p>
            <a:pPr indent="0" marL="0">
              <a:buNone/>
            </a:pPr>
            <a:r>
              <a:rPr lang="en-US" sz="1200" dirty="0">
                <a:solidFill>
                  <a:schemeClr val="accent5"/>
                </a:solidFill>
              </a:rPr>
              <a:t>estimated AWS cost per month</a:t>
            </a:r>
            <a:endParaRPr lang="en-US" sz="1200" dirty="0"/>
          </a:p>
        </p:txBody>
      </p:sp>
      <p:sp>
        <p:nvSpPr>
          <p:cNvPr id="7" name="Text 3"/>
          <p:cNvSpPr txBox="1"/>
          <p:nvPr/>
        </p:nvSpPr>
        <p:spPr>
          <a:xfrm>
            <a:off x="5897880" y="1965960"/>
            <a:ext cx="2743200" cy="502920"/>
          </a:xfrm>
          <a:prstGeom prst="rect">
            <a:avLst/>
          </a:prstGeom>
          <a:noFill/>
          <a:ln/>
        </p:spPr>
        <p:txBody>
          <a:bodyPr wrap="square" lIns="0" tIns="0" rIns="0" bIns="0" rtlCol="0" anchor="t"/>
          <a:lstStyle/>
          <a:p>
            <a:pPr indent="0" marL="0">
              <a:buNone/>
            </a:pPr>
            <a:r>
              <a:rPr lang="en-US" sz="3000" b="1" dirty="0">
                <a:solidFill>
                  <a:schemeClr val="tx1"/>
                </a:solidFill>
              </a:rPr>
              <a:t>$800</a:t>
            </a:r>
            <a:endParaRPr lang="en-US" sz="3000" dirty="0"/>
          </a:p>
        </p:txBody>
      </p:sp>
      <p:sp>
        <p:nvSpPr>
          <p:cNvPr id="8" name="Text 4"/>
          <p:cNvSpPr txBox="1"/>
          <p:nvPr/>
        </p:nvSpPr>
        <p:spPr>
          <a:xfrm>
            <a:off x="5897880" y="2468880"/>
            <a:ext cx="2743200" cy="457200"/>
          </a:xfrm>
          <a:prstGeom prst="rect">
            <a:avLst/>
          </a:prstGeom>
          <a:noFill/>
          <a:ln/>
        </p:spPr>
        <p:txBody>
          <a:bodyPr wrap="square" lIns="0" tIns="0" rIns="0" bIns="0" rtlCol="0" anchor="t"/>
          <a:lstStyle/>
          <a:p>
            <a:pPr indent="0" marL="0">
              <a:buNone/>
            </a:pPr>
            <a:r>
              <a:rPr lang="en-US" sz="1200" dirty="0">
                <a:solidFill>
                  <a:schemeClr val="accent5"/>
                </a:solidFill>
              </a:rPr>
              <a:t>ceiling set in section 4</a:t>
            </a:r>
            <a:endParaRPr lang="en-US" sz="1200" dirty="0"/>
          </a:p>
        </p:txBody>
      </p:sp>
      <p:sp>
        <p:nvSpPr>
          <p:cNvPr id="9" name="Text 5"/>
          <p:cNvSpPr txBox="1"/>
          <p:nvPr/>
        </p:nvSpPr>
        <p:spPr>
          <a:xfrm>
            <a:off x="5897880" y="2971800"/>
            <a:ext cx="2743200" cy="502920"/>
          </a:xfrm>
          <a:prstGeom prst="rect">
            <a:avLst/>
          </a:prstGeom>
          <a:noFill/>
          <a:ln/>
        </p:spPr>
        <p:txBody>
          <a:bodyPr wrap="square" lIns="0" tIns="0" rIns="0" bIns="0" rtlCol="0" anchor="t"/>
          <a:lstStyle/>
          <a:p>
            <a:pPr indent="0" marL="0">
              <a:buNone/>
            </a:pPr>
            <a:r>
              <a:rPr lang="en-US" sz="3000" b="1" dirty="0">
                <a:solidFill>
                  <a:schemeClr val="accent4"/>
                </a:solidFill>
              </a:rPr>
              <a:t>$729</a:t>
            </a:r>
            <a:endParaRPr lang="en-US" sz="3000" dirty="0"/>
          </a:p>
        </p:txBody>
      </p:sp>
      <p:sp>
        <p:nvSpPr>
          <p:cNvPr id="10" name="Text 6"/>
          <p:cNvSpPr txBox="1"/>
          <p:nvPr/>
        </p:nvSpPr>
        <p:spPr>
          <a:xfrm>
            <a:off x="5897880" y="3474720"/>
            <a:ext cx="2743200" cy="457200"/>
          </a:xfrm>
          <a:prstGeom prst="rect">
            <a:avLst/>
          </a:prstGeom>
          <a:noFill/>
          <a:ln/>
        </p:spPr>
        <p:txBody>
          <a:bodyPr wrap="square" lIns="0" tIns="0" rIns="0" bIns="0" rtlCol="0" anchor="t"/>
          <a:lstStyle/>
          <a:p>
            <a:pPr indent="0" marL="0">
              <a:buNone/>
            </a:pPr>
            <a:r>
              <a:rPr lang="en-US" sz="1200" dirty="0">
                <a:solidFill>
                  <a:schemeClr val="accent5"/>
                </a:solidFill>
              </a:rPr>
              <a:t>with pgvector in RDS instead of OpenSearch</a:t>
            </a:r>
            <a:endParaRPr lang="en-US" sz="1200" dirty="0"/>
          </a:p>
        </p:txBody>
      </p:sp>
      <p:sp>
        <p:nvSpPr>
          <p:cNvPr id="11" name="Text 7"/>
          <p:cNvSpPr txBox="1"/>
          <p:nvPr/>
        </p:nvSpPr>
        <p:spPr>
          <a:xfrm>
            <a:off x="5897880" y="4069080"/>
            <a:ext cx="2743200" cy="457200"/>
          </a:xfrm>
          <a:prstGeom prst="rect">
            <a:avLst/>
          </a:prstGeom>
          <a:noFill/>
          <a:ln/>
        </p:spPr>
        <p:txBody>
          <a:bodyPr wrap="square" lIns="0" tIns="0" rIns="0" bIns="0" rtlCol="0" anchor="t"/>
          <a:lstStyle/>
          <a:p>
            <a:pPr indent="0" marL="0">
              <a:buNone/>
            </a:pPr>
            <a:r>
              <a:rPr lang="en-US" sz="1000" i="1" dirty="0">
                <a:solidFill>
                  <a:schemeClr val="accent5"/>
                </a:solidFill>
              </a:rPr>
              <a:t>Nothing is run in the cloud; naming and pricing is the requirement.</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Known risks, each with its answer</a:t>
            </a:r>
            <a:endParaRPr lang="en-US" sz="2400" dirty="0"/>
          </a:p>
        </p:txBody>
      </p:sp>
      <p:sp>
        <p:nvSpPr>
          <p:cNvPr id="4" name="Shape 1"/>
          <p:cNvSpPr/>
          <p:nvPr/>
        </p:nvSpPr>
        <p:spPr>
          <a:xfrm>
            <a:off x="457200" y="960120"/>
            <a:ext cx="2606040" cy="1627632"/>
          </a:xfrm>
          <a:prstGeom prst="roundRect">
            <a:avLst>
              <a:gd name="adj" fmla="val 3371"/>
            </a:avLst>
          </a:prstGeom>
          <a:solidFill>
            <a:srgbClr val="FBEDEC"/>
          </a:solidFill>
          <a:ln w="9525">
            <a:solidFill>
              <a:srgbClr val="FBEDEC"/>
            </a:solidFill>
            <a:prstDash val="solid"/>
          </a:ln>
        </p:spPr>
      </p:sp>
      <p:sp>
        <p:nvSpPr>
          <p:cNvPr id="5" name="Text 2"/>
          <p:cNvSpPr txBox="1"/>
          <p:nvPr/>
        </p:nvSpPr>
        <p:spPr>
          <a:xfrm>
            <a:off x="594360" y="1069848"/>
            <a:ext cx="2331720" cy="457200"/>
          </a:xfrm>
          <a:prstGeom prst="rect">
            <a:avLst/>
          </a:prstGeom>
          <a:noFill/>
          <a:ln/>
        </p:spPr>
        <p:txBody>
          <a:bodyPr wrap="square" lIns="0" tIns="0" rIns="0" bIns="0" rtlCol="0" anchor="t"/>
          <a:lstStyle/>
          <a:p>
            <a:pPr indent="0" marL="0">
              <a:buNone/>
            </a:pPr>
            <a:r>
              <a:rPr lang="en-US" sz="1300" b="1" dirty="0">
                <a:solidFill>
                  <a:schemeClr val="accent3"/>
                </a:solidFill>
              </a:rPr>
              <a:t>Text source stopped (2026)</a:t>
            </a:r>
            <a:endParaRPr lang="en-US" sz="1300" dirty="0"/>
          </a:p>
        </p:txBody>
      </p:sp>
      <p:sp>
        <p:nvSpPr>
          <p:cNvPr id="6" name="Text 3"/>
          <p:cNvSpPr txBox="1"/>
          <p:nvPr/>
        </p:nvSpPr>
        <p:spPr>
          <a:xfrm>
            <a:off x="594360" y="1554480"/>
            <a:ext cx="2331720" cy="640080"/>
          </a:xfrm>
          <a:prstGeom prst="rect">
            <a:avLst/>
          </a:prstGeom>
          <a:noFill/>
          <a:ln/>
        </p:spPr>
        <p:txBody>
          <a:bodyPr wrap="square" lIns="0" tIns="0" rIns="0" bIns="0" rtlCol="0" anchor="t"/>
          <a:lstStyle/>
          <a:p>
            <a:pPr indent="0" marL="0">
              <a:buNone/>
            </a:pPr>
            <a:r>
              <a:rPr lang="en-US" sz="1150" dirty="0">
                <a:solidFill>
                  <a:schemeClr val="tx1"/>
                </a:solidFill>
              </a:rPr>
              <a:t>Versioned snapshot in DVC; monthly replay</a:t>
            </a:r>
            <a:endParaRPr lang="en-US" sz="1150" dirty="0"/>
          </a:p>
        </p:txBody>
      </p:sp>
      <p:sp>
        <p:nvSpPr>
          <p:cNvPr id="7" name="Text 4"/>
          <p:cNvSpPr txBox="1"/>
          <p:nvPr/>
        </p:nvSpPr>
        <p:spPr>
          <a:xfrm>
            <a:off x="594360" y="225856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2</a:t>
            </a:r>
            <a:endParaRPr lang="en-US" sz="1000" dirty="0"/>
          </a:p>
        </p:txBody>
      </p:sp>
      <p:sp>
        <p:nvSpPr>
          <p:cNvPr id="8" name="Shape 5"/>
          <p:cNvSpPr/>
          <p:nvPr/>
        </p:nvSpPr>
        <p:spPr>
          <a:xfrm>
            <a:off x="3246120" y="960120"/>
            <a:ext cx="2606040" cy="1627632"/>
          </a:xfrm>
          <a:prstGeom prst="roundRect">
            <a:avLst>
              <a:gd name="adj" fmla="val 3371"/>
            </a:avLst>
          </a:prstGeom>
          <a:solidFill>
            <a:schemeClr val="bg2"/>
          </a:solidFill>
          <a:ln w="9525">
            <a:solidFill>
              <a:schemeClr val="bg2"/>
            </a:solidFill>
            <a:prstDash val="solid"/>
          </a:ln>
        </p:spPr>
      </p:sp>
      <p:sp>
        <p:nvSpPr>
          <p:cNvPr id="9" name="Text 6"/>
          <p:cNvSpPr txBox="1"/>
          <p:nvPr/>
        </p:nvSpPr>
        <p:spPr>
          <a:xfrm>
            <a:off x="3383280" y="1069848"/>
            <a:ext cx="2331720" cy="457200"/>
          </a:xfrm>
          <a:prstGeom prst="rect">
            <a:avLst/>
          </a:prstGeom>
          <a:noFill/>
          <a:ln/>
        </p:spPr>
        <p:txBody>
          <a:bodyPr wrap="square" lIns="0" tIns="0" rIns="0" bIns="0" rtlCol="0" anchor="t"/>
          <a:lstStyle/>
          <a:p>
            <a:pPr indent="0" marL="0">
              <a:buNone/>
            </a:pPr>
            <a:r>
              <a:rPr lang="en-US" sz="1300" b="1" dirty="0">
                <a:solidFill>
                  <a:schemeClr val="tx1"/>
                </a:solidFill>
              </a:rPr>
              <a:t>Taxonomy change</a:t>
            </a:r>
            <a:endParaRPr lang="en-US" sz="1300" dirty="0"/>
          </a:p>
        </p:txBody>
      </p:sp>
      <p:sp>
        <p:nvSpPr>
          <p:cNvPr id="10" name="Text 7"/>
          <p:cNvSpPr txBox="1"/>
          <p:nvPr/>
        </p:nvSpPr>
        <p:spPr>
          <a:xfrm>
            <a:off x="3383280" y="1554480"/>
            <a:ext cx="2331720" cy="640080"/>
          </a:xfrm>
          <a:prstGeom prst="rect">
            <a:avLst/>
          </a:prstGeom>
          <a:noFill/>
          <a:ln/>
        </p:spPr>
        <p:txBody>
          <a:bodyPr wrap="square" lIns="0" tIns="0" rIns="0" bIns="0" rtlCol="0" anchor="t"/>
          <a:lstStyle/>
          <a:p>
            <a:pPr indent="0" marL="0">
              <a:buNone/>
            </a:pPr>
            <a:r>
              <a:rPr lang="en-US" sz="1150" dirty="0">
                <a:solidFill>
                  <a:schemeClr val="tx1"/>
                </a:solidFill>
              </a:rPr>
              <a:t>taxonomy_map.csv; unmapped product fails the gate</a:t>
            </a:r>
            <a:endParaRPr lang="en-US" sz="1150" dirty="0"/>
          </a:p>
        </p:txBody>
      </p:sp>
      <p:sp>
        <p:nvSpPr>
          <p:cNvPr id="11" name="Text 8"/>
          <p:cNvSpPr txBox="1"/>
          <p:nvPr/>
        </p:nvSpPr>
        <p:spPr>
          <a:xfrm>
            <a:off x="3383280" y="225856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2</a:t>
            </a:r>
            <a:endParaRPr lang="en-US" sz="1000" dirty="0"/>
          </a:p>
        </p:txBody>
      </p:sp>
      <p:sp>
        <p:nvSpPr>
          <p:cNvPr id="12" name="Shape 9"/>
          <p:cNvSpPr/>
          <p:nvPr/>
        </p:nvSpPr>
        <p:spPr>
          <a:xfrm>
            <a:off x="6035040" y="960120"/>
            <a:ext cx="2606040" cy="1627632"/>
          </a:xfrm>
          <a:prstGeom prst="roundRect">
            <a:avLst>
              <a:gd name="adj" fmla="val 3371"/>
            </a:avLst>
          </a:prstGeom>
          <a:solidFill>
            <a:schemeClr val="bg2"/>
          </a:solidFill>
          <a:ln w="9525">
            <a:solidFill>
              <a:schemeClr val="bg2"/>
            </a:solidFill>
            <a:prstDash val="solid"/>
          </a:ln>
        </p:spPr>
      </p:sp>
      <p:sp>
        <p:nvSpPr>
          <p:cNvPr id="13" name="Text 10"/>
          <p:cNvSpPr txBox="1"/>
          <p:nvPr/>
        </p:nvSpPr>
        <p:spPr>
          <a:xfrm>
            <a:off x="6172200" y="1069848"/>
            <a:ext cx="2331720" cy="457200"/>
          </a:xfrm>
          <a:prstGeom prst="rect">
            <a:avLst/>
          </a:prstGeom>
          <a:noFill/>
          <a:ln/>
        </p:spPr>
        <p:txBody>
          <a:bodyPr wrap="square" lIns="0" tIns="0" rIns="0" bIns="0" rtlCol="0" anchor="t"/>
          <a:lstStyle/>
          <a:p>
            <a:pPr indent="0" marL="0">
              <a:buNone/>
            </a:pPr>
            <a:r>
              <a:rPr lang="en-US" sz="1300" b="1" dirty="0">
                <a:solidFill>
                  <a:schemeClr val="tx1"/>
                </a:solidFill>
              </a:rPr>
              <a:t>Training/serving skew</a:t>
            </a:r>
            <a:endParaRPr lang="en-US" sz="1300" dirty="0"/>
          </a:p>
        </p:txBody>
      </p:sp>
      <p:sp>
        <p:nvSpPr>
          <p:cNvPr id="14" name="Text 11"/>
          <p:cNvSpPr txBox="1"/>
          <p:nvPr/>
        </p:nvSpPr>
        <p:spPr>
          <a:xfrm>
            <a:off x="6172200" y="1554480"/>
            <a:ext cx="2331720" cy="640080"/>
          </a:xfrm>
          <a:prstGeom prst="rect">
            <a:avLst/>
          </a:prstGeom>
          <a:noFill/>
          <a:ln/>
        </p:spPr>
        <p:txBody>
          <a:bodyPr wrap="square" lIns="0" tIns="0" rIns="0" bIns="0" rtlCol="0" anchor="t"/>
          <a:lstStyle/>
          <a:p>
            <a:pPr indent="0" marL="0">
              <a:buNone/>
            </a:pPr>
            <a:r>
              <a:rPr lang="en-US" sz="1150" dirty="0">
                <a:solidFill>
                  <a:schemeClr val="tx1"/>
                </a:solidFill>
              </a:rPr>
              <a:t>preprocess() inside the model; unmatched-name alert</a:t>
            </a:r>
            <a:endParaRPr lang="en-US" sz="1150" dirty="0"/>
          </a:p>
        </p:txBody>
      </p:sp>
      <p:sp>
        <p:nvSpPr>
          <p:cNvPr id="15" name="Text 12"/>
          <p:cNvSpPr txBox="1"/>
          <p:nvPr/>
        </p:nvSpPr>
        <p:spPr>
          <a:xfrm>
            <a:off x="6172200" y="225856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Labs 2, 4</a:t>
            </a:r>
            <a:endParaRPr lang="en-US" sz="1000" dirty="0"/>
          </a:p>
        </p:txBody>
      </p:sp>
      <p:sp>
        <p:nvSpPr>
          <p:cNvPr id="16" name="Shape 13"/>
          <p:cNvSpPr/>
          <p:nvPr/>
        </p:nvSpPr>
        <p:spPr>
          <a:xfrm>
            <a:off x="457200" y="2743200"/>
            <a:ext cx="2606040" cy="1627632"/>
          </a:xfrm>
          <a:prstGeom prst="roundRect">
            <a:avLst>
              <a:gd name="adj" fmla="val 3371"/>
            </a:avLst>
          </a:prstGeom>
          <a:solidFill>
            <a:schemeClr val="bg2"/>
          </a:solidFill>
          <a:ln w="9525">
            <a:solidFill>
              <a:schemeClr val="bg2"/>
            </a:solidFill>
            <a:prstDash val="solid"/>
          </a:ln>
        </p:spPr>
      </p:sp>
      <p:sp>
        <p:nvSpPr>
          <p:cNvPr id="17" name="Text 14"/>
          <p:cNvSpPr txBox="1"/>
          <p:nvPr/>
        </p:nvSpPr>
        <p:spPr>
          <a:xfrm>
            <a:off x="594360" y="2852928"/>
            <a:ext cx="2331720" cy="457200"/>
          </a:xfrm>
          <a:prstGeom prst="rect">
            <a:avLst/>
          </a:prstGeom>
          <a:noFill/>
          <a:ln/>
        </p:spPr>
        <p:txBody>
          <a:bodyPr wrap="square" lIns="0" tIns="0" rIns="0" bIns="0" rtlCol="0" anchor="t"/>
          <a:lstStyle/>
          <a:p>
            <a:pPr indent="0" marL="0">
              <a:buNone/>
            </a:pPr>
            <a:r>
              <a:rPr lang="en-US" sz="1300" b="1" dirty="0">
                <a:solidFill>
                  <a:schemeClr val="tx1"/>
                </a:solidFill>
              </a:rPr>
              <a:t>15 days without labels</a:t>
            </a:r>
            <a:endParaRPr lang="en-US" sz="1300" dirty="0"/>
          </a:p>
        </p:txBody>
      </p:sp>
      <p:sp>
        <p:nvSpPr>
          <p:cNvPr id="18" name="Text 15"/>
          <p:cNvSpPr txBox="1"/>
          <p:nvPr/>
        </p:nvSpPr>
        <p:spPr>
          <a:xfrm>
            <a:off x="594360" y="3337560"/>
            <a:ext cx="2331720" cy="640080"/>
          </a:xfrm>
          <a:prstGeom prst="rect">
            <a:avLst/>
          </a:prstGeom>
          <a:noFill/>
          <a:ln/>
        </p:spPr>
        <p:txBody>
          <a:bodyPr wrap="square" lIns="0" tIns="0" rIns="0" bIns="0" rtlCol="0" anchor="t"/>
          <a:lstStyle/>
          <a:p>
            <a:pPr indent="0" marL="0">
              <a:buNone/>
            </a:pPr>
            <a:r>
              <a:rPr lang="en-US" sz="1150" dirty="0">
                <a:solidFill>
                  <a:schemeClr val="tx1"/>
                </a:solidFill>
              </a:rPr>
              <a:t>Drift, confidence and override proxies</a:t>
            </a:r>
            <a:endParaRPr lang="en-US" sz="1150" dirty="0"/>
          </a:p>
        </p:txBody>
      </p:sp>
      <p:sp>
        <p:nvSpPr>
          <p:cNvPr id="19" name="Text 16"/>
          <p:cNvSpPr txBox="1"/>
          <p:nvPr/>
        </p:nvSpPr>
        <p:spPr>
          <a:xfrm>
            <a:off x="594360" y="404164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4</a:t>
            </a:r>
            <a:endParaRPr lang="en-US" sz="1000" dirty="0"/>
          </a:p>
        </p:txBody>
      </p:sp>
      <p:sp>
        <p:nvSpPr>
          <p:cNvPr id="20" name="Shape 17"/>
          <p:cNvSpPr/>
          <p:nvPr/>
        </p:nvSpPr>
        <p:spPr>
          <a:xfrm>
            <a:off x="3246120" y="2743200"/>
            <a:ext cx="2606040" cy="1627632"/>
          </a:xfrm>
          <a:prstGeom prst="roundRect">
            <a:avLst>
              <a:gd name="adj" fmla="val 3371"/>
            </a:avLst>
          </a:prstGeom>
          <a:solidFill>
            <a:schemeClr val="bg2"/>
          </a:solidFill>
          <a:ln w="9525">
            <a:solidFill>
              <a:schemeClr val="bg2"/>
            </a:solidFill>
            <a:prstDash val="solid"/>
          </a:ln>
        </p:spPr>
      </p:sp>
      <p:sp>
        <p:nvSpPr>
          <p:cNvPr id="21" name="Text 18"/>
          <p:cNvSpPr txBox="1"/>
          <p:nvPr/>
        </p:nvSpPr>
        <p:spPr>
          <a:xfrm>
            <a:off x="3383280" y="2852928"/>
            <a:ext cx="2331720" cy="457200"/>
          </a:xfrm>
          <a:prstGeom prst="rect">
            <a:avLst/>
          </a:prstGeom>
          <a:noFill/>
          <a:ln/>
        </p:spPr>
        <p:txBody>
          <a:bodyPr wrap="square" lIns="0" tIns="0" rIns="0" bIns="0" rtlCol="0" anchor="t"/>
          <a:lstStyle/>
          <a:p>
            <a:pPr indent="0" marL="0">
              <a:buNone/>
            </a:pPr>
            <a:r>
              <a:rPr lang="en-US" sz="1300" b="1" dirty="0">
                <a:solidFill>
                  <a:schemeClr val="tx1"/>
                </a:solidFill>
              </a:rPr>
              <a:t>4 GB laptop cluster</a:t>
            </a:r>
            <a:endParaRPr lang="en-US" sz="1300" dirty="0"/>
          </a:p>
        </p:txBody>
      </p:sp>
      <p:sp>
        <p:nvSpPr>
          <p:cNvPr id="22" name="Text 19"/>
          <p:cNvSpPr txBox="1"/>
          <p:nvPr/>
        </p:nvSpPr>
        <p:spPr>
          <a:xfrm>
            <a:off x="3383280" y="3337560"/>
            <a:ext cx="2331720" cy="640080"/>
          </a:xfrm>
          <a:prstGeom prst="rect">
            <a:avLst/>
          </a:prstGeom>
          <a:noFill/>
          <a:ln/>
        </p:spPr>
        <p:txBody>
          <a:bodyPr wrap="square" lIns="0" tIns="0" rIns="0" bIns="0" rtlCol="0" anchor="t"/>
          <a:lstStyle/>
          <a:p>
            <a:pPr indent="0" marL="0">
              <a:buNone/>
            </a:pPr>
            <a:r>
              <a:rPr lang="en-US" sz="1150" dirty="0">
                <a:solidFill>
                  <a:schemeClr val="tx1"/>
                </a:solidFill>
              </a:rPr>
              <a:t>Linear model, LocalExecutor, hosted LLM</a:t>
            </a:r>
            <a:endParaRPr lang="en-US" sz="1150" dirty="0"/>
          </a:p>
        </p:txBody>
      </p:sp>
      <p:sp>
        <p:nvSpPr>
          <p:cNvPr id="23" name="Text 20"/>
          <p:cNvSpPr txBox="1"/>
          <p:nvPr/>
        </p:nvSpPr>
        <p:spPr>
          <a:xfrm>
            <a:off x="3383280" y="404164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4</a:t>
            </a:r>
            <a:endParaRPr lang="en-US" sz="1000" dirty="0"/>
          </a:p>
        </p:txBody>
      </p:sp>
      <p:sp>
        <p:nvSpPr>
          <p:cNvPr id="24" name="Shape 21"/>
          <p:cNvSpPr/>
          <p:nvPr/>
        </p:nvSpPr>
        <p:spPr>
          <a:xfrm>
            <a:off x="6035040" y="2743200"/>
            <a:ext cx="2606040" cy="1627632"/>
          </a:xfrm>
          <a:prstGeom prst="roundRect">
            <a:avLst>
              <a:gd name="adj" fmla="val 3371"/>
            </a:avLst>
          </a:prstGeom>
          <a:solidFill>
            <a:schemeClr val="bg2"/>
          </a:solidFill>
          <a:ln w="9525">
            <a:solidFill>
              <a:schemeClr val="bg2"/>
            </a:solidFill>
            <a:prstDash val="solid"/>
          </a:ln>
        </p:spPr>
      </p:sp>
      <p:sp>
        <p:nvSpPr>
          <p:cNvPr id="25" name="Text 22"/>
          <p:cNvSpPr txBox="1"/>
          <p:nvPr/>
        </p:nvSpPr>
        <p:spPr>
          <a:xfrm>
            <a:off x="6172200" y="2852928"/>
            <a:ext cx="2331720" cy="457200"/>
          </a:xfrm>
          <a:prstGeom prst="rect">
            <a:avLst/>
          </a:prstGeom>
          <a:noFill/>
          <a:ln/>
        </p:spPr>
        <p:txBody>
          <a:bodyPr wrap="square" lIns="0" tIns="0" rIns="0" bIns="0" rtlCol="0" anchor="t"/>
          <a:lstStyle/>
          <a:p>
            <a:pPr indent="0" marL="0">
              <a:buNone/>
            </a:pPr>
            <a:r>
              <a:rPr lang="en-US" sz="1300" b="1" dirty="0">
                <a:solidFill>
                  <a:schemeClr val="tx1"/>
                </a:solidFill>
              </a:rPr>
              <a:t>Feedback loop</a:t>
            </a:r>
            <a:endParaRPr lang="en-US" sz="1300" dirty="0"/>
          </a:p>
        </p:txBody>
      </p:sp>
      <p:sp>
        <p:nvSpPr>
          <p:cNvPr id="26" name="Text 23"/>
          <p:cNvSpPr txBox="1"/>
          <p:nvPr/>
        </p:nvSpPr>
        <p:spPr>
          <a:xfrm>
            <a:off x="6172200" y="3337560"/>
            <a:ext cx="2331720" cy="640080"/>
          </a:xfrm>
          <a:prstGeom prst="rect">
            <a:avLst/>
          </a:prstGeom>
          <a:noFill/>
          <a:ln/>
        </p:spPr>
        <p:txBody>
          <a:bodyPr wrap="square" lIns="0" tIns="0" rIns="0" bIns="0" rtlCol="0" anchor="t"/>
          <a:lstStyle/>
          <a:p>
            <a:pPr indent="0" marL="0">
              <a:buNone/>
            </a:pPr>
            <a:r>
              <a:rPr lang="en-US" sz="1150" dirty="0">
                <a:solidFill>
                  <a:schemeClr val="tx1"/>
                </a:solidFill>
              </a:rPr>
              <a:t>Labels from CFPB and overrides, never from predictions</a:t>
            </a:r>
            <a:endParaRPr lang="en-US" sz="1150" dirty="0"/>
          </a:p>
        </p:txBody>
      </p:sp>
      <p:sp>
        <p:nvSpPr>
          <p:cNvPr id="27" name="Text 24"/>
          <p:cNvSpPr txBox="1"/>
          <p:nvPr/>
        </p:nvSpPr>
        <p:spPr>
          <a:xfrm>
            <a:off x="6172200" y="404164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2</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3600" b="1" dirty="0">
                <a:solidFill>
                  <a:schemeClr val="bg1"/>
                </a:solidFill>
              </a:rPr>
              <a:t>Fit with the course</a:t>
            </a:r>
            <a:endParaRPr lang="en-US" sz="3600" dirty="0"/>
          </a:p>
        </p:txBody>
      </p:sp>
      <p:sp>
        <p:nvSpPr>
          <p:cNvPr id="3" name="Text 0"/>
          <p:cNvSpPr/>
          <p:nvPr>
            <p:ph idx="101" type="body" hasCustomPrompt="1"/>
          </p:nvPr>
        </p:nvSpPr>
        <p:spPr>
          <a:xfrm>
            <a:off x="548640" y="2743200"/>
            <a:ext cx="7315200" cy="731520"/>
          </a:xfrm>
          <a:prstGeom prst="rect">
            <a:avLst/>
          </a:prstGeom>
          <a:noFill/>
          <a:ln/>
        </p:spPr>
        <p:txBody>
          <a:bodyPr wrap="square" lIns="0" tIns="0" rIns="0" bIns="0" rtlCol="0" anchor="t"/>
          <a:lstStyle/>
          <a:p>
            <a:pPr indent="0" marL="0">
              <a:buNone/>
            </a:pPr>
            <a:r>
              <a:rPr lang="en-US" sz="1600" dirty="0">
                <a:solidFill>
                  <a:schemeClr val="bg2"/>
                </a:solidFill>
              </a:rPr>
              <a:t>Can this one project carry all five labs? Lab by lab, what each needs and what this project provides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This project carries all five labs</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417320"/>
                <a:gridCol w="2514600"/>
                <a:gridCol w="3657600"/>
                <a:gridCol w="640080"/>
              </a:tblGrid>
              <a:tr h="0">
                <a:tc>
                  <a:txBody>
                    <a:bodyPr/>
                    <a:lstStyle/>
                    <a:p>
                      <a:pPr indent="0" marL="0">
                        <a:buNone/>
                      </a:pPr>
                      <a:r>
                        <a:rPr lang="en-US" sz="1100" b="1" dirty="0">
                          <a:solidFill>
                            <a:schemeClr val="bg1"/>
                          </a:solidFill>
                        </a:rPr>
                        <a:t>Lab</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What the lab needs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What this project provides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Fit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100" b="1" dirty="0">
                          <a:solidFill>
                            <a:schemeClr val="tx1"/>
                          </a:solidFill>
                        </a:rPr>
                        <a:t>1 · Design</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Use case, data justification, 3 diagrams, repo with CI</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design.md, data profile, 200-row sample, taxonomy map, green CI, tag lab-1</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Done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2 · Data + MLflow</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Batches over time, held-out period, a bad batch for the gate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Monthly replay of 3.8 M texts; time split; a real bad batch: 2026 months without text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3 · LLM + retrieval</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 task for an LLM baseline; a corpus to retrieve from</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Zero-shot LLM vs TF-IDF on 1,000 test texts; Ask CFPB + eCFR for cited rationales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4 · Serving + drift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Servable model, real drift, known label delay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Small model on FastAPI; replay of 2023-08 taxonomy change and the credit-reporting surge; 15-day delay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5 · Agent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Operational tasks an agent can do and be scored on</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Read drift reports, compare challenger vs champion (5.4 rule), draft the promotion note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Shape 1"/>
          <p:cNvSpPr/>
          <p:nvPr/>
        </p:nvSpPr>
        <p:spPr>
          <a:xfrm>
            <a:off x="457200" y="3977640"/>
            <a:ext cx="8229600" cy="594360"/>
          </a:xfrm>
          <a:prstGeom prst="roundRect">
            <a:avLst>
              <a:gd name="adj" fmla="val 9231"/>
            </a:avLst>
          </a:prstGeom>
          <a:solidFill>
            <a:srgbClr val="FBF0E3"/>
          </a:solidFill>
          <a:ln w="9525">
            <a:solidFill>
              <a:srgbClr val="FBF0E3"/>
            </a:solidFill>
            <a:prstDash val="solid"/>
          </a:ln>
        </p:spPr>
      </p:sp>
      <p:sp>
        <p:nvSpPr>
          <p:cNvPr id="6" name="Text 2"/>
          <p:cNvSpPr txBox="1"/>
          <p:nvPr/>
        </p:nvSpPr>
        <p:spPr>
          <a:xfrm>
            <a:off x="594360" y="4041648"/>
            <a:ext cx="7955280" cy="475488"/>
          </a:xfrm>
          <a:prstGeom prst="rect">
            <a:avLst/>
          </a:prstGeom>
          <a:noFill/>
          <a:ln/>
        </p:spPr>
        <p:txBody>
          <a:bodyPr wrap="square" lIns="0" tIns="0" rIns="0" bIns="0" rtlCol="0" anchor="ctr"/>
          <a:lstStyle/>
          <a:p>
            <a:pPr indent="0" marL="0">
              <a:buNone/>
            </a:pPr>
            <a:r>
              <a:rPr lang="en-US" sz="1200" b="1" dirty="0">
                <a:solidFill>
                  <a:schemeClr val="accent1"/>
                </a:solidFill>
              </a:rPr>
              <a:t>One caveat, stated in design.md §5.2 and §6.9: </a:t>
            </a:r>
            <a:pPr indent="0" marL="0">
              <a:buNone/>
            </a:pPr>
            <a:r>
              <a:rPr lang="en-US" sz="1200" dirty="0">
                <a:solidFill>
                  <a:schemeClr val="tx1"/>
                </a:solidFill>
              </a:rPr>
              <a:t>no new complaint text after 2025, so “new” text batches are replayed history. The daily structured export still exercises freshness and volume checks.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t"/>
          <a:lstStyle/>
          <a:p>
            <a:pPr algn="l" indent="0" marL="0">
              <a:buNone/>
            </a:pPr>
            <a:r>
              <a:rPr lang="en-US" sz="2400" b="1" dirty="0">
                <a:solidFill>
                  <a:schemeClr val="tx1"/>
                </a:solidFill>
              </a:rPr>
              <a:t>What a reviewer can check today, and what comes next</a:t>
            </a:r>
            <a:endParaRPr lang="en-US" sz="2400" dirty="0"/>
          </a:p>
        </p:txBody>
      </p:sp>
      <p:sp>
        <p:nvSpPr>
          <p:cNvPr id="4" name="Shape 1"/>
          <p:cNvSpPr/>
          <p:nvPr/>
        </p:nvSpPr>
        <p:spPr>
          <a:xfrm>
            <a:off x="457200" y="960120"/>
            <a:ext cx="3977640" cy="3611880"/>
          </a:xfrm>
          <a:prstGeom prst="roundRect">
            <a:avLst>
              <a:gd name="adj" fmla="val 1519"/>
            </a:avLst>
          </a:prstGeom>
          <a:solidFill>
            <a:schemeClr val="bg2"/>
          </a:solidFill>
          <a:ln w="9525">
            <a:solidFill>
              <a:schemeClr val="bg2"/>
            </a:solidFill>
            <a:prstDash val="solid"/>
          </a:ln>
        </p:spPr>
      </p:sp>
      <p:sp>
        <p:nvSpPr>
          <p:cNvPr id="5" name="Text 2"/>
          <p:cNvSpPr txBox="1"/>
          <p:nvPr/>
        </p:nvSpPr>
        <p:spPr>
          <a:xfrm>
            <a:off x="594360" y="1051560"/>
            <a:ext cx="3749040" cy="274320"/>
          </a:xfrm>
          <a:prstGeom prst="rect">
            <a:avLst/>
          </a:prstGeom>
          <a:noFill/>
          <a:ln/>
        </p:spPr>
        <p:txBody>
          <a:bodyPr wrap="square" lIns="0" tIns="0" rIns="0" bIns="0" rtlCol="0" anchor="t"/>
          <a:lstStyle/>
          <a:p>
            <a:pPr indent="0" marL="0">
              <a:buNone/>
            </a:pPr>
            <a:r>
              <a:rPr lang="en-US" sz="1400" b="1" dirty="0">
                <a:solidFill>
                  <a:schemeClr val="accent2"/>
                </a:solidFill>
              </a:rPr>
              <a:t>In the repository now</a:t>
            </a:r>
            <a:endParaRPr lang="en-US" sz="1400" dirty="0"/>
          </a:p>
        </p:txBody>
      </p:sp>
      <p:sp>
        <p:nvSpPr>
          <p:cNvPr id="6" name="Text 3"/>
          <p:cNvSpPr txBox="1"/>
          <p:nvPr/>
        </p:nvSpPr>
        <p:spPr>
          <a:xfrm>
            <a:off x="594360" y="1371600"/>
            <a:ext cx="374904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docs/design.md: all sections 1–7.4, measured or marked as assumptions</a:t>
            </a:r>
            <a:endParaRPr lang="en-US" sz="1200" dirty="0"/>
          </a:p>
          <a:p>
            <a:pPr marL="342900" indent="-342900">
              <a:spcAft>
                <a:spcPts val="500"/>
              </a:spcAft>
              <a:buSzPct val="100000"/>
              <a:buChar char="•"/>
            </a:pPr>
            <a:r>
              <a:rPr lang="en-US" sz="1200" dirty="0">
                <a:solidFill>
                  <a:schemeClr val="tx1"/>
                </a:solidFill>
              </a:rPr>
              <a:t>docs/data-profile.md + scripts/profile_data.py</a:t>
            </a:r>
            <a:endParaRPr lang="en-US" sz="1200" dirty="0"/>
          </a:p>
          <a:p>
            <a:pPr marL="342900" indent="-342900">
              <a:spcAft>
                <a:spcPts val="500"/>
              </a:spcAft>
              <a:buSzPct val="100000"/>
              <a:buChar char="•"/>
            </a:pPr>
            <a:r>
              <a:rPr lang="en-US" sz="1200" dirty="0">
                <a:solidFill>
                  <a:schemeClr val="tx1"/>
                </a:solidFill>
              </a:rPr>
              <a:t>data/sample/complaints_sample.csv: 200 real rows</a:t>
            </a:r>
            <a:endParaRPr lang="en-US" sz="1200" dirty="0"/>
          </a:p>
          <a:p>
            <a:pPr marL="342900" indent="-342900">
              <a:spcAft>
                <a:spcPts val="500"/>
              </a:spcAft>
              <a:buSzPct val="100000"/>
              <a:buChar char="•"/>
            </a:pPr>
            <a:r>
              <a:rPr lang="en-US" sz="1200" dirty="0">
                <a:solidFill>
                  <a:schemeClr val="tx1"/>
                </a:solidFill>
              </a:rPr>
              <a:t>configs/taxonomy_map.csv: 20 names → 10 classes</a:t>
            </a:r>
            <a:endParaRPr lang="en-US" sz="1200" dirty="0"/>
          </a:p>
          <a:p>
            <a:pPr marL="342900" indent="-342900">
              <a:spcAft>
                <a:spcPts val="500"/>
              </a:spcAft>
              <a:buSzPct val="100000"/>
              <a:buChar char="•"/>
            </a:pPr>
            <a:r>
              <a:rPr lang="en-US" sz="1200" dirty="0">
                <a:solidFill>
                  <a:schemeClr val="tx1"/>
                </a:solidFill>
              </a:rPr>
              <a:t>pyproject.toml + uv.lock, Makefile (setup, lint), pre-commit, CI</a:t>
            </a:r>
            <a:endParaRPr lang="en-US" sz="1200" dirty="0"/>
          </a:p>
          <a:p>
            <a:pPr marL="342900" indent="-342900">
              <a:spcAft>
                <a:spcPts val="500"/>
              </a:spcAft>
              <a:buSzPct val="100000"/>
              <a:buChar char="•"/>
            </a:pPr>
            <a:r>
              <a:rPr lang="en-US" sz="1200" dirty="0">
                <a:solidFill>
                  <a:schemeClr val="tx1"/>
                </a:solidFill>
              </a:rPr>
              <a:t>docs/presentation: this deck</a:t>
            </a:r>
            <a:endParaRPr lang="en-US" sz="1200" dirty="0"/>
          </a:p>
        </p:txBody>
      </p:sp>
      <p:sp>
        <p:nvSpPr>
          <p:cNvPr id="7" name="Shape 4"/>
          <p:cNvSpPr/>
          <p:nvPr/>
        </p:nvSpPr>
        <p:spPr>
          <a:xfrm>
            <a:off x="4663440" y="1069848"/>
            <a:ext cx="548640" cy="548640"/>
          </a:xfrm>
          <a:prstGeom prst="ellipse">
            <a:avLst/>
          </a:prstGeom>
          <a:solidFill>
            <a:schemeClr val="accent2"/>
          </a:solidFill>
          <a:ln w="12700">
            <a:solidFill>
              <a:srgbClr val="2F6F8F"/>
            </a:solidFill>
            <a:prstDash val="solid"/>
          </a:ln>
        </p:spPr>
      </p:sp>
      <p:sp>
        <p:nvSpPr>
          <p:cNvPr id="8" name="Text 5"/>
          <p:cNvSpPr txBox="1"/>
          <p:nvPr/>
        </p:nvSpPr>
        <p:spPr>
          <a:xfrm>
            <a:off x="4663440" y="10698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6"/>
          <p:cNvSpPr txBox="1"/>
          <p:nvPr/>
        </p:nvSpPr>
        <p:spPr>
          <a:xfrm>
            <a:off x="5394960" y="1051560"/>
            <a:ext cx="3291840" cy="256032"/>
          </a:xfrm>
          <a:prstGeom prst="rect">
            <a:avLst/>
          </a:prstGeom>
          <a:noFill/>
          <a:ln/>
        </p:spPr>
        <p:txBody>
          <a:bodyPr wrap="square" lIns="0" tIns="0" rIns="0" bIns="0" rtlCol="0" anchor="t"/>
          <a:lstStyle/>
          <a:p>
            <a:pPr indent="0" marL="0">
              <a:buNone/>
            </a:pPr>
            <a:r>
              <a:rPr lang="en-US" sz="1300" b="1" dirty="0">
                <a:solidFill>
                  <a:schemeClr val="tx1"/>
                </a:solidFill>
              </a:rPr>
              <a:t>Lab 2</a:t>
            </a:r>
            <a:endParaRPr lang="en-US" sz="1300" dirty="0"/>
          </a:p>
        </p:txBody>
      </p:sp>
      <p:sp>
        <p:nvSpPr>
          <p:cNvPr id="10" name="Text 7"/>
          <p:cNvSpPr txBox="1"/>
          <p:nvPr/>
        </p:nvSpPr>
        <p:spPr>
          <a:xfrm>
            <a:off x="5394960" y="1325880"/>
            <a:ext cx="3291840" cy="411480"/>
          </a:xfrm>
          <a:prstGeom prst="rect">
            <a:avLst/>
          </a:prstGeom>
          <a:noFill/>
          <a:ln/>
        </p:spPr>
        <p:txBody>
          <a:bodyPr wrap="square" lIns="0" tIns="0" rIns="0" bIns="0" rtlCol="0" anchor="t"/>
          <a:lstStyle/>
          <a:p>
            <a:pPr indent="0" marL="0">
              <a:buNone/>
            </a:pPr>
            <a:r>
              <a:rPr lang="en-US" sz="1200" dirty="0">
                <a:solidFill>
                  <a:schemeClr val="accent5"/>
                </a:solidFill>
              </a:rPr>
              <a:t>Pipeline, DVC, quality gate, baselines in MLflow</a:t>
            </a:r>
            <a:endParaRPr lang="en-US" sz="1200" dirty="0"/>
          </a:p>
        </p:txBody>
      </p:sp>
      <p:sp>
        <p:nvSpPr>
          <p:cNvPr id="11" name="Shape 8"/>
          <p:cNvSpPr/>
          <p:nvPr/>
        </p:nvSpPr>
        <p:spPr>
          <a:xfrm>
            <a:off x="4663440" y="1984248"/>
            <a:ext cx="548640" cy="548640"/>
          </a:xfrm>
          <a:prstGeom prst="ellipse">
            <a:avLst/>
          </a:prstGeom>
          <a:solidFill>
            <a:schemeClr val="accent2"/>
          </a:solidFill>
          <a:ln w="12700">
            <a:solidFill>
              <a:srgbClr val="2F6F8F"/>
            </a:solidFill>
            <a:prstDash val="solid"/>
          </a:ln>
        </p:spPr>
      </p:sp>
      <p:sp>
        <p:nvSpPr>
          <p:cNvPr id="12" name="Text 9"/>
          <p:cNvSpPr txBox="1"/>
          <p:nvPr/>
        </p:nvSpPr>
        <p:spPr>
          <a:xfrm>
            <a:off x="4663440" y="19842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0"/>
          <p:cNvSpPr txBox="1"/>
          <p:nvPr/>
        </p:nvSpPr>
        <p:spPr>
          <a:xfrm>
            <a:off x="5394960" y="1965960"/>
            <a:ext cx="3291840" cy="256032"/>
          </a:xfrm>
          <a:prstGeom prst="rect">
            <a:avLst/>
          </a:prstGeom>
          <a:noFill/>
          <a:ln/>
        </p:spPr>
        <p:txBody>
          <a:bodyPr wrap="square" lIns="0" tIns="0" rIns="0" bIns="0" rtlCol="0" anchor="t"/>
          <a:lstStyle/>
          <a:p>
            <a:pPr indent="0" marL="0">
              <a:buNone/>
            </a:pPr>
            <a:r>
              <a:rPr lang="en-US" sz="1300" b="1" dirty="0">
                <a:solidFill>
                  <a:schemeClr val="tx1"/>
                </a:solidFill>
              </a:rPr>
              <a:t>Lab 3</a:t>
            </a:r>
            <a:endParaRPr lang="en-US" sz="1300" dirty="0"/>
          </a:p>
        </p:txBody>
      </p:sp>
      <p:sp>
        <p:nvSpPr>
          <p:cNvPr id="14" name="Text 11"/>
          <p:cNvSpPr txBox="1"/>
          <p:nvPr/>
        </p:nvSpPr>
        <p:spPr>
          <a:xfrm>
            <a:off x="5394960" y="2240280"/>
            <a:ext cx="3291840" cy="411480"/>
          </a:xfrm>
          <a:prstGeom prst="rect">
            <a:avLst/>
          </a:prstGeom>
          <a:noFill/>
          <a:ln/>
        </p:spPr>
        <p:txBody>
          <a:bodyPr wrap="square" lIns="0" tIns="0" rIns="0" bIns="0" rtlCol="0" anchor="t"/>
          <a:lstStyle/>
          <a:p>
            <a:pPr indent="0" marL="0">
              <a:buNone/>
            </a:pPr>
            <a:r>
              <a:rPr lang="en-US" sz="1200" dirty="0">
                <a:solidFill>
                  <a:schemeClr val="accent5"/>
                </a:solidFill>
              </a:rPr>
              <a:t>LLM baseline vs TF-IDF; retrieval with citations</a:t>
            </a:r>
            <a:endParaRPr lang="en-US" sz="1200" dirty="0"/>
          </a:p>
        </p:txBody>
      </p:sp>
      <p:sp>
        <p:nvSpPr>
          <p:cNvPr id="15" name="Shape 12"/>
          <p:cNvSpPr/>
          <p:nvPr/>
        </p:nvSpPr>
        <p:spPr>
          <a:xfrm>
            <a:off x="4663440" y="2898648"/>
            <a:ext cx="548640" cy="548640"/>
          </a:xfrm>
          <a:prstGeom prst="ellipse">
            <a:avLst/>
          </a:prstGeom>
          <a:solidFill>
            <a:schemeClr val="accent2"/>
          </a:solidFill>
          <a:ln w="12700">
            <a:solidFill>
              <a:srgbClr val="2F6F8F"/>
            </a:solidFill>
            <a:prstDash val="solid"/>
          </a:ln>
        </p:spPr>
      </p:sp>
      <p:sp>
        <p:nvSpPr>
          <p:cNvPr id="16" name="Text 13"/>
          <p:cNvSpPr txBox="1"/>
          <p:nvPr/>
        </p:nvSpPr>
        <p:spPr>
          <a:xfrm>
            <a:off x="4663440" y="28986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4"/>
          <p:cNvSpPr txBox="1"/>
          <p:nvPr/>
        </p:nvSpPr>
        <p:spPr>
          <a:xfrm>
            <a:off x="5394960" y="2880360"/>
            <a:ext cx="3291840" cy="256032"/>
          </a:xfrm>
          <a:prstGeom prst="rect">
            <a:avLst/>
          </a:prstGeom>
          <a:noFill/>
          <a:ln/>
        </p:spPr>
        <p:txBody>
          <a:bodyPr wrap="square" lIns="0" tIns="0" rIns="0" bIns="0" rtlCol="0" anchor="t"/>
          <a:lstStyle/>
          <a:p>
            <a:pPr indent="0" marL="0">
              <a:buNone/>
            </a:pPr>
            <a:r>
              <a:rPr lang="en-US" sz="1300" b="1" dirty="0">
                <a:solidFill>
                  <a:schemeClr val="tx1"/>
                </a:solidFill>
              </a:rPr>
              <a:t>Lab 4</a:t>
            </a:r>
            <a:endParaRPr lang="en-US" sz="1300" dirty="0"/>
          </a:p>
        </p:txBody>
      </p:sp>
      <p:sp>
        <p:nvSpPr>
          <p:cNvPr id="18" name="Text 15"/>
          <p:cNvSpPr txBox="1"/>
          <p:nvPr/>
        </p:nvSpPr>
        <p:spPr>
          <a:xfrm>
            <a:off x="5394960" y="3154680"/>
            <a:ext cx="3291840" cy="411480"/>
          </a:xfrm>
          <a:prstGeom prst="rect">
            <a:avLst/>
          </a:prstGeom>
          <a:noFill/>
          <a:ln/>
        </p:spPr>
        <p:txBody>
          <a:bodyPr wrap="square" lIns="0" tIns="0" rIns="0" bIns="0" rtlCol="0" anchor="t"/>
          <a:lstStyle/>
          <a:p>
            <a:pPr indent="0" marL="0">
              <a:buNone/>
            </a:pPr>
            <a:r>
              <a:rPr lang="en-US" sz="1200" dirty="0">
                <a:solidFill>
                  <a:schemeClr val="accent5"/>
                </a:solidFill>
              </a:rPr>
              <a:t>FastAPI on Minikube, Evidently, Grafana, drift alert</a:t>
            </a:r>
            <a:endParaRPr lang="en-US" sz="1200" dirty="0"/>
          </a:p>
        </p:txBody>
      </p:sp>
      <p:sp>
        <p:nvSpPr>
          <p:cNvPr id="19" name="Shape 16"/>
          <p:cNvSpPr/>
          <p:nvPr/>
        </p:nvSpPr>
        <p:spPr>
          <a:xfrm>
            <a:off x="4663440" y="3813048"/>
            <a:ext cx="548640" cy="548640"/>
          </a:xfrm>
          <a:prstGeom prst="ellipse">
            <a:avLst/>
          </a:prstGeom>
          <a:solidFill>
            <a:schemeClr val="accent2"/>
          </a:solidFill>
          <a:ln w="12700">
            <a:solidFill>
              <a:srgbClr val="2F6F8F"/>
            </a:solidFill>
            <a:prstDash val="solid"/>
          </a:ln>
        </p:spPr>
      </p:sp>
      <p:sp>
        <p:nvSpPr>
          <p:cNvPr id="20" name="Text 17"/>
          <p:cNvSpPr txBox="1"/>
          <p:nvPr/>
        </p:nvSpPr>
        <p:spPr>
          <a:xfrm>
            <a:off x="4663440" y="38130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8"/>
          <p:cNvSpPr txBox="1"/>
          <p:nvPr/>
        </p:nvSpPr>
        <p:spPr>
          <a:xfrm>
            <a:off x="5394960" y="3794760"/>
            <a:ext cx="3291840" cy="256032"/>
          </a:xfrm>
          <a:prstGeom prst="rect">
            <a:avLst/>
          </a:prstGeom>
          <a:noFill/>
          <a:ln/>
        </p:spPr>
        <p:txBody>
          <a:bodyPr wrap="square" lIns="0" tIns="0" rIns="0" bIns="0" rtlCol="0" anchor="t"/>
          <a:lstStyle/>
          <a:p>
            <a:pPr indent="0" marL="0">
              <a:buNone/>
            </a:pPr>
            <a:r>
              <a:rPr lang="en-US" sz="1300" b="1" dirty="0">
                <a:solidFill>
                  <a:schemeClr val="tx1"/>
                </a:solidFill>
              </a:rPr>
              <a:t>Lab 5</a:t>
            </a:r>
            <a:endParaRPr lang="en-US" sz="1300" dirty="0"/>
          </a:p>
        </p:txBody>
      </p:sp>
      <p:sp>
        <p:nvSpPr>
          <p:cNvPr id="22" name="Text 19"/>
          <p:cNvSpPr txBox="1"/>
          <p:nvPr/>
        </p:nvSpPr>
        <p:spPr>
          <a:xfrm>
            <a:off x="5394960" y="4069080"/>
            <a:ext cx="3291840" cy="411480"/>
          </a:xfrm>
          <a:prstGeom prst="rect">
            <a:avLst/>
          </a:prstGeom>
          <a:noFill/>
          <a:ln/>
        </p:spPr>
        <p:txBody>
          <a:bodyPr wrap="square" lIns="0" tIns="0" rIns="0" bIns="0" rtlCol="0" anchor="t"/>
          <a:lstStyle/>
          <a:p>
            <a:pPr indent="0" marL="0">
              <a:buNone/>
            </a:pPr>
            <a:r>
              <a:rPr lang="en-US" sz="1200" dirty="0">
                <a:solidFill>
                  <a:schemeClr val="accent5"/>
                </a:solidFill>
              </a:rPr>
              <a:t>Agent runs the playbook; human approves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Complaint Router">
  <a:themeElements>
    <a:clrScheme name="Complaint Router">
      <a:dk1>
        <a:srgbClr val="1C2733"/>
      </a:dk1>
      <a:lt1>
        <a:srgbClr val="FFFFFF"/>
      </a:lt1>
      <a:dk2>
        <a:srgbClr val="2A3B4D"/>
      </a:dk2>
      <a:lt2>
        <a:srgbClr val="F1F4F7"/>
      </a:lt2>
      <a:accent1>
        <a:srgbClr val="C9741F"/>
      </a:accent1>
      <a:accent2>
        <a:srgbClr val="2F6F8F"/>
      </a:accent2>
      <a:accent3>
        <a:srgbClr val="B3261E"/>
      </a:accent3>
      <a:accent4>
        <a:srgbClr val="3F7D4E"/>
      </a:accent4>
      <a:accent5>
        <a:srgbClr val="6B7785"/>
      </a:accent5>
      <a:accent6>
        <a:srgbClr val="6E5A8C"/>
      </a:accent6>
      <a:hlink>
        <a:srgbClr val="2F6F8F"/>
      </a:hlink>
      <a:folHlink>
        <a:srgbClr val="6E5A8C"/>
      </a:folHlink>
    </a:clrScheme>
    <a:fontScheme name="Complaint 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complaint-router: Lab 1 use case and system design</dc:title>
  <dc:subject>PptxGenJS Presentation</dc:subject>
  <dc:creator>Zakhar Staryk</dc:creator>
  <cp:lastModifiedBy>Zakhar Staryk</cp:lastModifiedBy>
  <cp:revision>1</cp:revision>
  <dcterms:created xsi:type="dcterms:W3CDTF">2026-10-17T09:57:17Z</dcterms:created>
  <dcterms:modified xsi:type="dcterms:W3CDTF">2026-10-17T09:57:17Z</dcterms:modified>
</cp:coreProperties>
</file>