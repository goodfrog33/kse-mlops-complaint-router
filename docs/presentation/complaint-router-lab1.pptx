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e22811e1-078c-bc44-82d6-618eb23d0c7a}">
          <p14:sldIdLst>
            <p14:sldId id="256"/>
            <p14:sldId id="257"/>
            <p14:sldId id="258"/>
            <p14:sldId id="259"/>
            <p14:sldId id="260"/>
            <p14:sldId id="261"/>
          </p14:sldIdLst>
        </p14:section>
        <p14:section name="Data" id="{8758dd18-b789-1e4c-0f76-d8040ca3d137}">
          <p14:sldIdLst>
            <p14:sldId id="262"/>
            <p14:sldId id="263"/>
            <p14:sldId id="264"/>
            <p14:sldId id="265"/>
            <p14:sldId id="266"/>
            <p14:sldId id="267"/>
            <p14:sldId id="268"/>
            <p14:sldId id="269"/>
            <p14:sldId id="270"/>
          </p14:sldIdLst>
        </p14:section>
        <p14:section name="Design" id="{4b243377-a25e-d2b7-ed2a-c8d20824a242}">
          <p14:sldIdLst>
            <p14:sldId id="271"/>
            <p14:sldId id="272"/>
            <p14:sldId id="273"/>
            <p14:sldId id="274"/>
            <p14:sldId id="275"/>
            <p14:sldId id="276"/>
          </p14:sldIdLst>
        </p14:section>
        <p14:section name="Fit with the labs" id="{792b8ca1-0917-f2ec-42de-4da9fd7834d3}">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Credit reporting, % of complaint texts per year</a:t>
            </a:r>
          </a:p>
        </c:rich>
      </c:tx>
      <c:layout/>
      <c:overlay val="0"/>
    </c:title>
    <c:autoTitleDeleted val="0"/>
    <c:plotArea>
      <c:layout/>
      <c:lineChart>
        <c:varyColors val="0"/>
        <c:ser>
          <c:idx val="0"/>
          <c:order val="0"/>
          <c:tx>
            <c:strRef>
              <c:f>Sheet1!$B$1</c:f>
              <c:strCache>
                <c:ptCount val="1"/>
                <c:pt idx="0">
                  <c:v>Credit reporting share of narratives, %</c:v>
                </c:pt>
              </c:strCache>
            </c:strRef>
          </c:tx>
          <c:spPr>
            <a:solidFill>
              <a:srgbClr val="2F6F8F"/>
            </a:solidFill>
            <a:ln w="31750" cap="flat">
              <a:solidFill>
                <a:srgbClr val="2F6F8F"/>
              </a:solidFill>
              <a:prstDash val="solid"/>
              <a:round/>
            </a:ln>
            <a:effectLst/>
          </c:spPr>
          <c:invertIfNegative val="0"/>
          <c:dLbls>
            <c:numFmt formatCode="0" sourceLinked="0"/>
            <c:txPr>
              <a:bodyPr/>
              <a:lstStyle/>
              <a:p>
                <a:pPr>
                  <a:defRPr b="0" i="0" strike="noStrike" sz="1000" u="none">
                    <a:solidFill>
                      <a:srgbClr val="1C2733"/>
                    </a:solidFill>
                    <a:latin typeface="+mn-lt"/>
                  </a:defRPr>
                </a:pPr>
              </a:p>
            </c:txPr>
            <c:dLblPos val="t"/>
            <c:showLegendKey val="0"/>
            <c:showVal val="1"/>
            <c:showCatName val="0"/>
            <c:showSerName val="0"/>
            <c:showPercent val="0"/>
            <c:showBubbleSize val="0"/>
            <c:showLeaderLines val="0"/>
          </c:dLbls>
          <c:marker>
            <c:symbol val="circle"/>
            <c:size val="6"/>
            <c:spPr>
              <a:solidFill>
                <a:srgbClr val="2F6F8F"/>
              </a:solidFill>
              <a:ln w="9525" cap="flat">
                <a:solidFill>
                  <a:srgbClr val="2F6F8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18.8</c:v>
                </c:pt>
                <c:pt idx="1">
                  <c:v>19.4</c:v>
                </c:pt>
                <c:pt idx="2">
                  <c:v>36.9</c:v>
                </c:pt>
                <c:pt idx="3">
                  <c:v>41.4</c:v>
                </c:pt>
                <c:pt idx="4">
                  <c:v>46.9</c:v>
                </c:pt>
                <c:pt idx="5">
                  <c:v>55</c:v>
                </c:pt>
                <c:pt idx="6">
                  <c:v>53.6</c:v>
                </c:pt>
                <c:pt idx="7">
                  <c:v>69.3</c:v>
                </c:pt>
                <c:pt idx="8">
                  <c:v>71.4</c:v>
                </c:pt>
                <c:pt idx="9">
                  <c:v>77.4</c:v>
                </c:pt>
                <c:pt idx="10">
                  <c:v>74.7</c:v>
                </c:pt>
              </c:numCache>
            </c:numRef>
          </c:val>
          <c:smooth val="0"/>
        </c:ser>
        <c:dLbls>
          <c:numFmt formatCode="0" sourceLinked="0"/>
          <c:txPr>
            <a:bodyPr/>
            <a:lstStyle/>
            <a:p>
              <a:pPr>
                <a:defRPr b="0" i="0" strike="noStrike" sz="1000" u="none">
                  <a:solidFill>
                    <a:srgbClr val="1C2733"/>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Complaints per year, millions</a:t>
            </a:r>
          </a:p>
        </c:rich>
      </c:tx>
      <c:layout/>
      <c:overlay val="0"/>
    </c:title>
    <c:autoTitleDeleted val="0"/>
    <c:plotArea>
      <c:layout/>
      <c:barChart>
        <c:barDir val="col"/>
        <c:grouping val="stacked"/>
        <c:varyColors val="0"/>
        <c:ser>
          <c:idx val="0"/>
          <c:order val="0"/>
          <c:tx>
            <c:strRef>
              <c:f>Sheet1!$B$1</c:f>
              <c:strCache>
                <c:ptCount val="1"/>
                <c:pt idx="0">
                  <c:v>With text</c:v>
                </c:pt>
              </c:strCache>
            </c:strRef>
          </c:tx>
          <c:spPr>
            <a:solidFill>
              <a:srgbClr val="2F6F8F"/>
            </a:solidFill>
            <a:effectLst/>
          </c:spPr>
          <c:invertIfNegative val="0"/>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0.05</c:v>
                </c:pt>
                <c:pt idx="1">
                  <c:v>0.08</c:v>
                </c:pt>
                <c:pt idx="2">
                  <c:v>0.12</c:v>
                </c:pt>
                <c:pt idx="3">
                  <c:v>0.12</c:v>
                </c:pt>
                <c:pt idx="4">
                  <c:v>0.12</c:v>
                </c:pt>
                <c:pt idx="5">
                  <c:v>0.17</c:v>
                </c:pt>
                <c:pt idx="6">
                  <c:v>0.2</c:v>
                </c:pt>
                <c:pt idx="7">
                  <c:v>0.34</c:v>
                </c:pt>
                <c:pt idx="8">
                  <c:v>0.44</c:v>
                </c:pt>
                <c:pt idx="9">
                  <c:v>0.81</c:v>
                </c:pt>
                <c:pt idx="10">
                  <c:v>1.22</c:v>
                </c:pt>
              </c:numCache>
            </c:numRef>
          </c:val>
        </c:ser>
        <c:ser>
          <c:idx val="1"/>
          <c:order val="1"/>
          <c:tx>
            <c:strRef>
              <c:f>Sheet1!$C$1</c:f>
              <c:strCache>
                <c:ptCount val="1"/>
                <c:pt idx="0">
                  <c:v>Without text</c:v>
                </c:pt>
              </c:strCache>
            </c:strRef>
          </c:tx>
          <c:spPr>
            <a:solidFill>
              <a:srgbClr val="C9D3DD"/>
            </a:solidFill>
            <a:effectLst/>
          </c:spPr>
          <c:invertIfNegative val="0"/>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0.11</c:v>
                </c:pt>
                <c:pt idx="1">
                  <c:v>0.11</c:v>
                </c:pt>
                <c:pt idx="2">
                  <c:v>0.13</c:v>
                </c:pt>
                <c:pt idx="3">
                  <c:v>0.14</c:v>
                </c:pt>
                <c:pt idx="4">
                  <c:v>0.15</c:v>
                </c:pt>
                <c:pt idx="5">
                  <c:v>0.27</c:v>
                </c:pt>
                <c:pt idx="6">
                  <c:v>0.29</c:v>
                </c:pt>
                <c:pt idx="7">
                  <c:v>0.46</c:v>
                </c:pt>
                <c:pt idx="8">
                  <c:v>0.73</c:v>
                </c:pt>
                <c:pt idx="9">
                  <c:v>1.92</c:v>
                </c:pt>
                <c:pt idx="10">
                  <c:v>4.22</c:v>
                </c:pt>
              </c:numCache>
            </c:numRef>
          </c:val>
        </c:ser>
        <c:dLbls>
          <c:numFmt formatCode="#,##0" sourceLinked="0"/>
          <c:txPr>
            <a:bodyPr/>
            <a:lstStyle/>
            <a:p>
              <a:pPr>
                <a:defRPr b="0" i="0" strike="noStrike" sz="1000" u="none">
                  <a:solidFill>
                    <a:srgbClr val="1C2733"/>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5B67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Complaints with text, % per month (yy/mm)</a:t>
            </a:r>
          </a:p>
        </c:rich>
      </c:tx>
      <c:layout/>
      <c:overlay val="0"/>
    </c:title>
    <c:autoTitleDeleted val="0"/>
    <c:plotArea>
      <c:layout/>
      <c:barChart>
        <c:barDir val="col"/>
        <c:grouping val="clustered"/>
        <c:varyColors val="0"/>
        <c:ser>
          <c:idx val="0"/>
          <c:order val="0"/>
          <c:tx>
            <c:strRef>
              <c:f>Sheet1!$B$1</c:f>
              <c:strCache>
                <c:ptCount val="1"/>
                <c:pt idx="0">
                  <c:v>Share with text, %</c:v>
                </c:pt>
              </c:strCache>
            </c:strRef>
          </c:tx>
          <c:spPr>
            <a:solidFill>
              <a:srgbClr val="2F6F8F"/>
            </a:solidFill>
            <a:effectLst/>
          </c:spPr>
          <c:invertIfNegative val="0"/>
          <c:dLbls>
            <c:numFmt formatCode="0" sourceLinked="0"/>
            <c:txPr>
              <a:bodyPr/>
              <a:lstStyle/>
              <a:p>
                <a:pPr>
                  <a:defRPr b="0" i="0" strike="noStrike" sz="900" u="none">
                    <a:solidFill>
                      <a:srgbClr val="1C2733"/>
                    </a:solidFill>
                    <a:latin typeface="+mn-lt"/>
                  </a:defRPr>
                </a:pPr>
              </a:p>
            </c:txPr>
            <c:showLegendKey val="0"/>
            <c:showVal val="1"/>
            <c:showCatName val="0"/>
            <c:showSerName val="0"/>
            <c:showPercent val="0"/>
            <c:showBubbleSize val="0"/>
            <c:showLeaderLines val="0"/>
          </c:dLbls>
          <c:cat>
            <c:multiLvlStrRef>
              <c:f>Sheet1!$A$2:$A$20</c:f>
              <c:multiLvlStrCache>
                <c:ptCount val="19"/>
                <c:lvl>
                  <c:pt idx="0">
                    <c:v>25/01</c:v>
                  </c:pt>
                  <c:pt idx="1">
                    <c:v>25/02</c:v>
                  </c:pt>
                  <c:pt idx="2">
                    <c:v>25/03</c:v>
                  </c:pt>
                  <c:pt idx="3">
                    <c:v>25/04</c:v>
                  </c:pt>
                  <c:pt idx="4">
                    <c:v>25/05</c:v>
                  </c:pt>
                  <c:pt idx="5">
                    <c:v>25/06</c:v>
                  </c:pt>
                  <c:pt idx="6">
                    <c:v>25/07</c:v>
                  </c:pt>
                  <c:pt idx="7">
                    <c:v>25/08</c:v>
                  </c:pt>
                  <c:pt idx="8">
                    <c:v>25/09</c:v>
                  </c:pt>
                  <c:pt idx="9">
                    <c:v>25/10</c:v>
                  </c:pt>
                  <c:pt idx="10">
                    <c:v>25/11</c:v>
                  </c:pt>
                  <c:pt idx="11">
                    <c:v>25/12</c:v>
                  </c:pt>
                  <c:pt idx="12">
                    <c:v>26/01</c:v>
                  </c:pt>
                  <c:pt idx="13">
                    <c:v>26/02</c:v>
                  </c:pt>
                  <c:pt idx="14">
                    <c:v>26/03</c:v>
                  </c:pt>
                  <c:pt idx="15">
                    <c:v>26/04</c:v>
                  </c:pt>
                  <c:pt idx="16">
                    <c:v>26/05</c:v>
                  </c:pt>
                  <c:pt idx="17">
                    <c:v>26/06</c:v>
                  </c:pt>
                  <c:pt idx="18">
                    <c:v>26/07</c:v>
                  </c:pt>
                </c:lvl>
              </c:multiLvlStrCache>
            </c:multiLvlStrRef>
          </c:cat>
          <c:val>
            <c:numRef>
              <c:f>Sheet1!$B$2:$B$20</c:f>
              <c:numCache>
                <c:formatCode>General</c:formatCode>
                <c:ptCount val="19"/>
                <c:pt idx="0">
                  <c:v>36.3</c:v>
                </c:pt>
                <c:pt idx="1">
                  <c:v>27.6</c:v>
                </c:pt>
                <c:pt idx="2">
                  <c:v>26.5</c:v>
                </c:pt>
                <c:pt idx="3">
                  <c:v>25.9</c:v>
                </c:pt>
                <c:pt idx="4">
                  <c:v>25.8</c:v>
                </c:pt>
                <c:pt idx="5">
                  <c:v>27.3</c:v>
                </c:pt>
                <c:pt idx="6">
                  <c:v>26.5</c:v>
                </c:pt>
                <c:pt idx="7">
                  <c:v>22</c:v>
                </c:pt>
                <c:pt idx="8">
                  <c:v>16.2</c:v>
                </c:pt>
                <c:pt idx="9">
                  <c:v>14.7</c:v>
                </c:pt>
                <c:pt idx="10">
                  <c:v>15.7</c:v>
                </c:pt>
                <c:pt idx="11">
                  <c:v>11</c:v>
                </c:pt>
                <c:pt idx="12">
                  <c:v>4.1</c:v>
                </c:pt>
                <c:pt idx="13">
                  <c:v>2.4</c:v>
                </c:pt>
                <c:pt idx="14">
                  <c:v>3.5</c:v>
                </c:pt>
                <c:pt idx="15">
                  <c:v>3.3</c:v>
                </c:pt>
                <c:pt idx="16">
                  <c:v>1</c:v>
                </c:pt>
                <c:pt idx="17">
                  <c:v>0.2</c:v>
                </c:pt>
                <c:pt idx="18">
                  <c:v>0</c:v>
                </c:pt>
              </c:numCache>
            </c:numRef>
          </c:val>
        </c:ser>
        <c:dLbls>
          <c:numFmt formatCode="0" sourceLinked="0"/>
          <c:txPr>
            <a:bodyPr/>
            <a:lstStyle/>
            <a:p>
              <a:pPr>
                <a:defRPr b="0" i="0" strike="noStrike" sz="900" u="none">
                  <a:solidFill>
                    <a:srgbClr val="1C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3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733"/>
                </a:solidFill>
                <a:latin typeface="+mn-lt"/>
              </a:defRPr>
            </a:pPr>
            <a:r>
              <a:rPr sz="1200" b="0" i="0" u="none" strike="noStrike">
                <a:solidFill>
                  <a:srgbClr val="1C2733"/>
                </a:solidFill>
                <a:latin typeface="+mn-lt"/>
              </a:rPr>
              <a:t>% of 1.54 M training texts (2023-04 → 2025-03)</a:t>
            </a:r>
          </a:p>
        </c:rich>
      </c:tx>
      <c:layout/>
      <c:overlay val="0"/>
    </c:title>
    <c:autoTitleDeleted val="0"/>
    <c:plotArea>
      <c:layout/>
      <c:barChart>
        <c:barDir val="bar"/>
        <c:grouping val="clustered"/>
        <c:varyColors val="0"/>
        <c:ser>
          <c:idx val="0"/>
          <c:order val="0"/>
          <c:tx>
            <c:strRef>
              <c:f>Sheet1!$B$1</c:f>
              <c:strCache>
                <c:ptCount val="1"/>
                <c:pt idx="0">
                  <c:v>Share of training texts</c:v>
                </c:pt>
              </c:strCache>
            </c:strRef>
          </c:tx>
          <c:spPr>
            <a:solidFill>
              <a:srgbClr val="2F6F8F"/>
            </a:solidFill>
            <a:effectLst/>
          </c:spPr>
          <c:invertIfNegative val="0"/>
          <c:dLbls>
            <c:numFmt formatCode="0.0" sourceLinked="0"/>
            <c:txPr>
              <a:bodyPr/>
              <a:lstStyle/>
              <a:p>
                <a:pPr>
                  <a:defRPr b="0" i="0" strike="noStrike" sz="1000" u="none">
                    <a:solidFill>
                      <a:srgbClr val="1C27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Debt or credit management</c:v>
                  </c:pt>
                  <c:pt idx="1">
                    <c:v>Payday title and personal loan</c:v>
                  </c:pt>
                  <c:pt idx="2">
                    <c:v>Vehicle loan or lease</c:v>
                  </c:pt>
                  <c:pt idx="3">
                    <c:v>Student loan</c:v>
                  </c:pt>
                  <c:pt idx="4">
                    <c:v>Mortgage</c:v>
                  </c:pt>
                  <c:pt idx="5">
                    <c:v>Money transfer and virtual currency</c:v>
                  </c:pt>
                  <c:pt idx="6">
                    <c:v>Checking or savings</c:v>
                  </c:pt>
                  <c:pt idx="7">
                    <c:v>Credit or prepaid card</c:v>
                  </c:pt>
                  <c:pt idx="8">
                    <c:v>Debt collection</c:v>
                  </c:pt>
                  <c:pt idx="9">
                    <c:v>Credit reporting</c:v>
                  </c:pt>
                </c:lvl>
              </c:multiLvlStrCache>
            </c:multiLvlStrRef>
          </c:cat>
          <c:val>
            <c:numRef>
              <c:f>Sheet1!$B$2:$B$11</c:f>
              <c:numCache>
                <c:formatCode>General</c:formatCode>
                <c:ptCount val="10"/>
                <c:pt idx="0">
                  <c:v>0.2</c:v>
                </c:pt>
                <c:pt idx="1">
                  <c:v>0.6</c:v>
                </c:pt>
                <c:pt idx="2">
                  <c:v>1</c:v>
                </c:pt>
                <c:pt idx="3">
                  <c:v>1.1</c:v>
                </c:pt>
                <c:pt idx="4">
                  <c:v>1.6</c:v>
                </c:pt>
                <c:pt idx="5">
                  <c:v>4.2</c:v>
                </c:pt>
                <c:pt idx="6">
                  <c:v>4.4</c:v>
                </c:pt>
                <c:pt idx="7">
                  <c:v>5</c:v>
                </c:pt>
                <c:pt idx="8">
                  <c:v>7.7</c:v>
                </c:pt>
                <c:pt idx="9">
                  <c:v>74.2</c:v>
                </c:pt>
              </c:numCache>
            </c:numRef>
          </c:val>
        </c:ser>
        <c:dLbls>
          <c:numFmt formatCode="0.0" sourceLinked="0"/>
          <c:txPr>
            <a:bodyPr/>
            <a:lstStyle/>
            <a:p>
              <a:pPr>
                <a:defRPr b="0" i="0" strike="noStrike" sz="1000" u="none">
                  <a:solidFill>
                    <a:srgbClr val="1C27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7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C27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148840"/>
            <a:ext cx="73152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Overview">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rtlCol="0"/>
          <a:lstStyle>
            <a:lvl1pPr algn="l" indent="0" marL="0">
              <a:buNone/>
              <a:defRPr lang="en-US" sz="1200" i="1" dirty="0">
                <a:solidFill>
                  <a:schemeClr val="accent5"/>
                </a:solidFill>
              </a:defRPr>
            </a:lvl1pPr>
          </a:lstStyle>
          <a:p>
            <a:pPr algn="l" indent="0" marL="0">
              <a:buNone/>
            </a:pPr>
            <a:endParaRPr lang="en-US" sz="12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OVERVIEW  ·  complaint-router  ·  KSE MLOps Lab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ta">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rtlCol="0"/>
          <a:lstStyle>
            <a:lvl1pPr algn="l" indent="0" marL="0">
              <a:buNone/>
              <a:defRPr lang="en-US" sz="1200" i="1" dirty="0">
                <a:solidFill>
                  <a:schemeClr val="accent5"/>
                </a:solidFill>
              </a:defRPr>
            </a:lvl1pPr>
          </a:lstStyle>
          <a:p>
            <a:pPr algn="l" indent="0" marL="0">
              <a:buNone/>
            </a:pPr>
            <a:endParaRPr lang="en-US" sz="12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DATA  ·  complaint-router  ·  KSE MLOps Lab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sig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rtlCol="0"/>
          <a:lstStyle>
            <a:lvl1pPr algn="l" indent="0" marL="0">
              <a:buNone/>
              <a:defRPr lang="en-US" sz="1200" i="1" dirty="0">
                <a:solidFill>
                  <a:schemeClr val="accent5"/>
                </a:solidFill>
              </a:defRPr>
            </a:lvl1pPr>
          </a:lstStyle>
          <a:p>
            <a:pPr algn="l" indent="0" marL="0">
              <a:buNone/>
            </a:pPr>
            <a:endParaRPr lang="en-US" sz="12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DESIGN  ·  complaint-router  ·  KSE MLOps Lab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_Fit with the labs">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rtlCol="0"/>
          <a:lstStyle>
            <a:lvl1pPr algn="l" indent="0" marL="0">
              <a:buNone/>
              <a:defRPr lang="en-US" sz="1200" i="1" dirty="0">
                <a:solidFill>
                  <a:schemeClr val="accent5"/>
                </a:solidFill>
              </a:defRPr>
            </a:lvl1pPr>
          </a:lstStyle>
          <a:p>
            <a:pPr algn="l" indent="0" marL="0">
              <a:buNone/>
            </a:pPr>
            <a:endParaRPr lang="en-US" sz="1200" dirty="0"/>
          </a:p>
        </p:txBody>
      </p:sp>
      <p:sp>
        <p:nvSpPr>
          <p:cNvPr id="4"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FIT WITH THE LABS  ·  complaint-router  ·  KSE MLOps Lab 1</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914400"/>
          </a:xfrm>
          <a:prstGeom prst="rect">
            <a:avLst/>
          </a:prstGeom>
          <a:noFill/>
          <a:ln/>
        </p:spPr>
        <p:txBody>
          <a:bodyPr wrap="square" lIns="0" tIns="0" rIns="0" bIns="0" rtlCol="0" anchor="b"/>
          <a:lstStyle/>
          <a:p>
            <a:pPr algn="l" indent="0" marL="0">
              <a:buNone/>
            </a:pPr>
            <a:r>
              <a:rPr lang="en-US" sz="4400" b="1" dirty="0">
                <a:solidFill>
                  <a:schemeClr val="bg1"/>
                </a:solidFill>
              </a:rPr>
              <a:t>complaint-router</a:t>
            </a:r>
            <a:endParaRPr lang="en-US" sz="4400" dirty="0"/>
          </a:p>
        </p:txBody>
      </p:sp>
      <p:sp>
        <p:nvSpPr>
          <p:cNvPr id="3" name="Text 0"/>
          <p:cNvSpPr/>
          <p:nvPr>
            <p:ph idx="101" type="body" hasCustomPrompt="1"/>
          </p:nvPr>
        </p:nvSpPr>
        <p:spPr>
          <a:xfrm>
            <a:off x="548640" y="2148840"/>
            <a:ext cx="7315200" cy="822960"/>
          </a:xfrm>
          <a:prstGeom prst="rect">
            <a:avLst/>
          </a:prstGeom>
          <a:noFill/>
          <a:ln/>
        </p:spPr>
        <p:txBody>
          <a:bodyPr wrap="square" lIns="0" tIns="0" rIns="0" bIns="0" rtlCol="0" anchor="t"/>
          <a:lstStyle/>
          <a:p>
            <a:pPr indent="0" marL="0">
              <a:buNone/>
            </a:pPr>
            <a:r>
              <a:rPr lang="en-US" sz="1800" dirty="0">
                <a:solidFill>
                  <a:schemeClr val="bg2"/>
                </a:solidFill>
              </a:rPr>
              <a:t>Routing consumer financial complaints to the right team, with a system that keeps learning</a:t>
            </a:r>
            <a:endParaRPr lang="en-US" sz="1800" dirty="0"/>
          </a:p>
        </p:txBody>
      </p:sp>
      <p:sp>
        <p:nvSpPr>
          <p:cNvPr id="4" name="Text 2"/>
          <p:cNvSpPr txBox="1"/>
          <p:nvPr/>
        </p:nvSpPr>
        <p:spPr>
          <a:xfrm>
            <a:off x="548640" y="3154680"/>
            <a:ext cx="8046720" cy="274320"/>
          </a:xfrm>
          <a:prstGeom prst="rect">
            <a:avLst/>
          </a:prstGeom>
          <a:noFill/>
          <a:ln/>
        </p:spPr>
        <p:txBody>
          <a:bodyPr wrap="square" lIns="0" tIns="0" rIns="0" bIns="0" rtlCol="0" anchor="t"/>
          <a:lstStyle/>
          <a:p>
            <a:pPr indent="0" marL="0">
              <a:buNone/>
            </a:pPr>
            <a:r>
              <a:rPr lang="en-US" sz="1200" dirty="0">
                <a:solidFill>
                  <a:schemeClr val="accent5"/>
                </a:solidFill>
              </a:rPr>
              <a:t>github.com/goodfrog33/kse-mlops-complaint-router  ·  tag lab-1</a:t>
            </a:r>
            <a:endParaRPr lang="en-US" sz="1200" dirty="0"/>
          </a:p>
        </p:txBody>
      </p:sp>
      <p:sp>
        <p:nvSpPr>
          <p:cNvPr id="5" name="Text 3"/>
          <p:cNvSpPr txBox="1"/>
          <p:nvPr/>
        </p:nvSpPr>
        <p:spPr>
          <a:xfrm>
            <a:off x="548640" y="2880360"/>
            <a:ext cx="8046720" cy="274320"/>
          </a:xfrm>
          <a:prstGeom prst="rect">
            <a:avLst/>
          </a:prstGeom>
          <a:noFill/>
          <a:ln/>
        </p:spPr>
        <p:txBody>
          <a:bodyPr wrap="square" lIns="0" tIns="0" rIns="0" bIns="0" rtlCol="0" anchor="t"/>
          <a:lstStyle/>
          <a:p>
            <a:pPr indent="0" marL="0">
              <a:buNone/>
            </a:pPr>
            <a:r>
              <a:rPr lang="en-US" sz="1200" dirty="0">
                <a:solidFill>
                  <a:schemeClr val="accent5"/>
                </a:solidFill>
              </a:rPr>
              <a:t>KSE  ·  Introduction to MLOps and ML System Design  ·  Lab 1  ·  Zakhar Staryk  ·  October 2026</a:t>
            </a:r>
            <a:endParaRPr lang="en-US" sz="1200" dirty="0"/>
          </a:p>
        </p:txBody>
      </p:sp>
      <p:sp>
        <p:nvSpPr>
          <p:cNvPr id="6" name="Text 4"/>
          <p:cNvSpPr txBox="1"/>
          <p:nvPr/>
        </p:nvSpPr>
        <p:spPr>
          <a:xfrm>
            <a:off x="54864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18.5 M</a:t>
            </a:r>
            <a:endParaRPr lang="en-US" sz="2800" dirty="0"/>
          </a:p>
        </p:txBody>
      </p:sp>
      <p:sp>
        <p:nvSpPr>
          <p:cNvPr id="7" name="Text 5"/>
          <p:cNvSpPr txBox="1"/>
          <p:nvPr/>
        </p:nvSpPr>
        <p:spPr>
          <a:xfrm>
            <a:off x="54864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complaints in the CFPB database</a:t>
            </a:r>
            <a:endParaRPr lang="en-US" sz="1200" dirty="0"/>
          </a:p>
        </p:txBody>
      </p:sp>
      <p:sp>
        <p:nvSpPr>
          <p:cNvPr id="8" name="Text 6"/>
          <p:cNvSpPr txBox="1"/>
          <p:nvPr/>
        </p:nvSpPr>
        <p:spPr>
          <a:xfrm>
            <a:off x="324612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3.8 M</a:t>
            </a:r>
            <a:endParaRPr lang="en-US" sz="2800" dirty="0"/>
          </a:p>
        </p:txBody>
      </p:sp>
      <p:sp>
        <p:nvSpPr>
          <p:cNvPr id="9" name="Text 7"/>
          <p:cNvSpPr txBox="1"/>
          <p:nvPr/>
        </p:nvSpPr>
        <p:spPr>
          <a:xfrm>
            <a:off x="324612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of them with complaint text</a:t>
            </a:r>
            <a:endParaRPr lang="en-US" sz="1200" dirty="0"/>
          </a:p>
        </p:txBody>
      </p:sp>
      <p:sp>
        <p:nvSpPr>
          <p:cNvPr id="10" name="Text 8"/>
          <p:cNvSpPr txBox="1"/>
          <p:nvPr/>
        </p:nvSpPr>
        <p:spPr>
          <a:xfrm>
            <a:off x="5943600" y="3657600"/>
            <a:ext cx="2468880" cy="457200"/>
          </a:xfrm>
          <a:prstGeom prst="rect">
            <a:avLst/>
          </a:prstGeom>
          <a:noFill/>
          <a:ln/>
        </p:spPr>
        <p:txBody>
          <a:bodyPr wrap="square" lIns="0" tIns="0" rIns="0" bIns="0" rtlCol="0" anchor="t"/>
          <a:lstStyle/>
          <a:p>
            <a:pPr indent="0" marL="0">
              <a:buNone/>
            </a:pPr>
            <a:r>
              <a:rPr lang="en-US" sz="2800" b="1" dirty="0">
                <a:solidFill>
                  <a:schemeClr val="accent1"/>
                </a:solidFill>
              </a:rPr>
              <a:t>10</a:t>
            </a:r>
            <a:endParaRPr lang="en-US" sz="2800" dirty="0"/>
          </a:p>
        </p:txBody>
      </p:sp>
      <p:sp>
        <p:nvSpPr>
          <p:cNvPr id="11" name="Text 9"/>
          <p:cNvSpPr txBox="1"/>
          <p:nvPr/>
        </p:nvSpPr>
        <p:spPr>
          <a:xfrm>
            <a:off x="5943600" y="4114800"/>
            <a:ext cx="2468880" cy="320040"/>
          </a:xfrm>
          <a:prstGeom prst="rect">
            <a:avLst/>
          </a:prstGeom>
          <a:noFill/>
          <a:ln/>
        </p:spPr>
        <p:txBody>
          <a:bodyPr wrap="square" lIns="0" tIns="0" rIns="0" bIns="0" rtlCol="0" anchor="t"/>
          <a:lstStyle/>
          <a:p>
            <a:pPr indent="0" marL="0">
              <a:buNone/>
            </a:pPr>
            <a:r>
              <a:rPr lang="en-US" sz="1200" dirty="0">
                <a:solidFill>
                  <a:schemeClr val="bg2"/>
                </a:solidFill>
              </a:rPr>
              <a:t>product queues to route to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At a glance</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What the project is, which data it uses and whether it fits the five labs, on one page.</a:t>
            </a:r>
            <a:endParaRPr lang="en-US" sz="1200" dirty="0"/>
          </a:p>
        </p:txBody>
      </p:sp>
      <p:sp>
        <p:nvSpPr>
          <p:cNvPr id="4" name="Shape 2"/>
          <p:cNvSpPr/>
          <p:nvPr/>
        </p:nvSpPr>
        <p:spPr>
          <a:xfrm>
            <a:off x="457200" y="960120"/>
            <a:ext cx="4023360" cy="1536192"/>
          </a:xfrm>
          <a:prstGeom prst="roundRect">
            <a:avLst>
              <a:gd name="adj" fmla="val 3571"/>
            </a:avLst>
          </a:prstGeom>
          <a:solidFill>
            <a:schemeClr val="bg2"/>
          </a:solidFill>
          <a:ln w="9525">
            <a:solidFill>
              <a:schemeClr val="bg2"/>
            </a:solidFill>
            <a:prstDash val="solid"/>
          </a:ln>
        </p:spPr>
      </p:sp>
      <p:sp>
        <p:nvSpPr>
          <p:cNvPr id="5" name="Text 3"/>
          <p:cNvSpPr txBox="1"/>
          <p:nvPr/>
        </p:nvSpPr>
        <p:spPr>
          <a:xfrm>
            <a:off x="621792" y="1069848"/>
            <a:ext cx="3703320" cy="274320"/>
          </a:xfrm>
          <a:prstGeom prst="rect">
            <a:avLst/>
          </a:prstGeom>
          <a:noFill/>
          <a:ln/>
        </p:spPr>
        <p:txBody>
          <a:bodyPr wrap="square" lIns="0" tIns="0" rIns="0" bIns="0" rtlCol="0" anchor="t"/>
          <a:lstStyle/>
          <a:p>
            <a:pPr indent="0" marL="0">
              <a:buNone/>
            </a:pPr>
            <a:r>
              <a:rPr lang="en-US" sz="1400" b="1" dirty="0">
                <a:solidFill>
                  <a:schemeClr val="accent1"/>
                </a:solidFill>
              </a:rPr>
              <a:t>The problem</a:t>
            </a:r>
            <a:endParaRPr lang="en-US" sz="1400" dirty="0"/>
          </a:p>
        </p:txBody>
      </p:sp>
      <p:sp>
        <p:nvSpPr>
          <p:cNvPr id="6" name="Text 4"/>
          <p:cNvSpPr txBox="1"/>
          <p:nvPr/>
        </p:nvSpPr>
        <p:spPr>
          <a:xfrm>
            <a:off x="621792" y="1380744"/>
            <a:ext cx="3703320" cy="1051560"/>
          </a:xfrm>
          <a:prstGeom prst="rect">
            <a:avLst/>
          </a:prstGeom>
          <a:noFill/>
          <a:ln/>
        </p:spPr>
        <p:txBody>
          <a:bodyPr wrap="square" lIns="0" tIns="0" rIns="0" bIns="0" rtlCol="0" anchor="t"/>
          <a:lstStyle/>
          <a:p>
            <a:pPr indent="0" marL="0">
              <a:buNone/>
            </a:pPr>
            <a:r>
              <a:rPr lang="en-US" sz="1200" dirty="0">
                <a:solidFill>
                  <a:schemeClr val="tx1"/>
                </a:solidFill>
              </a:rPr>
              <a:t>Consumers file about 21,000 complaints a day about financial products with the US regulator CFPB. Each must reach the team that owns the product; a misrouted complaint waits days while the 15-day response clock runs.</a:t>
            </a:r>
            <a:endParaRPr lang="en-US" sz="1200" dirty="0"/>
          </a:p>
        </p:txBody>
      </p:sp>
      <p:sp>
        <p:nvSpPr>
          <p:cNvPr id="7" name="Shape 5"/>
          <p:cNvSpPr/>
          <p:nvPr/>
        </p:nvSpPr>
        <p:spPr>
          <a:xfrm>
            <a:off x="4663440" y="960120"/>
            <a:ext cx="4023360" cy="1536192"/>
          </a:xfrm>
          <a:prstGeom prst="roundRect">
            <a:avLst>
              <a:gd name="adj" fmla="val 3571"/>
            </a:avLst>
          </a:prstGeom>
          <a:solidFill>
            <a:schemeClr val="bg2"/>
          </a:solidFill>
          <a:ln w="9525">
            <a:solidFill>
              <a:schemeClr val="bg2"/>
            </a:solidFill>
            <a:prstDash val="solid"/>
          </a:ln>
        </p:spPr>
      </p:sp>
      <p:sp>
        <p:nvSpPr>
          <p:cNvPr id="8" name="Text 6"/>
          <p:cNvSpPr txBox="1"/>
          <p:nvPr/>
        </p:nvSpPr>
        <p:spPr>
          <a:xfrm>
            <a:off x="4828032" y="1069848"/>
            <a:ext cx="3703320" cy="274320"/>
          </a:xfrm>
          <a:prstGeom prst="rect">
            <a:avLst/>
          </a:prstGeom>
          <a:noFill/>
          <a:ln/>
        </p:spPr>
        <p:txBody>
          <a:bodyPr wrap="square" lIns="0" tIns="0" rIns="0" bIns="0" rtlCol="0" anchor="t"/>
          <a:lstStyle/>
          <a:p>
            <a:pPr indent="0" marL="0">
              <a:buNone/>
            </a:pPr>
            <a:r>
              <a:rPr lang="en-US" sz="1400" b="1" dirty="0">
                <a:solidFill>
                  <a:schemeClr val="accent2"/>
                </a:solidFill>
              </a:rPr>
              <a:t>What the system does</a:t>
            </a:r>
            <a:endParaRPr lang="en-US" sz="1400" dirty="0"/>
          </a:p>
        </p:txBody>
      </p:sp>
      <p:sp>
        <p:nvSpPr>
          <p:cNvPr id="9" name="Text 7"/>
          <p:cNvSpPr txBox="1"/>
          <p:nvPr/>
        </p:nvSpPr>
        <p:spPr>
          <a:xfrm>
            <a:off x="4828032" y="1380744"/>
            <a:ext cx="3703320" cy="1051560"/>
          </a:xfrm>
          <a:prstGeom prst="rect">
            <a:avLst/>
          </a:prstGeom>
          <a:noFill/>
          <a:ln/>
        </p:spPr>
        <p:txBody>
          <a:bodyPr wrap="square" lIns="0" tIns="0" rIns="0" bIns="0" rtlCol="0" anchor="t"/>
          <a:lstStyle/>
          <a:p>
            <a:pPr indent="0" marL="0">
              <a:buNone/>
            </a:pPr>
            <a:r>
              <a:rPr lang="en-US" sz="1200" dirty="0">
                <a:solidFill>
                  <a:schemeClr val="tx1"/>
                </a:solidFill>
              </a:rPr>
              <a:t>Reads the complaint text and predicts one of 10 product queues with a calibrated confidence. Confident → routed automatically; otherwise → a human, with the prediction as a suggestion. Retrained as the data drifts, monitored before labels arrive.</a:t>
            </a:r>
            <a:endParaRPr lang="en-US" sz="1200" dirty="0"/>
          </a:p>
        </p:txBody>
      </p:sp>
      <p:sp>
        <p:nvSpPr>
          <p:cNvPr id="10" name="Shape 8"/>
          <p:cNvSpPr/>
          <p:nvPr/>
        </p:nvSpPr>
        <p:spPr>
          <a:xfrm>
            <a:off x="457200" y="2624328"/>
            <a:ext cx="4023360" cy="1536192"/>
          </a:xfrm>
          <a:prstGeom prst="roundRect">
            <a:avLst>
              <a:gd name="adj" fmla="val 3571"/>
            </a:avLst>
          </a:prstGeom>
          <a:solidFill>
            <a:schemeClr val="bg2"/>
          </a:solidFill>
          <a:ln w="9525">
            <a:solidFill>
              <a:schemeClr val="bg2"/>
            </a:solidFill>
            <a:prstDash val="solid"/>
          </a:ln>
        </p:spPr>
      </p:sp>
      <p:sp>
        <p:nvSpPr>
          <p:cNvPr id="11" name="Text 9"/>
          <p:cNvSpPr txBox="1"/>
          <p:nvPr/>
        </p:nvSpPr>
        <p:spPr>
          <a:xfrm>
            <a:off x="621792" y="2734056"/>
            <a:ext cx="3703320" cy="274320"/>
          </a:xfrm>
          <a:prstGeom prst="rect">
            <a:avLst/>
          </a:prstGeom>
          <a:noFill/>
          <a:ln/>
        </p:spPr>
        <p:txBody>
          <a:bodyPr wrap="square" lIns="0" tIns="0" rIns="0" bIns="0" rtlCol="0" anchor="t"/>
          <a:lstStyle/>
          <a:p>
            <a:pPr indent="0" marL="0">
              <a:buNone/>
            </a:pPr>
            <a:r>
              <a:rPr lang="en-US" sz="1400" b="1" dirty="0">
                <a:solidFill>
                  <a:schemeClr val="accent6"/>
                </a:solidFill>
              </a:rPr>
              <a:t>The data</a:t>
            </a:r>
            <a:endParaRPr lang="en-US" sz="1400" dirty="0"/>
          </a:p>
        </p:txBody>
      </p:sp>
      <p:sp>
        <p:nvSpPr>
          <p:cNvPr id="12" name="Text 10"/>
          <p:cNvSpPr txBox="1"/>
          <p:nvPr/>
        </p:nvSpPr>
        <p:spPr>
          <a:xfrm>
            <a:off x="621792" y="3044952"/>
            <a:ext cx="3703320" cy="1051560"/>
          </a:xfrm>
          <a:prstGeom prst="rect">
            <a:avLst/>
          </a:prstGeom>
          <a:noFill/>
          <a:ln/>
        </p:spPr>
        <p:txBody>
          <a:bodyPr wrap="square" lIns="0" tIns="0" rIns="0" bIns="0" rtlCol="0" anchor="t"/>
          <a:lstStyle/>
          <a:p>
            <a:pPr indent="0" marL="0">
              <a:buNone/>
            </a:pPr>
            <a:r>
              <a:rPr lang="en-US" sz="1200" dirty="0">
                <a:solidFill>
                  <a:schemeClr val="tx1"/>
                </a:solidFill>
              </a:rPr>
              <a:t>CFPB Consumer Complaint Database (public domain). Official daily export: 18.5 M complaints, no text since 2026. July 2026 snapshot: 3.8 M complaint texts (2015–2025), replayed month by month. Profiled in docs/data-profile.md; 200 real rows in data/sample/.</a:t>
            </a:r>
            <a:endParaRPr lang="en-US" sz="1200" dirty="0"/>
          </a:p>
        </p:txBody>
      </p:sp>
      <p:sp>
        <p:nvSpPr>
          <p:cNvPr id="13" name="Shape 11"/>
          <p:cNvSpPr/>
          <p:nvPr/>
        </p:nvSpPr>
        <p:spPr>
          <a:xfrm>
            <a:off x="4663440" y="2624328"/>
            <a:ext cx="4023360" cy="1536192"/>
          </a:xfrm>
          <a:prstGeom prst="roundRect">
            <a:avLst>
              <a:gd name="adj" fmla="val 3571"/>
            </a:avLst>
          </a:prstGeom>
          <a:solidFill>
            <a:schemeClr val="bg2"/>
          </a:solidFill>
          <a:ln w="9525">
            <a:solidFill>
              <a:schemeClr val="bg2"/>
            </a:solidFill>
            <a:prstDash val="solid"/>
          </a:ln>
        </p:spPr>
      </p:sp>
      <p:sp>
        <p:nvSpPr>
          <p:cNvPr id="14" name="Text 12"/>
          <p:cNvSpPr txBox="1"/>
          <p:nvPr/>
        </p:nvSpPr>
        <p:spPr>
          <a:xfrm>
            <a:off x="4828032" y="2734056"/>
            <a:ext cx="3703320" cy="274320"/>
          </a:xfrm>
          <a:prstGeom prst="rect">
            <a:avLst/>
          </a:prstGeom>
          <a:noFill/>
          <a:ln/>
        </p:spPr>
        <p:txBody>
          <a:bodyPr wrap="square" lIns="0" tIns="0" rIns="0" bIns="0" rtlCol="0" anchor="t"/>
          <a:lstStyle/>
          <a:p>
            <a:pPr indent="0" marL="0">
              <a:buNone/>
            </a:pPr>
            <a:r>
              <a:rPr lang="en-US" sz="1400" b="1" dirty="0">
                <a:solidFill>
                  <a:schemeClr val="accent4"/>
                </a:solidFill>
              </a:rPr>
              <a:t>Fit with the five labs</a:t>
            </a:r>
            <a:endParaRPr lang="en-US" sz="1400" dirty="0"/>
          </a:p>
        </p:txBody>
      </p:sp>
      <p:sp>
        <p:nvSpPr>
          <p:cNvPr id="15" name="Text 13"/>
          <p:cNvSpPr txBox="1"/>
          <p:nvPr/>
        </p:nvSpPr>
        <p:spPr>
          <a:xfrm>
            <a:off x="4828032" y="3044952"/>
            <a:ext cx="3703320" cy="1051560"/>
          </a:xfrm>
          <a:prstGeom prst="rect">
            <a:avLst/>
          </a:prstGeom>
          <a:noFill/>
          <a:ln/>
        </p:spPr>
        <p:txBody>
          <a:bodyPr wrap="square" lIns="0" tIns="0" rIns="0" bIns="0" rtlCol="0" anchor="t"/>
          <a:lstStyle/>
          <a:p>
            <a:pPr indent="0" marL="0">
              <a:buNone/>
            </a:pPr>
            <a:r>
              <a:rPr lang="en-US" sz="1200" dirty="0">
                <a:solidFill>
                  <a:schemeClr val="tx1"/>
                </a:solidFill>
              </a:rPr>
              <a:t>Yes. Each lab has real material: data pipeline and MLflow (Lab 2), LLM baseline and retrieval (Lab 3), serving and real drift (Lab 4), an operations agent (Lab 5). One caveat: no new complaint text after 2025 (slide 22).</a:t>
            </a:r>
            <a:endParaRPr lang="en-US" sz="1200" dirty="0"/>
          </a:p>
        </p:txBody>
      </p:sp>
      <p:sp>
        <p:nvSpPr>
          <p:cNvPr id="16" name="Text 14"/>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100" i="1" dirty="0">
                <a:solidFill>
                  <a:schemeClr val="accent5"/>
                </a:solidFill>
              </a:rPr>
              <a:t>How to read: 3–6 the problem and requirements · 7–15 the data, with real examples · 16–21 the design · 22–23 the fit with the labs · 24 where everything is in the repository.</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Every complaint has to reach the team that owns it</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A misrouted complaint waits days; confident cases go straight to the right team, the rest to a human.</a:t>
            </a:r>
            <a:endParaRPr lang="en-US" sz="1200" dirty="0"/>
          </a:p>
        </p:txBody>
      </p:sp>
      <p:sp>
        <p:nvSpPr>
          <p:cNvPr id="4" name="Shape 2"/>
          <p:cNvSpPr/>
          <p:nvPr/>
        </p:nvSpPr>
        <p:spPr>
          <a:xfrm>
            <a:off x="457200" y="1325880"/>
            <a:ext cx="1828800" cy="914400"/>
          </a:xfrm>
          <a:prstGeom prst="roundRect">
            <a:avLst>
              <a:gd name="adj" fmla="val 6000"/>
            </a:avLst>
          </a:prstGeom>
          <a:solidFill>
            <a:schemeClr val="bg2"/>
          </a:solidFill>
          <a:ln w="12700">
            <a:solidFill>
              <a:srgbClr val="D3DAE2"/>
            </a:solidFill>
            <a:prstDash val="solid"/>
          </a:ln>
        </p:spPr>
      </p:sp>
      <p:sp>
        <p:nvSpPr>
          <p:cNvPr id="5" name="Text 3"/>
          <p:cNvSpPr txBox="1"/>
          <p:nvPr/>
        </p:nvSpPr>
        <p:spPr>
          <a:xfrm>
            <a:off x="594360" y="1417320"/>
            <a:ext cx="1554480" cy="274320"/>
          </a:xfrm>
          <a:prstGeom prst="rect">
            <a:avLst/>
          </a:prstGeom>
          <a:noFill/>
          <a:ln/>
        </p:spPr>
        <p:txBody>
          <a:bodyPr wrap="square" lIns="0" tIns="0" rIns="0" bIns="0" rtlCol="0" anchor="t"/>
          <a:lstStyle/>
          <a:p>
            <a:pPr indent="0" marL="0">
              <a:buNone/>
            </a:pPr>
            <a:r>
              <a:rPr lang="en-US" sz="1400" b="1" dirty="0">
                <a:solidFill>
                  <a:schemeClr val="tx1"/>
                </a:solidFill>
              </a:rPr>
              <a:t>New complaint</a:t>
            </a:r>
            <a:endParaRPr lang="en-US" sz="1400" dirty="0"/>
          </a:p>
        </p:txBody>
      </p:sp>
      <p:sp>
        <p:nvSpPr>
          <p:cNvPr id="6" name="Text 4"/>
          <p:cNvSpPr txBox="1"/>
          <p:nvPr/>
        </p:nvSpPr>
        <p:spPr>
          <a:xfrm>
            <a:off x="594360" y="1719072"/>
            <a:ext cx="1554480" cy="411480"/>
          </a:xfrm>
          <a:prstGeom prst="rect">
            <a:avLst/>
          </a:prstGeom>
          <a:noFill/>
          <a:ln/>
        </p:spPr>
        <p:txBody>
          <a:bodyPr wrap="square" lIns="0" tIns="0" rIns="0" bIns="0" rtlCol="0" anchor="t"/>
          <a:lstStyle/>
          <a:p>
            <a:pPr indent="0" marL="0">
              <a:buNone/>
            </a:pPr>
            <a:r>
              <a:rPr lang="en-US" sz="1100" dirty="0">
                <a:solidFill>
                  <a:schemeClr val="accent5"/>
                </a:solidFill>
              </a:rPr>
              <a:t>free text + form fields</a:t>
            </a:r>
            <a:endParaRPr lang="en-US" sz="1100" dirty="0"/>
          </a:p>
        </p:txBody>
      </p:sp>
      <p:sp>
        <p:nvSpPr>
          <p:cNvPr id="7" name="Shape 5"/>
          <p:cNvSpPr/>
          <p:nvPr/>
        </p:nvSpPr>
        <p:spPr>
          <a:xfrm>
            <a:off x="2286000" y="1783080"/>
            <a:ext cx="502920" cy="0"/>
          </a:xfrm>
          <a:prstGeom prst="line">
            <a:avLst/>
          </a:prstGeom>
          <a:noFill/>
          <a:ln w="15875">
            <a:solidFill>
              <a:srgbClr val="6B7785"/>
            </a:solidFill>
            <a:prstDash val="solid"/>
            <a:tailEnd type="triangle"/>
          </a:ln>
        </p:spPr>
      </p:sp>
      <p:sp>
        <p:nvSpPr>
          <p:cNvPr id="8" name="Shape 6"/>
          <p:cNvSpPr/>
          <p:nvPr/>
        </p:nvSpPr>
        <p:spPr>
          <a:xfrm>
            <a:off x="2788920" y="1234440"/>
            <a:ext cx="1828800" cy="1097280"/>
          </a:xfrm>
          <a:prstGeom prst="roundRect">
            <a:avLst>
              <a:gd name="adj" fmla="val 5000"/>
            </a:avLst>
          </a:prstGeom>
          <a:solidFill>
            <a:schemeClr val="accent2"/>
          </a:solidFill>
          <a:ln w="12700">
            <a:solidFill>
              <a:srgbClr val="2F6F8F"/>
            </a:solidFill>
            <a:prstDash val="solid"/>
          </a:ln>
        </p:spPr>
      </p:sp>
      <p:sp>
        <p:nvSpPr>
          <p:cNvPr id="9" name="Text 7"/>
          <p:cNvSpPr txBox="1"/>
          <p:nvPr/>
        </p:nvSpPr>
        <p:spPr>
          <a:xfrm>
            <a:off x="2926080" y="1371600"/>
            <a:ext cx="1600200" cy="274320"/>
          </a:xfrm>
          <a:prstGeom prst="rect">
            <a:avLst/>
          </a:prstGeom>
          <a:noFill/>
          <a:ln/>
        </p:spPr>
        <p:txBody>
          <a:bodyPr wrap="square" lIns="0" tIns="0" rIns="0" bIns="0" rtlCol="0" anchor="t"/>
          <a:lstStyle/>
          <a:p>
            <a:pPr indent="0" marL="0">
              <a:buNone/>
            </a:pPr>
            <a:r>
              <a:rPr lang="en-US" sz="1400" b="1" dirty="0">
                <a:solidFill>
                  <a:schemeClr val="bg1"/>
                </a:solidFill>
              </a:rPr>
              <a:t>complaint-router</a:t>
            </a:r>
            <a:endParaRPr lang="en-US" sz="1400" dirty="0"/>
          </a:p>
        </p:txBody>
      </p:sp>
      <p:sp>
        <p:nvSpPr>
          <p:cNvPr id="10" name="Text 8"/>
          <p:cNvSpPr txBox="1"/>
          <p:nvPr/>
        </p:nvSpPr>
        <p:spPr>
          <a:xfrm>
            <a:off x="2926080" y="1691640"/>
            <a:ext cx="1600200" cy="502920"/>
          </a:xfrm>
          <a:prstGeom prst="rect">
            <a:avLst/>
          </a:prstGeom>
          <a:noFill/>
          <a:ln/>
        </p:spPr>
        <p:txBody>
          <a:bodyPr wrap="square" lIns="0" tIns="0" rIns="0" bIns="0" rtlCol="0" anchor="t"/>
          <a:lstStyle/>
          <a:p>
            <a:pPr indent="0" marL="0">
              <a:buNone/>
            </a:pPr>
            <a:r>
              <a:rPr lang="en-US" sz="1100" dirty="0">
                <a:solidFill>
                  <a:schemeClr val="bg1"/>
                </a:solidFill>
              </a:rPr>
              <a:t>product + confidence</a:t>
            </a:r>
            <a:endParaRPr lang="en-US" sz="1100" dirty="0"/>
          </a:p>
          <a:p>
            <a:pPr indent="0" marL="0">
              <a:buNone/>
            </a:pPr>
            <a:r>
              <a:rPr lang="en-US" sz="1100" dirty="0">
                <a:solidFill>
                  <a:schemeClr val="bg1"/>
                </a:solidFill>
              </a:rPr>
              <a:t>in &lt; 0.3 s</a:t>
            </a:r>
            <a:endParaRPr lang="en-US" sz="1100" dirty="0"/>
          </a:p>
        </p:txBody>
      </p:sp>
      <p:sp>
        <p:nvSpPr>
          <p:cNvPr id="11" name="Shape 9"/>
          <p:cNvSpPr/>
          <p:nvPr/>
        </p:nvSpPr>
        <p:spPr>
          <a:xfrm flipV="1">
            <a:off x="4617720" y="1188720"/>
            <a:ext cx="502920" cy="365760"/>
          </a:xfrm>
          <a:prstGeom prst="line">
            <a:avLst/>
          </a:prstGeom>
          <a:noFill/>
          <a:ln w="15875">
            <a:solidFill>
              <a:srgbClr val="6B7785"/>
            </a:solidFill>
            <a:prstDash val="solid"/>
            <a:tailEnd type="triangle"/>
          </a:ln>
        </p:spPr>
      </p:sp>
      <p:sp>
        <p:nvSpPr>
          <p:cNvPr id="12" name="Shape 10"/>
          <p:cNvSpPr/>
          <p:nvPr/>
        </p:nvSpPr>
        <p:spPr>
          <a:xfrm>
            <a:off x="4617720" y="2011680"/>
            <a:ext cx="502920" cy="365760"/>
          </a:xfrm>
          <a:prstGeom prst="line">
            <a:avLst/>
          </a:prstGeom>
          <a:noFill/>
          <a:ln w="15875">
            <a:solidFill>
              <a:srgbClr val="6B7785"/>
            </a:solidFill>
            <a:prstDash val="solid"/>
            <a:tailEnd type="triangle"/>
          </a:ln>
        </p:spPr>
      </p:sp>
      <p:sp>
        <p:nvSpPr>
          <p:cNvPr id="13" name="Shape 11"/>
          <p:cNvSpPr/>
          <p:nvPr/>
        </p:nvSpPr>
        <p:spPr>
          <a:xfrm>
            <a:off x="5120640" y="896112"/>
            <a:ext cx="1828800" cy="566928"/>
          </a:xfrm>
          <a:prstGeom prst="roundRect">
            <a:avLst>
              <a:gd name="adj" fmla="val 9677"/>
            </a:avLst>
          </a:prstGeom>
          <a:solidFill>
            <a:schemeClr val="bg2"/>
          </a:solidFill>
          <a:ln w="19050">
            <a:solidFill>
              <a:srgbClr val="3F7D4E"/>
            </a:solidFill>
            <a:prstDash val="solid"/>
          </a:ln>
        </p:spPr>
      </p:sp>
      <p:sp>
        <p:nvSpPr>
          <p:cNvPr id="14" name="Text 12"/>
          <p:cNvSpPr txBox="1"/>
          <p:nvPr/>
        </p:nvSpPr>
        <p:spPr>
          <a:xfrm>
            <a:off x="5230368" y="950976"/>
            <a:ext cx="1645920" cy="228600"/>
          </a:xfrm>
          <a:prstGeom prst="rect">
            <a:avLst/>
          </a:prstGeom>
          <a:noFill/>
          <a:ln/>
        </p:spPr>
        <p:txBody>
          <a:bodyPr wrap="square" lIns="0" tIns="0" rIns="0" bIns="0" rtlCol="0" anchor="t"/>
          <a:lstStyle/>
          <a:p>
            <a:pPr indent="0" marL="0">
              <a:buNone/>
            </a:pPr>
            <a:r>
              <a:rPr lang="en-US" sz="1200" b="1" dirty="0">
                <a:solidFill>
                  <a:schemeClr val="accent4"/>
                </a:solidFill>
              </a:rPr>
              <a:t>Team queue (auto)</a:t>
            </a:r>
            <a:endParaRPr lang="en-US" sz="1200" dirty="0"/>
          </a:p>
        </p:txBody>
      </p:sp>
      <p:sp>
        <p:nvSpPr>
          <p:cNvPr id="15" name="Text 13"/>
          <p:cNvSpPr txBox="1"/>
          <p:nvPr/>
        </p:nvSpPr>
        <p:spPr>
          <a:xfrm>
            <a:off x="5230368" y="1188720"/>
            <a:ext cx="1645920" cy="228600"/>
          </a:xfrm>
          <a:prstGeom prst="rect">
            <a:avLst/>
          </a:prstGeom>
          <a:noFill/>
          <a:ln/>
        </p:spPr>
        <p:txBody>
          <a:bodyPr wrap="square" lIns="0" tIns="0" rIns="0" bIns="0" rtlCol="0" anchor="t"/>
          <a:lstStyle/>
          <a:p>
            <a:pPr indent="0" marL="0">
              <a:buNone/>
            </a:pPr>
            <a:r>
              <a:rPr lang="en-US" sz="1000" dirty="0">
                <a:solidFill>
                  <a:schemeClr val="accent5"/>
                </a:solidFill>
              </a:rPr>
              <a:t>confidence ≥ threshold</a:t>
            </a:r>
            <a:endParaRPr lang="en-US" sz="1000" dirty="0"/>
          </a:p>
        </p:txBody>
      </p:sp>
      <p:sp>
        <p:nvSpPr>
          <p:cNvPr id="16" name="Shape 14"/>
          <p:cNvSpPr/>
          <p:nvPr/>
        </p:nvSpPr>
        <p:spPr>
          <a:xfrm>
            <a:off x="5120640" y="2103120"/>
            <a:ext cx="1828800" cy="566928"/>
          </a:xfrm>
          <a:prstGeom prst="roundRect">
            <a:avLst>
              <a:gd name="adj" fmla="val 9677"/>
            </a:avLst>
          </a:prstGeom>
          <a:solidFill>
            <a:schemeClr val="bg2"/>
          </a:solidFill>
          <a:ln w="19050">
            <a:solidFill>
              <a:srgbClr val="C9741F"/>
            </a:solidFill>
            <a:prstDash val="solid"/>
          </a:ln>
        </p:spPr>
      </p:sp>
      <p:sp>
        <p:nvSpPr>
          <p:cNvPr id="17" name="Text 15"/>
          <p:cNvSpPr txBox="1"/>
          <p:nvPr/>
        </p:nvSpPr>
        <p:spPr>
          <a:xfrm>
            <a:off x="5230368" y="2157984"/>
            <a:ext cx="1645920" cy="228600"/>
          </a:xfrm>
          <a:prstGeom prst="rect">
            <a:avLst/>
          </a:prstGeom>
          <a:noFill/>
          <a:ln/>
        </p:spPr>
        <p:txBody>
          <a:bodyPr wrap="square" lIns="0" tIns="0" rIns="0" bIns="0" rtlCol="0" anchor="t"/>
          <a:lstStyle/>
          <a:p>
            <a:pPr indent="0" marL="0">
              <a:buNone/>
            </a:pPr>
            <a:r>
              <a:rPr lang="en-US" sz="1200" b="1" dirty="0">
                <a:solidFill>
                  <a:schemeClr val="accent1"/>
                </a:solidFill>
              </a:rPr>
              <a:t>Human triage</a:t>
            </a:r>
            <a:endParaRPr lang="en-US" sz="1200" dirty="0"/>
          </a:p>
        </p:txBody>
      </p:sp>
      <p:sp>
        <p:nvSpPr>
          <p:cNvPr id="18" name="Text 16"/>
          <p:cNvSpPr txBox="1"/>
          <p:nvPr/>
        </p:nvSpPr>
        <p:spPr>
          <a:xfrm>
            <a:off x="5230368" y="2395728"/>
            <a:ext cx="1645920" cy="228600"/>
          </a:xfrm>
          <a:prstGeom prst="rect">
            <a:avLst/>
          </a:prstGeom>
          <a:noFill/>
          <a:ln/>
        </p:spPr>
        <p:txBody>
          <a:bodyPr wrap="square" lIns="0" tIns="0" rIns="0" bIns="0" rtlCol="0" anchor="t"/>
          <a:lstStyle/>
          <a:p>
            <a:pPr indent="0" marL="0">
              <a:buNone/>
            </a:pPr>
            <a:r>
              <a:rPr lang="en-US" sz="1000" dirty="0">
                <a:solidFill>
                  <a:schemeClr val="accent5"/>
                </a:solidFill>
              </a:rPr>
              <a:t>suggestion shown to agent</a:t>
            </a:r>
            <a:endParaRPr lang="en-US" sz="1000" dirty="0"/>
          </a:p>
        </p:txBody>
      </p:sp>
      <p:sp>
        <p:nvSpPr>
          <p:cNvPr id="19" name="Text 17"/>
          <p:cNvSpPr txBox="1"/>
          <p:nvPr/>
        </p:nvSpPr>
        <p:spPr>
          <a:xfrm>
            <a:off x="5120640" y="2743200"/>
            <a:ext cx="3566160" cy="274320"/>
          </a:xfrm>
          <a:prstGeom prst="rect">
            <a:avLst/>
          </a:prstGeom>
          <a:noFill/>
          <a:ln/>
        </p:spPr>
        <p:txBody>
          <a:bodyPr wrap="square" lIns="0" tIns="0" rIns="0" bIns="0" rtlCol="0" anchor="t"/>
          <a:lstStyle/>
          <a:p>
            <a:pPr indent="0" marL="0">
              <a:buNone/>
            </a:pPr>
            <a:r>
              <a:rPr lang="en-US" sz="1100" i="1" dirty="0">
                <a:solidFill>
                  <a:schemeClr val="accent5"/>
                </a:solidFill>
              </a:rPr>
              <a:t>Service down or &gt; 2 s → human triage. Intake never stops.</a:t>
            </a:r>
            <a:endParaRPr lang="en-US" sz="1100" dirty="0"/>
          </a:p>
        </p:txBody>
      </p:sp>
      <p:sp>
        <p:nvSpPr>
          <p:cNvPr id="20" name="Shape 18"/>
          <p:cNvSpPr/>
          <p:nvPr/>
        </p:nvSpPr>
        <p:spPr>
          <a:xfrm>
            <a:off x="457200" y="3200400"/>
            <a:ext cx="2606040" cy="1417320"/>
          </a:xfrm>
          <a:prstGeom prst="roundRect">
            <a:avLst>
              <a:gd name="adj" fmla="val 3871"/>
            </a:avLst>
          </a:prstGeom>
          <a:solidFill>
            <a:schemeClr val="bg2"/>
          </a:solidFill>
          <a:ln w="9525">
            <a:solidFill>
              <a:schemeClr val="bg2"/>
            </a:solidFill>
            <a:prstDash val="solid"/>
          </a:ln>
        </p:spPr>
      </p:sp>
      <p:sp>
        <p:nvSpPr>
          <p:cNvPr id="21" name="Text 19"/>
          <p:cNvSpPr txBox="1"/>
          <p:nvPr/>
        </p:nvSpPr>
        <p:spPr>
          <a:xfrm>
            <a:off x="59436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Who consumes</a:t>
            </a:r>
            <a:endParaRPr lang="en-US" sz="1400" dirty="0"/>
          </a:p>
        </p:txBody>
      </p:sp>
      <p:sp>
        <p:nvSpPr>
          <p:cNvPr id="22" name="Text 20"/>
          <p:cNvSpPr txBox="1"/>
          <p:nvPr/>
        </p:nvSpPr>
        <p:spPr>
          <a:xfrm>
            <a:off x="59436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The intake desk's ticket queue calls POST /predict once per complaint; agents see the suggestion when it is not auto-routed.</a:t>
            </a:r>
            <a:endParaRPr lang="en-US" sz="1200" dirty="0"/>
          </a:p>
        </p:txBody>
      </p:sp>
      <p:sp>
        <p:nvSpPr>
          <p:cNvPr id="23" name="Shape 21"/>
          <p:cNvSpPr/>
          <p:nvPr/>
        </p:nvSpPr>
        <p:spPr>
          <a:xfrm>
            <a:off x="3246120" y="3200400"/>
            <a:ext cx="2606040" cy="1417320"/>
          </a:xfrm>
          <a:prstGeom prst="roundRect">
            <a:avLst>
              <a:gd name="adj" fmla="val 3871"/>
            </a:avLst>
          </a:prstGeom>
          <a:solidFill>
            <a:schemeClr val="bg2"/>
          </a:solidFill>
          <a:ln w="9525">
            <a:solidFill>
              <a:schemeClr val="bg2"/>
            </a:solidFill>
            <a:prstDash val="solid"/>
          </a:ln>
        </p:spPr>
      </p:sp>
      <p:sp>
        <p:nvSpPr>
          <p:cNvPr id="24" name="Text 22"/>
          <p:cNvSpPr txBox="1"/>
          <p:nvPr/>
        </p:nvSpPr>
        <p:spPr>
          <a:xfrm>
            <a:off x="338328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How often</a:t>
            </a:r>
            <a:endParaRPr lang="en-US" sz="1400" dirty="0"/>
          </a:p>
        </p:txBody>
      </p:sp>
      <p:sp>
        <p:nvSpPr>
          <p:cNvPr id="25" name="Text 23"/>
          <p:cNvSpPr txBox="1"/>
          <p:nvPr/>
        </p:nvSpPr>
        <p:spPr>
          <a:xfrm>
            <a:off x="338328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~21,000 complaints a day in 2026 (measured in the official export); peak ≈ 2.5 requests/s.</a:t>
            </a:r>
            <a:endParaRPr lang="en-US" sz="1200" dirty="0"/>
          </a:p>
        </p:txBody>
      </p:sp>
      <p:sp>
        <p:nvSpPr>
          <p:cNvPr id="26" name="Shape 24"/>
          <p:cNvSpPr/>
          <p:nvPr/>
        </p:nvSpPr>
        <p:spPr>
          <a:xfrm>
            <a:off x="6035040" y="3200400"/>
            <a:ext cx="2606040" cy="1417320"/>
          </a:xfrm>
          <a:prstGeom prst="roundRect">
            <a:avLst>
              <a:gd name="adj" fmla="val 3871"/>
            </a:avLst>
          </a:prstGeom>
          <a:solidFill>
            <a:schemeClr val="bg2"/>
          </a:solidFill>
          <a:ln w="9525">
            <a:solidFill>
              <a:schemeClr val="bg2"/>
            </a:solidFill>
            <a:prstDash val="solid"/>
          </a:ln>
        </p:spPr>
      </p:sp>
      <p:sp>
        <p:nvSpPr>
          <p:cNvPr id="27" name="Text 25"/>
          <p:cNvSpPr txBox="1"/>
          <p:nvPr/>
        </p:nvSpPr>
        <p:spPr>
          <a:xfrm>
            <a:off x="6172200" y="3310128"/>
            <a:ext cx="2331720" cy="274320"/>
          </a:xfrm>
          <a:prstGeom prst="rect">
            <a:avLst/>
          </a:prstGeom>
          <a:noFill/>
          <a:ln/>
        </p:spPr>
        <p:txBody>
          <a:bodyPr wrap="square" lIns="0" tIns="0" rIns="0" bIns="0" rtlCol="0" anchor="t"/>
          <a:lstStyle/>
          <a:p>
            <a:pPr indent="0" marL="0">
              <a:buNone/>
            </a:pPr>
            <a:r>
              <a:rPr lang="en-US" sz="1400" b="1" dirty="0">
                <a:solidFill>
                  <a:schemeClr val="accent2"/>
                </a:solidFill>
              </a:rPr>
              <a:t>Cost of an error</a:t>
            </a:r>
            <a:endParaRPr lang="en-US" sz="1400" dirty="0"/>
          </a:p>
        </p:txBody>
      </p:sp>
      <p:sp>
        <p:nvSpPr>
          <p:cNvPr id="28" name="Text 26"/>
          <p:cNvSpPr txBox="1"/>
          <p:nvPr/>
        </p:nvSpPr>
        <p:spPr>
          <a:xfrm>
            <a:off x="6172200" y="3611880"/>
            <a:ext cx="2331720" cy="960120"/>
          </a:xfrm>
          <a:prstGeom prst="rect">
            <a:avLst/>
          </a:prstGeom>
          <a:noFill/>
          <a:ln/>
        </p:spPr>
        <p:txBody>
          <a:bodyPr wrap="square" lIns="0" tIns="0" rIns="0" bIns="0" rtlCol="0" anchor="t"/>
          <a:lstStyle/>
          <a:p>
            <a:pPr indent="0" marL="0">
              <a:buNone/>
            </a:pPr>
            <a:r>
              <a:rPr lang="en-US" sz="1200" dirty="0">
                <a:solidFill>
                  <a:schemeClr val="tx1"/>
                </a:solidFill>
              </a:rPr>
              <a:t>Wrong team → reassignment while the 15-day response clock runs. Systematic errors hide until labels arrive.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The data keeps moving, so a one-off notebook would decay</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Labels, class mix, volume and published fields all changed (measured), so the model must be retrained and watched.</a:t>
            </a:r>
            <a:endParaRPr lang="en-US" sz="1200" dirty="0"/>
          </a:p>
        </p:txBody>
      </p:sp>
      <p:graphicFrame>
        <p:nvGraphicFramePr>
          <p:cNvPr id="4" name="Chart 0" descr=""/>
          <p:cNvGraphicFramePr/>
          <p:nvPr/>
        </p:nvGraphicFramePr>
        <p:xfrm>
          <a:off x="365760" y="914400"/>
          <a:ext cx="475488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349240" y="960120"/>
            <a:ext cx="3337560" cy="786384"/>
          </a:xfrm>
          <a:prstGeom prst="roundRect">
            <a:avLst>
              <a:gd name="adj" fmla="val 6977"/>
            </a:avLst>
          </a:prstGeom>
          <a:solidFill>
            <a:schemeClr val="bg2"/>
          </a:solidFill>
          <a:ln w="9525">
            <a:solidFill>
              <a:schemeClr val="bg2"/>
            </a:solidFill>
            <a:prstDash val="solid"/>
          </a:ln>
        </p:spPr>
      </p:sp>
      <p:sp>
        <p:nvSpPr>
          <p:cNvPr id="6" name="Text 3"/>
          <p:cNvSpPr txBox="1"/>
          <p:nvPr/>
        </p:nvSpPr>
        <p:spPr>
          <a:xfrm>
            <a:off x="5486400" y="1033272"/>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Label set changed twice</a:t>
            </a:r>
            <a:endParaRPr lang="en-US" sz="1300" dirty="0"/>
          </a:p>
        </p:txBody>
      </p:sp>
      <p:sp>
        <p:nvSpPr>
          <p:cNvPr id="7" name="Text 4"/>
          <p:cNvSpPr txBox="1"/>
          <p:nvPr/>
        </p:nvSpPr>
        <p:spPr>
          <a:xfrm>
            <a:off x="5486400" y="1307592"/>
            <a:ext cx="3108960" cy="411480"/>
          </a:xfrm>
          <a:prstGeom prst="rect">
            <a:avLst/>
          </a:prstGeom>
          <a:noFill/>
          <a:ln/>
        </p:spPr>
        <p:txBody>
          <a:bodyPr wrap="square" lIns="0" tIns="0" rIns="0" bIns="0" rtlCol="0" anchor="t"/>
          <a:lstStyle/>
          <a:p>
            <a:pPr indent="0" marL="0">
              <a:buNone/>
            </a:pPr>
            <a:r>
              <a:rPr lang="en-US" sz="1100" dirty="0">
                <a:solidFill>
                  <a:schemeClr val="tx1"/>
                </a:solidFill>
              </a:rPr>
              <a:t>April 2017 and August 2023 renamed and merged products; 20 names now map to 10 classes.</a:t>
            </a:r>
            <a:endParaRPr lang="en-US" sz="1100" dirty="0"/>
          </a:p>
        </p:txBody>
      </p:sp>
      <p:sp>
        <p:nvSpPr>
          <p:cNvPr id="8" name="Shape 5"/>
          <p:cNvSpPr/>
          <p:nvPr/>
        </p:nvSpPr>
        <p:spPr>
          <a:xfrm>
            <a:off x="5349240" y="1856232"/>
            <a:ext cx="3337560" cy="786384"/>
          </a:xfrm>
          <a:prstGeom prst="roundRect">
            <a:avLst>
              <a:gd name="adj" fmla="val 6977"/>
            </a:avLst>
          </a:prstGeom>
          <a:solidFill>
            <a:schemeClr val="bg2"/>
          </a:solidFill>
          <a:ln w="9525">
            <a:solidFill>
              <a:schemeClr val="bg2"/>
            </a:solidFill>
            <a:prstDash val="solid"/>
          </a:ln>
        </p:spPr>
      </p:sp>
      <p:sp>
        <p:nvSpPr>
          <p:cNvPr id="9" name="Text 6"/>
          <p:cNvSpPr txBox="1"/>
          <p:nvPr/>
        </p:nvSpPr>
        <p:spPr>
          <a:xfrm>
            <a:off x="5486400" y="1929384"/>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Class mix shifted</a:t>
            </a:r>
            <a:endParaRPr lang="en-US" sz="1300" dirty="0"/>
          </a:p>
        </p:txBody>
      </p:sp>
      <p:sp>
        <p:nvSpPr>
          <p:cNvPr id="10" name="Text 7"/>
          <p:cNvSpPr txBox="1"/>
          <p:nvPr/>
        </p:nvSpPr>
        <p:spPr>
          <a:xfrm>
            <a:off x="5486400" y="2203704"/>
            <a:ext cx="3108960" cy="411480"/>
          </a:xfrm>
          <a:prstGeom prst="rect">
            <a:avLst/>
          </a:prstGeom>
          <a:noFill/>
          <a:ln/>
        </p:spPr>
        <p:txBody>
          <a:bodyPr wrap="square" lIns="0" tIns="0" rIns="0" bIns="0" rtlCol="0" anchor="t"/>
          <a:lstStyle/>
          <a:p>
            <a:pPr indent="0" marL="0">
              <a:buNone/>
            </a:pPr>
            <a:r>
              <a:rPr lang="en-US" sz="1100" dirty="0">
                <a:solidFill>
                  <a:schemeClr val="tx1"/>
                </a:solidFill>
              </a:rPr>
              <a:t>Credit reporting: 19% of texts (2016) → 77% (2024).</a:t>
            </a:r>
            <a:endParaRPr lang="en-US" sz="1100" dirty="0"/>
          </a:p>
        </p:txBody>
      </p:sp>
      <p:sp>
        <p:nvSpPr>
          <p:cNvPr id="11" name="Shape 8"/>
          <p:cNvSpPr/>
          <p:nvPr/>
        </p:nvSpPr>
        <p:spPr>
          <a:xfrm>
            <a:off x="5349240" y="2752344"/>
            <a:ext cx="3337560" cy="786384"/>
          </a:xfrm>
          <a:prstGeom prst="roundRect">
            <a:avLst>
              <a:gd name="adj" fmla="val 6977"/>
            </a:avLst>
          </a:prstGeom>
          <a:solidFill>
            <a:schemeClr val="bg2"/>
          </a:solidFill>
          <a:ln w="9525">
            <a:solidFill>
              <a:schemeClr val="bg2"/>
            </a:solidFill>
            <a:prstDash val="solid"/>
          </a:ln>
        </p:spPr>
      </p:sp>
      <p:sp>
        <p:nvSpPr>
          <p:cNvPr id="12" name="Text 9"/>
          <p:cNvSpPr txBox="1"/>
          <p:nvPr/>
        </p:nvSpPr>
        <p:spPr>
          <a:xfrm>
            <a:off x="5486400" y="2825496"/>
            <a:ext cx="3108960" cy="256032"/>
          </a:xfrm>
          <a:prstGeom prst="rect">
            <a:avLst/>
          </a:prstGeom>
          <a:noFill/>
          <a:ln/>
        </p:spPr>
        <p:txBody>
          <a:bodyPr wrap="square" lIns="0" tIns="0" rIns="0" bIns="0" rtlCol="0" anchor="t"/>
          <a:lstStyle/>
          <a:p>
            <a:pPr indent="0" marL="0">
              <a:buNone/>
            </a:pPr>
            <a:r>
              <a:rPr lang="en-US" sz="1300" b="1" dirty="0">
                <a:solidFill>
                  <a:schemeClr val="accent2"/>
                </a:solidFill>
              </a:rPr>
              <a:t>Volume grew 30×</a:t>
            </a:r>
            <a:endParaRPr lang="en-US" sz="1300" dirty="0"/>
          </a:p>
        </p:txBody>
      </p:sp>
      <p:sp>
        <p:nvSpPr>
          <p:cNvPr id="13" name="Text 10"/>
          <p:cNvSpPr txBox="1"/>
          <p:nvPr/>
        </p:nvSpPr>
        <p:spPr>
          <a:xfrm>
            <a:off x="5486400" y="3099816"/>
            <a:ext cx="3108960" cy="411480"/>
          </a:xfrm>
          <a:prstGeom prst="rect">
            <a:avLst/>
          </a:prstGeom>
          <a:noFill/>
          <a:ln/>
        </p:spPr>
        <p:txBody>
          <a:bodyPr wrap="square" lIns="0" tIns="0" rIns="0" bIns="0" rtlCol="0" anchor="t"/>
          <a:lstStyle/>
          <a:p>
            <a:pPr indent="0" marL="0">
              <a:buNone/>
            </a:pPr>
            <a:r>
              <a:rPr lang="en-US" sz="1100" dirty="0">
                <a:solidFill>
                  <a:schemeClr val="tx1"/>
                </a:solidFill>
              </a:rPr>
              <a:t>0.17 M complaints (2015) → 5.4 M (2025).</a:t>
            </a:r>
            <a:endParaRPr lang="en-US" sz="1100" dirty="0"/>
          </a:p>
        </p:txBody>
      </p:sp>
      <p:sp>
        <p:nvSpPr>
          <p:cNvPr id="14" name="Shape 11"/>
          <p:cNvSpPr/>
          <p:nvPr/>
        </p:nvSpPr>
        <p:spPr>
          <a:xfrm>
            <a:off x="5349240" y="3648456"/>
            <a:ext cx="3337560" cy="786384"/>
          </a:xfrm>
          <a:prstGeom prst="roundRect">
            <a:avLst>
              <a:gd name="adj" fmla="val 6977"/>
            </a:avLst>
          </a:prstGeom>
          <a:solidFill>
            <a:schemeClr val="bg2"/>
          </a:solidFill>
          <a:ln w="9525">
            <a:solidFill>
              <a:schemeClr val="bg2"/>
            </a:solidFill>
            <a:prstDash val="solid"/>
          </a:ln>
        </p:spPr>
      </p:sp>
      <p:sp>
        <p:nvSpPr>
          <p:cNvPr id="15" name="Text 12"/>
          <p:cNvSpPr txBox="1"/>
          <p:nvPr/>
        </p:nvSpPr>
        <p:spPr>
          <a:xfrm>
            <a:off x="5486400" y="3721608"/>
            <a:ext cx="3108960" cy="256032"/>
          </a:xfrm>
          <a:prstGeom prst="rect">
            <a:avLst/>
          </a:prstGeom>
          <a:noFill/>
          <a:ln/>
        </p:spPr>
        <p:txBody>
          <a:bodyPr wrap="square" lIns="0" tIns="0" rIns="0" bIns="0" rtlCol="0" anchor="t"/>
          <a:lstStyle/>
          <a:p>
            <a:pPr indent="0" marL="0">
              <a:buNone/>
            </a:pPr>
            <a:r>
              <a:rPr lang="en-US" sz="1300" b="1" dirty="0">
                <a:solidFill>
                  <a:schemeClr val="accent3"/>
                </a:solidFill>
              </a:rPr>
              <a:t>Text stopped in 2026</a:t>
            </a:r>
            <a:endParaRPr lang="en-US" sz="1300" dirty="0"/>
          </a:p>
        </p:txBody>
      </p:sp>
      <p:sp>
        <p:nvSpPr>
          <p:cNvPr id="16" name="Text 13"/>
          <p:cNvSpPr txBox="1"/>
          <p:nvPr/>
        </p:nvSpPr>
        <p:spPr>
          <a:xfrm>
            <a:off x="5486400" y="3995928"/>
            <a:ext cx="3108960" cy="411480"/>
          </a:xfrm>
          <a:prstGeom prst="rect">
            <a:avLst/>
          </a:prstGeom>
          <a:noFill/>
          <a:ln/>
        </p:spPr>
        <p:txBody>
          <a:bodyPr wrap="square" lIns="0" tIns="0" rIns="0" bIns="0" rtlCol="0" anchor="t"/>
          <a:lstStyle/>
          <a:p>
            <a:pPr indent="0" marL="0">
              <a:buNone/>
            </a:pPr>
            <a:r>
              <a:rPr lang="en-US" sz="1100" dirty="0">
                <a:solidFill>
                  <a:schemeClr val="tx1"/>
                </a:solidFill>
              </a:rPr>
              <a:t>CFPB no longer publishes the complaint narrative.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Success is measured on three separate layers</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Business, model and system metrics are kept apart; two are optimised, the rest are thresholds a new model must pass first.</a:t>
            </a:r>
            <a:endParaRPr lang="en-US" sz="1200" dirty="0"/>
          </a:p>
        </p:txBody>
      </p:sp>
      <p:sp>
        <p:nvSpPr>
          <p:cNvPr id="4" name="Shape 2"/>
          <p:cNvSpPr/>
          <p:nvPr/>
        </p:nvSpPr>
        <p:spPr>
          <a:xfrm>
            <a:off x="457200" y="960120"/>
            <a:ext cx="2606040" cy="3246120"/>
          </a:xfrm>
          <a:prstGeom prst="roundRect">
            <a:avLst>
              <a:gd name="adj" fmla="val 2105"/>
            </a:avLst>
          </a:prstGeom>
          <a:solidFill>
            <a:schemeClr val="bg2"/>
          </a:solidFill>
          <a:ln w="9525">
            <a:solidFill>
              <a:schemeClr val="bg2"/>
            </a:solidFill>
            <a:prstDash val="solid"/>
          </a:ln>
        </p:spPr>
      </p:sp>
      <p:sp>
        <p:nvSpPr>
          <p:cNvPr id="5" name="Text 3"/>
          <p:cNvSpPr txBox="1"/>
          <p:nvPr/>
        </p:nvSpPr>
        <p:spPr>
          <a:xfrm>
            <a:off x="621792" y="1051560"/>
            <a:ext cx="2286000" cy="320040"/>
          </a:xfrm>
          <a:prstGeom prst="rect">
            <a:avLst/>
          </a:prstGeom>
          <a:noFill/>
          <a:ln/>
        </p:spPr>
        <p:txBody>
          <a:bodyPr wrap="square" lIns="0" tIns="0" rIns="0" bIns="0" rtlCol="0" anchor="t"/>
          <a:lstStyle/>
          <a:p>
            <a:pPr indent="0" marL="0">
              <a:buNone/>
            </a:pPr>
            <a:r>
              <a:rPr lang="en-US" sz="1600" b="1" dirty="0">
                <a:solidFill>
                  <a:schemeClr val="accent1"/>
                </a:solidFill>
              </a:rPr>
              <a:t>Business</a:t>
            </a:r>
            <a:endParaRPr lang="en-US" sz="1600" dirty="0"/>
          </a:p>
        </p:txBody>
      </p:sp>
      <p:sp>
        <p:nvSpPr>
          <p:cNvPr id="6" name="Text 4"/>
          <p:cNvSpPr txBox="1"/>
          <p:nvPr/>
        </p:nvSpPr>
        <p:spPr>
          <a:xfrm>
            <a:off x="62179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8%</a:t>
            </a:r>
            <a:endParaRPr lang="en-US" sz="2200" dirty="0"/>
          </a:p>
        </p:txBody>
      </p:sp>
      <p:sp>
        <p:nvSpPr>
          <p:cNvPr id="7" name="Text 5"/>
          <p:cNvSpPr txBox="1"/>
          <p:nvPr/>
        </p:nvSpPr>
        <p:spPr>
          <a:xfrm>
            <a:off x="62179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complaints routed to the wrong queue</a:t>
            </a:r>
            <a:endParaRPr lang="en-US" sz="1100" dirty="0"/>
          </a:p>
        </p:txBody>
      </p:sp>
      <p:sp>
        <p:nvSpPr>
          <p:cNvPr id="8" name="Text 6"/>
          <p:cNvSpPr txBox="1"/>
          <p:nvPr/>
        </p:nvSpPr>
        <p:spPr>
          <a:xfrm>
            <a:off x="62179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optimizing · assumed baseline 15%</a:t>
            </a:r>
            <a:endParaRPr lang="en-US" sz="1000" dirty="0"/>
          </a:p>
        </p:txBody>
      </p:sp>
      <p:sp>
        <p:nvSpPr>
          <p:cNvPr id="9" name="Text 7"/>
          <p:cNvSpPr txBox="1"/>
          <p:nvPr/>
        </p:nvSpPr>
        <p:spPr>
          <a:xfrm>
            <a:off x="621792" y="278892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60%</a:t>
            </a:r>
            <a:endParaRPr lang="en-US" sz="2200" dirty="0"/>
          </a:p>
        </p:txBody>
      </p:sp>
      <p:sp>
        <p:nvSpPr>
          <p:cNvPr id="10" name="Text 8"/>
          <p:cNvSpPr txBox="1"/>
          <p:nvPr/>
        </p:nvSpPr>
        <p:spPr>
          <a:xfrm>
            <a:off x="621792" y="3136392"/>
            <a:ext cx="2286000" cy="274320"/>
          </a:xfrm>
          <a:prstGeom prst="rect">
            <a:avLst/>
          </a:prstGeom>
          <a:noFill/>
          <a:ln/>
        </p:spPr>
        <p:txBody>
          <a:bodyPr wrap="square" lIns="0" tIns="0" rIns="0" bIns="0" rtlCol="0" anchor="t"/>
          <a:lstStyle/>
          <a:p>
            <a:pPr indent="0" marL="0">
              <a:buNone/>
            </a:pPr>
            <a:r>
              <a:rPr lang="en-US" sz="1100" dirty="0">
                <a:solidFill>
                  <a:schemeClr val="tx1"/>
                </a:solidFill>
              </a:rPr>
              <a:t>routed with no human touch</a:t>
            </a:r>
            <a:endParaRPr lang="en-US" sz="1100" dirty="0"/>
          </a:p>
        </p:txBody>
      </p:sp>
      <p:sp>
        <p:nvSpPr>
          <p:cNvPr id="11" name="Text 9"/>
          <p:cNvSpPr txBox="1"/>
          <p:nvPr/>
        </p:nvSpPr>
        <p:spPr>
          <a:xfrm>
            <a:off x="621792" y="337413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12" name="Shape 10"/>
          <p:cNvSpPr/>
          <p:nvPr/>
        </p:nvSpPr>
        <p:spPr>
          <a:xfrm>
            <a:off x="3246120" y="960120"/>
            <a:ext cx="2606040" cy="3246120"/>
          </a:xfrm>
          <a:prstGeom prst="roundRect">
            <a:avLst>
              <a:gd name="adj" fmla="val 2105"/>
            </a:avLst>
          </a:prstGeom>
          <a:solidFill>
            <a:schemeClr val="bg2"/>
          </a:solidFill>
          <a:ln w="9525">
            <a:solidFill>
              <a:schemeClr val="bg2"/>
            </a:solidFill>
            <a:prstDash val="solid"/>
          </a:ln>
        </p:spPr>
      </p:sp>
      <p:sp>
        <p:nvSpPr>
          <p:cNvPr id="13" name="Text 11"/>
          <p:cNvSpPr txBox="1"/>
          <p:nvPr/>
        </p:nvSpPr>
        <p:spPr>
          <a:xfrm>
            <a:off x="3410712" y="1051560"/>
            <a:ext cx="2286000" cy="320040"/>
          </a:xfrm>
          <a:prstGeom prst="rect">
            <a:avLst/>
          </a:prstGeom>
          <a:noFill/>
          <a:ln/>
        </p:spPr>
        <p:txBody>
          <a:bodyPr wrap="square" lIns="0" tIns="0" rIns="0" bIns="0" rtlCol="0" anchor="t"/>
          <a:lstStyle/>
          <a:p>
            <a:pPr indent="0" marL="0">
              <a:buNone/>
            </a:pPr>
            <a:r>
              <a:rPr lang="en-US" sz="1600" b="1" dirty="0">
                <a:solidFill>
                  <a:schemeClr val="accent2"/>
                </a:solidFill>
              </a:rPr>
              <a:t>Model</a:t>
            </a:r>
            <a:endParaRPr lang="en-US" sz="1600" dirty="0"/>
          </a:p>
        </p:txBody>
      </p:sp>
      <p:sp>
        <p:nvSpPr>
          <p:cNvPr id="14" name="Text 12"/>
          <p:cNvSpPr txBox="1"/>
          <p:nvPr/>
        </p:nvSpPr>
        <p:spPr>
          <a:xfrm>
            <a:off x="341071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0.80</a:t>
            </a:r>
            <a:endParaRPr lang="en-US" sz="2200" dirty="0"/>
          </a:p>
        </p:txBody>
      </p:sp>
      <p:sp>
        <p:nvSpPr>
          <p:cNvPr id="15" name="Text 13"/>
          <p:cNvSpPr txBox="1"/>
          <p:nvPr/>
        </p:nvSpPr>
        <p:spPr>
          <a:xfrm>
            <a:off x="341071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macro-F1, newest held-out month</a:t>
            </a:r>
            <a:endParaRPr lang="en-US" sz="1100" dirty="0"/>
          </a:p>
        </p:txBody>
      </p:sp>
      <p:sp>
        <p:nvSpPr>
          <p:cNvPr id="16" name="Text 14"/>
          <p:cNvSpPr txBox="1"/>
          <p:nvPr/>
        </p:nvSpPr>
        <p:spPr>
          <a:xfrm>
            <a:off x="341071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optimizing · ≥ baseline + 0.10</a:t>
            </a:r>
            <a:endParaRPr lang="en-US" sz="1000" dirty="0"/>
          </a:p>
        </p:txBody>
      </p:sp>
      <p:sp>
        <p:nvSpPr>
          <p:cNvPr id="17" name="Text 15"/>
          <p:cNvSpPr txBox="1"/>
          <p:nvPr/>
        </p:nvSpPr>
        <p:spPr>
          <a:xfrm>
            <a:off x="3410712" y="278892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0.95</a:t>
            </a:r>
            <a:endParaRPr lang="en-US" sz="2200" dirty="0"/>
          </a:p>
        </p:txBody>
      </p:sp>
      <p:sp>
        <p:nvSpPr>
          <p:cNvPr id="18" name="Text 16"/>
          <p:cNvSpPr txBox="1"/>
          <p:nvPr/>
        </p:nvSpPr>
        <p:spPr>
          <a:xfrm>
            <a:off x="3410712" y="3136392"/>
            <a:ext cx="2286000" cy="274320"/>
          </a:xfrm>
          <a:prstGeom prst="rect">
            <a:avLst/>
          </a:prstGeom>
          <a:noFill/>
          <a:ln/>
        </p:spPr>
        <p:txBody>
          <a:bodyPr wrap="square" lIns="0" tIns="0" rIns="0" bIns="0" rtlCol="0" anchor="t"/>
          <a:lstStyle/>
          <a:p>
            <a:pPr indent="0" marL="0">
              <a:buNone/>
            </a:pPr>
            <a:r>
              <a:rPr lang="en-US" sz="1100" dirty="0">
                <a:solidFill>
                  <a:schemeClr val="tx1"/>
                </a:solidFill>
              </a:rPr>
              <a:t>precision on auto-routed complaints</a:t>
            </a:r>
            <a:endParaRPr lang="en-US" sz="1100" dirty="0"/>
          </a:p>
        </p:txBody>
      </p:sp>
      <p:sp>
        <p:nvSpPr>
          <p:cNvPr id="19" name="Text 17"/>
          <p:cNvSpPr txBox="1"/>
          <p:nvPr/>
        </p:nvSpPr>
        <p:spPr>
          <a:xfrm>
            <a:off x="3410712" y="337413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 · sets the threshold</a:t>
            </a:r>
            <a:endParaRPr lang="en-US" sz="1000" dirty="0"/>
          </a:p>
        </p:txBody>
      </p:sp>
      <p:sp>
        <p:nvSpPr>
          <p:cNvPr id="20" name="Shape 18"/>
          <p:cNvSpPr/>
          <p:nvPr/>
        </p:nvSpPr>
        <p:spPr>
          <a:xfrm>
            <a:off x="6035040" y="960120"/>
            <a:ext cx="2606040" cy="3246120"/>
          </a:xfrm>
          <a:prstGeom prst="roundRect">
            <a:avLst>
              <a:gd name="adj" fmla="val 2105"/>
            </a:avLst>
          </a:prstGeom>
          <a:solidFill>
            <a:schemeClr val="bg2"/>
          </a:solidFill>
          <a:ln w="9525">
            <a:solidFill>
              <a:schemeClr val="bg2"/>
            </a:solidFill>
            <a:prstDash val="solid"/>
          </a:ln>
        </p:spPr>
      </p:sp>
      <p:sp>
        <p:nvSpPr>
          <p:cNvPr id="21" name="Text 19"/>
          <p:cNvSpPr txBox="1"/>
          <p:nvPr/>
        </p:nvSpPr>
        <p:spPr>
          <a:xfrm>
            <a:off x="6199632" y="1051560"/>
            <a:ext cx="2286000" cy="320040"/>
          </a:xfrm>
          <a:prstGeom prst="rect">
            <a:avLst/>
          </a:prstGeom>
          <a:noFill/>
          <a:ln/>
        </p:spPr>
        <p:txBody>
          <a:bodyPr wrap="square" lIns="0" tIns="0" rIns="0" bIns="0" rtlCol="0" anchor="t"/>
          <a:lstStyle/>
          <a:p>
            <a:pPr indent="0" marL="0">
              <a:buNone/>
            </a:pPr>
            <a:r>
              <a:rPr lang="en-US" sz="1600" b="1" dirty="0">
                <a:solidFill>
                  <a:schemeClr val="accent6"/>
                </a:solidFill>
              </a:rPr>
              <a:t>System</a:t>
            </a:r>
            <a:endParaRPr lang="en-US" sz="1600" dirty="0"/>
          </a:p>
        </p:txBody>
      </p:sp>
      <p:sp>
        <p:nvSpPr>
          <p:cNvPr id="22" name="Text 20"/>
          <p:cNvSpPr txBox="1"/>
          <p:nvPr/>
        </p:nvSpPr>
        <p:spPr>
          <a:xfrm>
            <a:off x="6199632" y="1463040"/>
            <a:ext cx="2286000" cy="347472"/>
          </a:xfrm>
          <a:prstGeom prst="rect">
            <a:avLst/>
          </a:prstGeom>
          <a:noFill/>
          <a:ln/>
        </p:spPr>
        <p:txBody>
          <a:bodyPr wrap="square" lIns="0" tIns="0" rIns="0" bIns="0" rtlCol="0" anchor="t"/>
          <a:lstStyle/>
          <a:p>
            <a:pPr indent="0" marL="0">
              <a:buNone/>
            </a:pPr>
            <a:r>
              <a:rPr lang="en-US" sz="2200" b="1" dirty="0">
                <a:solidFill>
                  <a:schemeClr val="tx1"/>
                </a:solidFill>
              </a:rPr>
              <a:t>≤ 300 ms</a:t>
            </a:r>
            <a:endParaRPr lang="en-US" sz="2200" dirty="0"/>
          </a:p>
        </p:txBody>
      </p:sp>
      <p:sp>
        <p:nvSpPr>
          <p:cNvPr id="23" name="Text 21"/>
          <p:cNvSpPr txBox="1"/>
          <p:nvPr/>
        </p:nvSpPr>
        <p:spPr>
          <a:xfrm>
            <a:off x="6199632" y="1810512"/>
            <a:ext cx="2286000" cy="274320"/>
          </a:xfrm>
          <a:prstGeom prst="rect">
            <a:avLst/>
          </a:prstGeom>
          <a:noFill/>
          <a:ln/>
        </p:spPr>
        <p:txBody>
          <a:bodyPr wrap="square" lIns="0" tIns="0" rIns="0" bIns="0" rtlCol="0" anchor="t"/>
          <a:lstStyle/>
          <a:p>
            <a:pPr indent="0" marL="0">
              <a:buNone/>
            </a:pPr>
            <a:r>
              <a:rPr lang="en-US" sz="1100" dirty="0">
                <a:solidFill>
                  <a:schemeClr val="tx1"/>
                </a:solidFill>
              </a:rPr>
              <a:t>p95 latency of POST /predict</a:t>
            </a:r>
            <a:endParaRPr lang="en-US" sz="1100" dirty="0"/>
          </a:p>
        </p:txBody>
      </p:sp>
      <p:sp>
        <p:nvSpPr>
          <p:cNvPr id="24" name="Text 22"/>
          <p:cNvSpPr txBox="1"/>
          <p:nvPr/>
        </p:nvSpPr>
        <p:spPr>
          <a:xfrm>
            <a:off x="6199632" y="2048256"/>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25" name="Text 23"/>
          <p:cNvSpPr txBox="1"/>
          <p:nvPr/>
        </p:nvSpPr>
        <p:spPr>
          <a:xfrm>
            <a:off x="6199632" y="2359152"/>
            <a:ext cx="2286000" cy="347472"/>
          </a:xfrm>
          <a:prstGeom prst="rect">
            <a:avLst/>
          </a:prstGeom>
          <a:noFill/>
          <a:ln/>
        </p:spPr>
        <p:txBody>
          <a:bodyPr wrap="square" lIns="0" tIns="0" rIns="0" bIns="0" rtlCol="0" anchor="t"/>
          <a:lstStyle/>
          <a:p>
            <a:pPr indent="0" marL="0">
              <a:buNone/>
            </a:pPr>
            <a:r>
              <a:rPr lang="en-US" sz="2200" b="1" dirty="0">
                <a:solidFill>
                  <a:schemeClr val="tx1"/>
                </a:solidFill>
              </a:rPr>
              <a:t>≥ 99.5%</a:t>
            </a:r>
            <a:endParaRPr lang="en-US" sz="2200" dirty="0"/>
          </a:p>
        </p:txBody>
      </p:sp>
      <p:sp>
        <p:nvSpPr>
          <p:cNvPr id="26" name="Text 24"/>
          <p:cNvSpPr txBox="1"/>
          <p:nvPr/>
        </p:nvSpPr>
        <p:spPr>
          <a:xfrm>
            <a:off x="6199632" y="2706624"/>
            <a:ext cx="2286000" cy="274320"/>
          </a:xfrm>
          <a:prstGeom prst="rect">
            <a:avLst/>
          </a:prstGeom>
          <a:noFill/>
          <a:ln/>
        </p:spPr>
        <p:txBody>
          <a:bodyPr wrap="square" lIns="0" tIns="0" rIns="0" bIns="0" rtlCol="0" anchor="t"/>
          <a:lstStyle/>
          <a:p>
            <a:pPr indent="0" marL="0">
              <a:buNone/>
            </a:pPr>
            <a:r>
              <a:rPr lang="en-US" sz="1100" dirty="0">
                <a:solidFill>
                  <a:schemeClr val="tx1"/>
                </a:solidFill>
              </a:rPr>
              <a:t>availability, 08:00–20:00</a:t>
            </a:r>
            <a:endParaRPr lang="en-US" sz="1100" dirty="0"/>
          </a:p>
        </p:txBody>
      </p:sp>
      <p:sp>
        <p:nvSpPr>
          <p:cNvPr id="27" name="Text 25"/>
          <p:cNvSpPr txBox="1"/>
          <p:nvPr/>
        </p:nvSpPr>
        <p:spPr>
          <a:xfrm>
            <a:off x="6199632" y="2944368"/>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28" name="Text 26"/>
          <p:cNvSpPr txBox="1"/>
          <p:nvPr/>
        </p:nvSpPr>
        <p:spPr>
          <a:xfrm>
            <a:off x="6199632" y="3255264"/>
            <a:ext cx="2286000" cy="347472"/>
          </a:xfrm>
          <a:prstGeom prst="rect">
            <a:avLst/>
          </a:prstGeom>
          <a:noFill/>
          <a:ln/>
        </p:spPr>
        <p:txBody>
          <a:bodyPr wrap="square" lIns="0" tIns="0" rIns="0" bIns="0" rtlCol="0" anchor="t"/>
          <a:lstStyle/>
          <a:p>
            <a:pPr indent="0" marL="0">
              <a:buNone/>
            </a:pPr>
            <a:r>
              <a:rPr lang="en-US" sz="2200" b="1" dirty="0">
                <a:solidFill>
                  <a:schemeClr val="tx1"/>
                </a:solidFill>
              </a:rPr>
              <a:t>≤ 3 days</a:t>
            </a:r>
            <a:endParaRPr lang="en-US" sz="2200" dirty="0"/>
          </a:p>
        </p:txBody>
      </p:sp>
      <p:sp>
        <p:nvSpPr>
          <p:cNvPr id="29" name="Text 27"/>
          <p:cNvSpPr txBox="1"/>
          <p:nvPr/>
        </p:nvSpPr>
        <p:spPr>
          <a:xfrm>
            <a:off x="6199632" y="3602736"/>
            <a:ext cx="2286000" cy="274320"/>
          </a:xfrm>
          <a:prstGeom prst="rect">
            <a:avLst/>
          </a:prstGeom>
          <a:noFill/>
          <a:ln/>
        </p:spPr>
        <p:txBody>
          <a:bodyPr wrap="square" lIns="0" tIns="0" rIns="0" bIns="0" rtlCol="0" anchor="t"/>
          <a:lstStyle/>
          <a:p>
            <a:pPr indent="0" marL="0">
              <a:buNone/>
            </a:pPr>
            <a:r>
              <a:rPr lang="en-US" sz="1100" dirty="0">
                <a:solidFill>
                  <a:schemeClr val="tx1"/>
                </a:solidFill>
              </a:rPr>
              <a:t>age of the newest ingested data</a:t>
            </a:r>
            <a:endParaRPr lang="en-US" sz="1100" dirty="0"/>
          </a:p>
        </p:txBody>
      </p:sp>
      <p:sp>
        <p:nvSpPr>
          <p:cNvPr id="30" name="Text 28"/>
          <p:cNvSpPr txBox="1"/>
          <p:nvPr/>
        </p:nvSpPr>
        <p:spPr>
          <a:xfrm>
            <a:off x="6199632" y="3840480"/>
            <a:ext cx="2286000" cy="228600"/>
          </a:xfrm>
          <a:prstGeom prst="rect">
            <a:avLst/>
          </a:prstGeom>
          <a:noFill/>
          <a:ln/>
        </p:spPr>
        <p:txBody>
          <a:bodyPr wrap="square" lIns="0" tIns="0" rIns="0" bIns="0" rtlCol="0" anchor="t"/>
          <a:lstStyle/>
          <a:p>
            <a:pPr indent="0" marL="0">
              <a:buNone/>
            </a:pPr>
            <a:r>
              <a:rPr lang="en-US" sz="1000" i="1" dirty="0">
                <a:solidFill>
                  <a:schemeClr val="accent5"/>
                </a:solidFill>
              </a:rPr>
              <a:t>satisficing</a:t>
            </a:r>
            <a:endParaRPr lang="en-US" sz="1000" dirty="0"/>
          </a:p>
        </p:txBody>
      </p:sp>
      <p:sp>
        <p:nvSpPr>
          <p:cNvPr id="31" name="Text 29"/>
          <p:cNvSpPr txBox="1"/>
          <p:nvPr/>
        </p:nvSpPr>
        <p:spPr>
          <a:xfrm>
            <a:off x="457200" y="4315968"/>
            <a:ext cx="8229600" cy="384048"/>
          </a:xfrm>
          <a:prstGeom prst="rect">
            <a:avLst/>
          </a:prstGeom>
          <a:noFill/>
          <a:ln/>
        </p:spPr>
        <p:txBody>
          <a:bodyPr wrap="square" lIns="0" tIns="0" rIns="0" bIns="0" rtlCol="0" anchor="t"/>
          <a:lstStyle/>
          <a:p>
            <a:pPr indent="0" marL="0">
              <a:buNone/>
            </a:pPr>
            <a:r>
              <a:rPr lang="en-US" sz="1200" i="1" dirty="0">
                <a:solidFill>
                  <a:schemeClr val="accent5"/>
                </a:solidFill>
              </a:rPr>
              <a:t>Macro-F1, not accuracy: credit reporting is 74% of training texts, so “always credit reporting” would score well on accuracy and be useless for the other nine queues.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Every non-functional requirement carries a number</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One row per category of the design-doc template; where two requirements conflict, the slide says which one wins and why.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5394960" cy="914400"/>
        </p:xfrm>
        <a:graphic>
          <a:graphicData uri="http://schemas.openxmlformats.org/drawingml/2006/table">
            <a:tbl>
              <a:tblPr/>
              <a:tblGrid>
                <a:gridCol w="1600200"/>
                <a:gridCol w="3794760"/>
              </a:tblGrid>
              <a:tr h="384048">
                <a:tc>
                  <a:txBody>
                    <a:bodyPr/>
                    <a:lstStyle/>
                    <a:p>
                      <a:pPr indent="0" marL="0">
                        <a:buNone/>
                      </a:pPr>
                      <a:r>
                        <a:rPr lang="en-US" sz="1100" b="1" dirty="0">
                          <a:solidFill>
                            <a:schemeClr val="bg1"/>
                          </a:solidFill>
                        </a:rPr>
                        <a:t>Category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Requirement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384048">
                <a:tc>
                  <a:txBody>
                    <a:bodyPr/>
                    <a:lstStyle/>
                    <a:p>
                      <a:pPr indent="0" marL="0">
                        <a:buNone/>
                      </a:pPr>
                      <a:r>
                        <a:rPr lang="en-US" sz="1100" b="1" dirty="0">
                          <a:solidFill>
                            <a:schemeClr val="tx1"/>
                          </a:solidFill>
                        </a:rPr>
                        <a:t>Freshness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Structured export ingested daily, ≤ 3 days old · text replayed monthly · labels joined after 15 days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Latency, throughput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p95 ≤ 300 ms, p99 ≤ 800 ms · 20 req/s per replica vs ~2.5 req/s peak</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Availability, fallback</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 99.5% · &gt; 2 s or error → human queue · failed load keeps previous champion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Reproducibility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Any model = git commit + DVC data version + params, rebuilt by one command</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Adaptability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Monthly and alert-triggered retraining · unmapped product fails the quality gate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Observability w/o labels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Input, prediction and confidence drift for the 15 days before labels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84048">
                <a:tc>
                  <a:txBody>
                    <a:bodyPr/>
                    <a:lstStyle/>
                    <a:p>
                      <a:pPr indent="0" marL="0">
                        <a:buNone/>
                      </a:pPr>
                      <a:r>
                        <a:rPr lang="en-US" sz="1100" b="1" dirty="0">
                          <a:solidFill>
                            <a:schemeClr val="tx1"/>
                          </a:solidFill>
                        </a:rPr>
                        <a:t>Cost, resources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Whole stack in Minikube, 4 GB / 2 CPU · model ≤ 200 MB · cloud ≤ $800/month</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Shape 2"/>
          <p:cNvSpPr/>
          <p:nvPr/>
        </p:nvSpPr>
        <p:spPr>
          <a:xfrm>
            <a:off x="6080760" y="914400"/>
            <a:ext cx="2606040" cy="1691640"/>
          </a:xfrm>
          <a:prstGeom prst="roundRect">
            <a:avLst>
              <a:gd name="adj" fmla="val 3243"/>
            </a:avLst>
          </a:prstGeom>
          <a:solidFill>
            <a:schemeClr val="bg2"/>
          </a:solidFill>
          <a:ln w="9525">
            <a:solidFill>
              <a:schemeClr val="bg2"/>
            </a:solidFill>
            <a:prstDash val="solid"/>
          </a:ln>
        </p:spPr>
      </p:sp>
      <p:sp>
        <p:nvSpPr>
          <p:cNvPr id="6" name="Text 3"/>
          <p:cNvSpPr txBox="1"/>
          <p:nvPr/>
        </p:nvSpPr>
        <p:spPr>
          <a:xfrm>
            <a:off x="6217920" y="1005840"/>
            <a:ext cx="2377440" cy="256032"/>
          </a:xfrm>
          <a:prstGeom prst="rect">
            <a:avLst/>
          </a:prstGeom>
          <a:noFill/>
          <a:ln/>
        </p:spPr>
        <p:txBody>
          <a:bodyPr wrap="square" lIns="0" tIns="0" rIns="0" bIns="0" rtlCol="0" anchor="t"/>
          <a:lstStyle/>
          <a:p>
            <a:pPr indent="0" marL="0">
              <a:buNone/>
            </a:pPr>
            <a:r>
              <a:rPr lang="en-US" sz="1300" b="1" dirty="0">
                <a:solidFill>
                  <a:schemeClr val="accent1"/>
                </a:solidFill>
              </a:rPr>
              <a:t>Conflict 1</a:t>
            </a:r>
            <a:endParaRPr lang="en-US" sz="1300" dirty="0"/>
          </a:p>
        </p:txBody>
      </p:sp>
      <p:sp>
        <p:nvSpPr>
          <p:cNvPr id="7" name="Text 4"/>
          <p:cNvSpPr txBox="1"/>
          <p:nvPr/>
        </p:nvSpPr>
        <p:spPr>
          <a:xfrm>
            <a:off x="6217920" y="1298448"/>
            <a:ext cx="2377440" cy="1234440"/>
          </a:xfrm>
          <a:prstGeom prst="rect">
            <a:avLst/>
          </a:prstGeom>
          <a:noFill/>
          <a:ln/>
        </p:spPr>
        <p:txBody>
          <a:bodyPr wrap="square" lIns="0" tIns="0" rIns="0" bIns="0" rtlCol="0" anchor="t"/>
          <a:lstStyle/>
          <a:p>
            <a:pPr indent="0" marL="0">
              <a:buNone/>
            </a:pPr>
            <a:r>
              <a:rPr lang="en-US" sz="1200" dirty="0">
                <a:solidFill>
                  <a:schemeClr val="tx1"/>
                </a:solidFill>
              </a:rPr>
              <a:t>Freshness vs reproducibility → reproducibility wins. Train only on DVC snapshots; costs ≤ 1 day.</a:t>
            </a:r>
            <a:endParaRPr lang="en-US" sz="1200" dirty="0"/>
          </a:p>
        </p:txBody>
      </p:sp>
      <p:sp>
        <p:nvSpPr>
          <p:cNvPr id="8" name="Shape 5"/>
          <p:cNvSpPr/>
          <p:nvPr/>
        </p:nvSpPr>
        <p:spPr>
          <a:xfrm>
            <a:off x="6080760" y="2743200"/>
            <a:ext cx="2606040" cy="1691640"/>
          </a:xfrm>
          <a:prstGeom prst="roundRect">
            <a:avLst>
              <a:gd name="adj" fmla="val 3243"/>
            </a:avLst>
          </a:prstGeom>
          <a:solidFill>
            <a:schemeClr val="bg2"/>
          </a:solidFill>
          <a:ln w="9525">
            <a:solidFill>
              <a:schemeClr val="bg2"/>
            </a:solidFill>
            <a:prstDash val="solid"/>
          </a:ln>
        </p:spPr>
      </p:sp>
      <p:sp>
        <p:nvSpPr>
          <p:cNvPr id="9" name="Text 6"/>
          <p:cNvSpPr txBox="1"/>
          <p:nvPr/>
        </p:nvSpPr>
        <p:spPr>
          <a:xfrm>
            <a:off x="6217920" y="2834640"/>
            <a:ext cx="2377440" cy="256032"/>
          </a:xfrm>
          <a:prstGeom prst="rect">
            <a:avLst/>
          </a:prstGeom>
          <a:noFill/>
          <a:ln/>
        </p:spPr>
        <p:txBody>
          <a:bodyPr wrap="square" lIns="0" tIns="0" rIns="0" bIns="0" rtlCol="0" anchor="t"/>
          <a:lstStyle/>
          <a:p>
            <a:pPr indent="0" marL="0">
              <a:buNone/>
            </a:pPr>
            <a:r>
              <a:rPr lang="en-US" sz="1300" b="1" dirty="0">
                <a:solidFill>
                  <a:schemeClr val="accent1"/>
                </a:solidFill>
              </a:rPr>
              <a:t>Conflict 2</a:t>
            </a:r>
            <a:endParaRPr lang="en-US" sz="1300" dirty="0"/>
          </a:p>
        </p:txBody>
      </p:sp>
      <p:sp>
        <p:nvSpPr>
          <p:cNvPr id="10" name="Text 7"/>
          <p:cNvSpPr txBox="1"/>
          <p:nvPr/>
        </p:nvSpPr>
        <p:spPr>
          <a:xfrm>
            <a:off x="6217920" y="3127248"/>
            <a:ext cx="2377440" cy="1234440"/>
          </a:xfrm>
          <a:prstGeom prst="rect">
            <a:avLst/>
          </a:prstGeom>
          <a:noFill/>
          <a:ln/>
        </p:spPr>
        <p:txBody>
          <a:bodyPr wrap="square" lIns="0" tIns="0" rIns="0" bIns="0" rtlCol="0" anchor="t"/>
          <a:lstStyle/>
          <a:p>
            <a:pPr indent="0" marL="0">
              <a:buNone/>
            </a:pPr>
            <a:r>
              <a:rPr lang="en-US" sz="1200" dirty="0">
                <a:solidFill>
                  <a:schemeClr val="tx1"/>
                </a:solidFill>
              </a:rPr>
              <a:t>Precision vs coverage → precision wins. A wrong auto-route costs more than one more manual review.</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One raw row, exactly as CFPB publishes it</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Each field has one role: model input, label, join key, or excluded because it only exists after routing (target leakage).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896112"/>
          <a:ext cx="8229600" cy="914400"/>
        </p:xfrm>
        <a:graphic>
          <a:graphicData uri="http://schemas.openxmlformats.org/drawingml/2006/table">
            <a:tbl>
              <a:tblPr/>
              <a:tblGrid>
                <a:gridCol w="1920240"/>
                <a:gridCol w="4572000"/>
                <a:gridCol w="1737360"/>
              </a:tblGrid>
              <a:tr h="0">
                <a:tc>
                  <a:txBody>
                    <a:bodyPr/>
                    <a:lstStyle/>
                    <a:p>
                      <a:pPr indent="0" marL="0">
                        <a:buNone/>
                      </a:pPr>
                      <a:r>
                        <a:rPr lang="en-US" sz="1100" b="1" dirty="0">
                          <a:solidFill>
                            <a:schemeClr val="bg1"/>
                          </a:solidFill>
                        </a:rPr>
                        <a:t>Field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Value (complaint 11425997)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Role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dirty="0">
                          <a:solidFill>
                            <a:schemeClr val="tx1"/>
                          </a:solidFill>
                        </a:rPr>
                        <a:t>Date received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2025-01-07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time split, replay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Product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Mortgage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2"/>
                          </a:solidFill>
                        </a:rPr>
                        <a:t>LABEL</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Sub-product · Issue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Conventional home mortgage · Trouble during payment process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not used (5.1)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Company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Shellpoint Partners, LLC</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1"/>
                          </a:solidFill>
                        </a:rPr>
                        <a:t>feature · skew risk</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State · Submitted via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WI · Web</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Consumer complaint narrative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“Property Taxes in Escrow did not get paid to my village by the due date, NewRez assures they will automatically be paid and not to worry about it. I now am in the new tax year and they are still listed as unpaid…”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MAIN 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Date sent to company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2025-01-07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3"/>
                          </a:solidFill>
                        </a:rPr>
                        <a:t>excluded: leakage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Company response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Closed with explanation</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3"/>
                          </a:solidFill>
                        </a:rPr>
                        <a:t>excluded: leakage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Complaint ID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11425997</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5"/>
                          </a:solidFill>
                        </a:rPr>
                        <a:t>join key for labels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A sample of the data: one real complaint per class</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Ten rows from data/sample/complaints_sample.csv (January–June 2025). The class is the label; the text is cut to its first words here.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8229600" cy="914400"/>
        </p:xfrm>
        <a:graphic>
          <a:graphicData uri="http://schemas.openxmlformats.org/drawingml/2006/table">
            <a:tbl>
              <a:tblPr/>
              <a:tblGrid>
                <a:gridCol w="914400"/>
                <a:gridCol w="1508760"/>
                <a:gridCol w="1371600"/>
                <a:gridCol w="4434840"/>
              </a:tblGrid>
              <a:tr h="0">
                <a:tc>
                  <a:txBody>
                    <a:bodyPr/>
                    <a:lstStyle/>
                    <a:p>
                      <a:pPr indent="0" marL="0">
                        <a:buNone/>
                      </a:pPr>
                      <a:r>
                        <a:rPr lang="en-US" sz="1000" b="1" dirty="0">
                          <a:solidFill>
                            <a:schemeClr val="bg1"/>
                          </a:solidFill>
                        </a:rPr>
                        <a:t>Complaint ID</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rPr>
                        <a:t>Class (label)</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rPr>
                        <a:t>Company</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rPr>
                        <a:t>Narrative (start)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000" dirty="0">
                          <a:solidFill>
                            <a:schemeClr val="tx1"/>
                          </a:solidFill>
                        </a:rPr>
                        <a:t>13456120</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Checking or savings</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KeyCorp</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am disputing a negative account reported by [KeyBank…] that is blocking me from opening any bank accounts…</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14373622</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Credit or prepaid card</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Synchrony Financial</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submitted proof of product return as requested. I received letter/s from Synchrony Bank…</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12867215</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Credit reporting</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TransUnion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am a victim of XXXX. The information listed below, which appears on my credit report, is the result of that…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13671992</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Debt collection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Experian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There are collection accounts on my report that I believe contain inaccurate information…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11529549</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Debt or credit mgmt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TransUnion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requested proof of late payments. I requested the late payments be investigated…</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11650859</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Money transfer</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Block, Inc.</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A XXXX company charged my card almost {$200.00}… I contacted Cash app and they refuse to give my money back…</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11501270</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Mortgage</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Shellpoint Partners</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have paid more than XXXX XXXX of my mortgage… I suppose to stop paying PMI, but the Newrez refused…</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12279657</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Payday / personal loan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Regional Management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applied for a loan @ Regional Finance. They changed the approved loan amount &amp; terms 3 different times…</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13302787</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Student loan</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MOHELA</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Report servicer misconduct, including errors in loan balances, misapplied payments, and wrongful denials of repayment plans…</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dirty="0">
                          <a:solidFill>
                            <a:schemeClr val="tx1"/>
                          </a:solidFill>
                        </a:rPr>
                        <a:t>13152318</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b="1" dirty="0">
                          <a:solidFill>
                            <a:schemeClr val="accent2"/>
                          </a:solidFill>
                        </a:rPr>
                        <a:t>Vehicle loan or lease</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Ford Motor Credit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i="1" dirty="0">
                          <a:solidFill>
                            <a:schemeClr val="tx1"/>
                          </a:solidFill>
                        </a:rPr>
                        <a:t>I set this account up on autopay… for some reason it was not set…</a:t>
                      </a:r>
                      <a:endParaRPr lang="en-US" sz="1000" dirty="0"/>
                    </a:p>
                  </a:txBody>
                  <a:tcPr marL="36576" marR="36576" marT="36576" marB="36576"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What the model reads: real complaints and their labels</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The product is usually clear from the consumer's own words; XXXX is CFPB's redaction of personal data (in 62% of texts).</a:t>
            </a:r>
            <a:endParaRPr lang="en-US" sz="1200" dirty="0"/>
          </a:p>
        </p:txBody>
      </p:sp>
      <p:sp>
        <p:nvSpPr>
          <p:cNvPr id="4" name="Shape 2"/>
          <p:cNvSpPr/>
          <p:nvPr/>
        </p:nvSpPr>
        <p:spPr>
          <a:xfrm>
            <a:off x="457200" y="914400"/>
            <a:ext cx="4023360" cy="1737360"/>
          </a:xfrm>
          <a:prstGeom prst="roundRect">
            <a:avLst>
              <a:gd name="adj" fmla="val 3158"/>
            </a:avLst>
          </a:prstGeom>
          <a:solidFill>
            <a:schemeClr val="bg2"/>
          </a:solidFill>
          <a:ln w="9525">
            <a:solidFill>
              <a:schemeClr val="bg2"/>
            </a:solidFill>
            <a:prstDash val="solid"/>
          </a:ln>
        </p:spPr>
      </p:sp>
      <p:sp>
        <p:nvSpPr>
          <p:cNvPr id="5" name="Shape 3"/>
          <p:cNvSpPr/>
          <p:nvPr/>
        </p:nvSpPr>
        <p:spPr>
          <a:xfrm>
            <a:off x="594360" y="1051560"/>
            <a:ext cx="1554480" cy="237744"/>
          </a:xfrm>
          <a:prstGeom prst="roundRect">
            <a:avLst>
              <a:gd name="adj" fmla="val 50000"/>
            </a:avLst>
          </a:prstGeom>
          <a:solidFill>
            <a:srgbClr val="2A3B4D"/>
          </a:solidFill>
          <a:ln w="6350">
            <a:solidFill>
              <a:srgbClr val="2A3B4D"/>
            </a:solidFill>
            <a:prstDash val="solid"/>
          </a:ln>
        </p:spPr>
      </p:sp>
      <p:sp>
        <p:nvSpPr>
          <p:cNvPr id="6" name="Text 4"/>
          <p:cNvSpPr txBox="1"/>
          <p:nvPr/>
        </p:nvSpPr>
        <p:spPr>
          <a:xfrm>
            <a:off x="594360" y="105156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Mortgage</a:t>
            </a:r>
            <a:endParaRPr lang="en-US" sz="1000" dirty="0"/>
          </a:p>
        </p:txBody>
      </p:sp>
      <p:sp>
        <p:nvSpPr>
          <p:cNvPr id="7" name="Text 5"/>
          <p:cNvSpPr txBox="1"/>
          <p:nvPr/>
        </p:nvSpPr>
        <p:spPr>
          <a:xfrm>
            <a:off x="2286000" y="106070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Shellpoint · WI · 2025-01-07</a:t>
            </a:r>
            <a:endParaRPr lang="en-US" sz="1000" dirty="0"/>
          </a:p>
        </p:txBody>
      </p:sp>
      <p:sp>
        <p:nvSpPr>
          <p:cNvPr id="8" name="Text 6"/>
          <p:cNvSpPr txBox="1"/>
          <p:nvPr/>
        </p:nvSpPr>
        <p:spPr>
          <a:xfrm>
            <a:off x="594360" y="138988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“Property Taxes in Escrow did not get paid to my village by the due date, NewRez assures they will automatically be paid and not to worry about it…”</a:t>
            </a:r>
            <a:endParaRPr lang="en-US" sz="1200" dirty="0"/>
          </a:p>
        </p:txBody>
      </p:sp>
      <p:sp>
        <p:nvSpPr>
          <p:cNvPr id="9" name="Shape 7"/>
          <p:cNvSpPr/>
          <p:nvPr/>
        </p:nvSpPr>
        <p:spPr>
          <a:xfrm>
            <a:off x="4663440" y="914400"/>
            <a:ext cx="4023360" cy="1737360"/>
          </a:xfrm>
          <a:prstGeom prst="roundRect">
            <a:avLst>
              <a:gd name="adj" fmla="val 3158"/>
            </a:avLst>
          </a:prstGeom>
          <a:solidFill>
            <a:schemeClr val="bg2"/>
          </a:solidFill>
          <a:ln w="9525">
            <a:solidFill>
              <a:schemeClr val="bg2"/>
            </a:solidFill>
            <a:prstDash val="solid"/>
          </a:ln>
        </p:spPr>
      </p:sp>
      <p:sp>
        <p:nvSpPr>
          <p:cNvPr id="10" name="Shape 8"/>
          <p:cNvSpPr/>
          <p:nvPr/>
        </p:nvSpPr>
        <p:spPr>
          <a:xfrm>
            <a:off x="4800600" y="1051560"/>
            <a:ext cx="1554480" cy="237744"/>
          </a:xfrm>
          <a:prstGeom prst="roundRect">
            <a:avLst>
              <a:gd name="adj" fmla="val 50000"/>
            </a:avLst>
          </a:prstGeom>
          <a:solidFill>
            <a:srgbClr val="2A3B4D"/>
          </a:solidFill>
          <a:ln w="6350">
            <a:solidFill>
              <a:srgbClr val="2A3B4D"/>
            </a:solidFill>
            <a:prstDash val="solid"/>
          </a:ln>
        </p:spPr>
      </p:sp>
      <p:sp>
        <p:nvSpPr>
          <p:cNvPr id="11" name="Text 9"/>
          <p:cNvSpPr txBox="1"/>
          <p:nvPr/>
        </p:nvSpPr>
        <p:spPr>
          <a:xfrm>
            <a:off x="4800600" y="105156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Student loan</a:t>
            </a:r>
            <a:endParaRPr lang="en-US" sz="1000" dirty="0"/>
          </a:p>
        </p:txBody>
      </p:sp>
      <p:sp>
        <p:nvSpPr>
          <p:cNvPr id="12" name="Text 10"/>
          <p:cNvSpPr txBox="1"/>
          <p:nvPr/>
        </p:nvSpPr>
        <p:spPr>
          <a:xfrm>
            <a:off x="6492240" y="106070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MOHELA · OH · 2025-01-16</a:t>
            </a:r>
            <a:endParaRPr lang="en-US" sz="1000" dirty="0"/>
          </a:p>
        </p:txBody>
      </p:sp>
      <p:sp>
        <p:nvSpPr>
          <p:cNvPr id="13" name="Text 11"/>
          <p:cNvSpPr txBox="1"/>
          <p:nvPr/>
        </p:nvSpPr>
        <p:spPr>
          <a:xfrm>
            <a:off x="4800600" y="138988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“I have student loans being serviced by MOHELA. I have been on the SAVE plan. Once SAVE plan users were placed on general forbearance, interest should not have been accruing…”</a:t>
            </a:r>
            <a:endParaRPr lang="en-US" sz="1200" dirty="0"/>
          </a:p>
        </p:txBody>
      </p:sp>
      <p:sp>
        <p:nvSpPr>
          <p:cNvPr id="14" name="Shape 12"/>
          <p:cNvSpPr/>
          <p:nvPr/>
        </p:nvSpPr>
        <p:spPr>
          <a:xfrm>
            <a:off x="457200" y="2788920"/>
            <a:ext cx="4023360" cy="1737360"/>
          </a:xfrm>
          <a:prstGeom prst="roundRect">
            <a:avLst>
              <a:gd name="adj" fmla="val 3158"/>
            </a:avLst>
          </a:prstGeom>
          <a:solidFill>
            <a:schemeClr val="bg2"/>
          </a:solidFill>
          <a:ln w="9525">
            <a:solidFill>
              <a:schemeClr val="bg2"/>
            </a:solidFill>
            <a:prstDash val="solid"/>
          </a:ln>
        </p:spPr>
      </p:sp>
      <p:sp>
        <p:nvSpPr>
          <p:cNvPr id="15" name="Shape 13"/>
          <p:cNvSpPr/>
          <p:nvPr/>
        </p:nvSpPr>
        <p:spPr>
          <a:xfrm>
            <a:off x="594360" y="2926080"/>
            <a:ext cx="1554480" cy="237744"/>
          </a:xfrm>
          <a:prstGeom prst="roundRect">
            <a:avLst>
              <a:gd name="adj" fmla="val 50000"/>
            </a:avLst>
          </a:prstGeom>
          <a:solidFill>
            <a:srgbClr val="2A3B4D"/>
          </a:solidFill>
          <a:ln w="6350">
            <a:solidFill>
              <a:srgbClr val="2A3B4D"/>
            </a:solidFill>
            <a:prstDash val="solid"/>
          </a:ln>
        </p:spPr>
      </p:sp>
      <p:sp>
        <p:nvSpPr>
          <p:cNvPr id="16" name="Text 14"/>
          <p:cNvSpPr txBox="1"/>
          <p:nvPr/>
        </p:nvSpPr>
        <p:spPr>
          <a:xfrm>
            <a:off x="594360" y="292608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Money transfer</a:t>
            </a:r>
            <a:endParaRPr lang="en-US" sz="1000" dirty="0"/>
          </a:p>
        </p:txBody>
      </p:sp>
      <p:sp>
        <p:nvSpPr>
          <p:cNvPr id="17" name="Text 15"/>
          <p:cNvSpPr txBox="1"/>
          <p:nvPr/>
        </p:nvSpPr>
        <p:spPr>
          <a:xfrm>
            <a:off x="2286000" y="293522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Block, Inc. · IL · 2025-01-18</a:t>
            </a:r>
            <a:endParaRPr lang="en-US" sz="1000" dirty="0"/>
          </a:p>
        </p:txBody>
      </p:sp>
      <p:sp>
        <p:nvSpPr>
          <p:cNvPr id="18" name="Text 16"/>
          <p:cNvSpPr txBox="1"/>
          <p:nvPr/>
        </p:nvSpPr>
        <p:spPr>
          <a:xfrm>
            <a:off x="594360" y="326440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“A XXXX company charged my card almost {$200.00}. When I called to let them know they told me they were processing refund but didnt so I contacted Cash app and they refuse to give my money back…”</a:t>
            </a:r>
            <a:endParaRPr lang="en-US" sz="1200" dirty="0"/>
          </a:p>
        </p:txBody>
      </p:sp>
      <p:sp>
        <p:nvSpPr>
          <p:cNvPr id="19" name="Shape 17"/>
          <p:cNvSpPr/>
          <p:nvPr/>
        </p:nvSpPr>
        <p:spPr>
          <a:xfrm>
            <a:off x="4663440" y="2788920"/>
            <a:ext cx="4023360" cy="1737360"/>
          </a:xfrm>
          <a:prstGeom prst="roundRect">
            <a:avLst>
              <a:gd name="adj" fmla="val 3158"/>
            </a:avLst>
          </a:prstGeom>
          <a:solidFill>
            <a:schemeClr val="bg2"/>
          </a:solidFill>
          <a:ln w="9525">
            <a:solidFill>
              <a:schemeClr val="bg2"/>
            </a:solidFill>
            <a:prstDash val="solid"/>
          </a:ln>
        </p:spPr>
      </p:sp>
      <p:sp>
        <p:nvSpPr>
          <p:cNvPr id="20" name="Shape 18"/>
          <p:cNvSpPr/>
          <p:nvPr/>
        </p:nvSpPr>
        <p:spPr>
          <a:xfrm>
            <a:off x="4800600" y="2926080"/>
            <a:ext cx="1554480" cy="237744"/>
          </a:xfrm>
          <a:prstGeom prst="roundRect">
            <a:avLst>
              <a:gd name="adj" fmla="val 50000"/>
            </a:avLst>
          </a:prstGeom>
          <a:solidFill>
            <a:srgbClr val="2F6F8F"/>
          </a:solidFill>
          <a:ln w="6350">
            <a:solidFill>
              <a:srgbClr val="2F6F8F"/>
            </a:solidFill>
            <a:prstDash val="solid"/>
          </a:ln>
        </p:spPr>
      </p:sp>
      <p:sp>
        <p:nvSpPr>
          <p:cNvPr id="21" name="Text 19"/>
          <p:cNvSpPr txBox="1"/>
          <p:nvPr/>
        </p:nvSpPr>
        <p:spPr>
          <a:xfrm>
            <a:off x="4800600" y="2926080"/>
            <a:ext cx="1554480" cy="237744"/>
          </a:xfrm>
          <a:prstGeom prst="rect">
            <a:avLst/>
          </a:prstGeom>
          <a:noFill/>
          <a:ln/>
        </p:spPr>
        <p:txBody>
          <a:bodyPr wrap="square" lIns="0" tIns="0" rIns="0" bIns="0" rtlCol="0" anchor="ctr"/>
          <a:lstStyle/>
          <a:p>
            <a:pPr algn="ctr" indent="0" marL="0">
              <a:buNone/>
            </a:pPr>
            <a:r>
              <a:rPr lang="en-US" sz="1000" b="1" dirty="0">
                <a:solidFill>
                  <a:schemeClr val="bg1"/>
                </a:solidFill>
              </a:rPr>
              <a:t>Credit reporting</a:t>
            </a:r>
            <a:endParaRPr lang="en-US" sz="1000" dirty="0"/>
          </a:p>
        </p:txBody>
      </p:sp>
      <p:sp>
        <p:nvSpPr>
          <p:cNvPr id="22" name="Text 20"/>
          <p:cNvSpPr txBox="1"/>
          <p:nvPr/>
        </p:nvSpPr>
        <p:spPr>
          <a:xfrm>
            <a:off x="6492240" y="2935224"/>
            <a:ext cx="2103120" cy="228600"/>
          </a:xfrm>
          <a:prstGeom prst="rect">
            <a:avLst/>
          </a:prstGeom>
          <a:noFill/>
          <a:ln/>
        </p:spPr>
        <p:txBody>
          <a:bodyPr wrap="square" lIns="0" tIns="0" rIns="0" bIns="0" rtlCol="0" anchor="t"/>
          <a:lstStyle/>
          <a:p>
            <a:pPr algn="r" indent="0" marL="0">
              <a:buNone/>
            </a:pPr>
            <a:r>
              <a:rPr lang="en-US" sz="1000" dirty="0">
                <a:solidFill>
                  <a:schemeClr val="accent5"/>
                </a:solidFill>
              </a:rPr>
              <a:t>Equifax · CT · 2025-02-19</a:t>
            </a:r>
            <a:endParaRPr lang="en-US" sz="1000" dirty="0"/>
          </a:p>
        </p:txBody>
      </p:sp>
      <p:sp>
        <p:nvSpPr>
          <p:cNvPr id="23" name="Text 21"/>
          <p:cNvSpPr txBox="1"/>
          <p:nvPr/>
        </p:nvSpPr>
        <p:spPr>
          <a:xfrm>
            <a:off x="4800600" y="3264408"/>
            <a:ext cx="3749040" cy="1188720"/>
          </a:xfrm>
          <a:prstGeom prst="rect">
            <a:avLst/>
          </a:prstGeom>
          <a:noFill/>
          <a:ln/>
        </p:spPr>
        <p:txBody>
          <a:bodyPr wrap="square" lIns="0" tIns="0" rIns="0" bIns="0" rtlCol="0" anchor="t"/>
          <a:lstStyle/>
          <a:p>
            <a:pPr indent="0" marL="0">
              <a:buNone/>
            </a:pPr>
            <a:r>
              <a:rPr lang="en-US" sz="1200" i="1" dirty="0">
                <a:solidFill>
                  <a:schemeClr val="tx1"/>
                </a:solidFill>
              </a:rPr>
              <a:t>“I am writing to formally address an urgent issue with my credit report. It has come to my attention that certain information associated with my account has been incorrectly mixed with that of another individual…”</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3.8 million complaints with text, 2015 to 2025</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The July 2026 snapshot holds 16.6 M complaints; 3.8 M carry the consumer's text, far more than the system needs.</a:t>
            </a:r>
            <a:endParaRPr lang="en-US" sz="1200" dirty="0"/>
          </a:p>
        </p:txBody>
      </p:sp>
      <p:graphicFrame>
        <p:nvGraphicFramePr>
          <p:cNvPr id="4" name="Chart 0" descr=""/>
          <p:cNvGraphicFramePr/>
          <p:nvPr/>
        </p:nvGraphicFramePr>
        <p:xfrm>
          <a:off x="365760" y="914400"/>
          <a:ext cx="5669280" cy="37033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355080" y="1005840"/>
            <a:ext cx="2377440" cy="502920"/>
          </a:xfrm>
          <a:prstGeom prst="rect">
            <a:avLst/>
          </a:prstGeom>
          <a:noFill/>
          <a:ln/>
        </p:spPr>
        <p:txBody>
          <a:bodyPr wrap="square" lIns="0" tIns="0" rIns="0" bIns="0" rtlCol="0" anchor="t"/>
          <a:lstStyle/>
          <a:p>
            <a:pPr indent="0" marL="0">
              <a:buNone/>
            </a:pPr>
            <a:r>
              <a:rPr lang="en-US" sz="3000" b="1" dirty="0">
                <a:solidFill>
                  <a:schemeClr val="tx1"/>
                </a:solidFill>
              </a:rPr>
              <a:t>16.6 M</a:t>
            </a:r>
            <a:endParaRPr lang="en-US" sz="3000" dirty="0"/>
          </a:p>
        </p:txBody>
      </p:sp>
      <p:sp>
        <p:nvSpPr>
          <p:cNvPr id="6" name="Text 3"/>
          <p:cNvSpPr txBox="1"/>
          <p:nvPr/>
        </p:nvSpPr>
        <p:spPr>
          <a:xfrm>
            <a:off x="6355080" y="150876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complaints in the July 2026 snapshot</a:t>
            </a:r>
            <a:endParaRPr lang="en-US" sz="1200" dirty="0"/>
          </a:p>
        </p:txBody>
      </p:sp>
      <p:sp>
        <p:nvSpPr>
          <p:cNvPr id="7" name="Text 4"/>
          <p:cNvSpPr txBox="1"/>
          <p:nvPr/>
        </p:nvSpPr>
        <p:spPr>
          <a:xfrm>
            <a:off x="6355080" y="2057400"/>
            <a:ext cx="2377440" cy="502920"/>
          </a:xfrm>
          <a:prstGeom prst="rect">
            <a:avLst/>
          </a:prstGeom>
          <a:noFill/>
          <a:ln/>
        </p:spPr>
        <p:txBody>
          <a:bodyPr wrap="square" lIns="0" tIns="0" rIns="0" bIns="0" rtlCol="0" anchor="t"/>
          <a:lstStyle/>
          <a:p>
            <a:pPr indent="0" marL="0">
              <a:buNone/>
            </a:pPr>
            <a:r>
              <a:rPr lang="en-US" sz="3000" b="1" dirty="0">
                <a:solidFill>
                  <a:schemeClr val="accent2"/>
                </a:solidFill>
              </a:rPr>
              <a:t>3.8 M</a:t>
            </a:r>
            <a:endParaRPr lang="en-US" sz="3000" dirty="0"/>
          </a:p>
        </p:txBody>
      </p:sp>
      <p:sp>
        <p:nvSpPr>
          <p:cNvPr id="8" name="Text 5"/>
          <p:cNvSpPr txBox="1"/>
          <p:nvPr/>
        </p:nvSpPr>
        <p:spPr>
          <a:xfrm>
            <a:off x="6355080" y="256032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with the consumer's own text</a:t>
            </a:r>
            <a:endParaRPr lang="en-US" sz="1200" dirty="0"/>
          </a:p>
        </p:txBody>
      </p:sp>
      <p:sp>
        <p:nvSpPr>
          <p:cNvPr id="9" name="Text 6"/>
          <p:cNvSpPr txBox="1"/>
          <p:nvPr/>
        </p:nvSpPr>
        <p:spPr>
          <a:xfrm>
            <a:off x="6355080" y="3108960"/>
            <a:ext cx="2377440" cy="502920"/>
          </a:xfrm>
          <a:prstGeom prst="rect">
            <a:avLst/>
          </a:prstGeom>
          <a:noFill/>
          <a:ln/>
        </p:spPr>
        <p:txBody>
          <a:bodyPr wrap="square" lIns="0" tIns="0" rIns="0" bIns="0" rtlCol="0" anchor="t"/>
          <a:lstStyle/>
          <a:p>
            <a:pPr indent="0" marL="0">
              <a:buNone/>
            </a:pPr>
            <a:r>
              <a:rPr lang="en-US" sz="3000" b="1" dirty="0">
                <a:solidFill>
                  <a:schemeClr val="tx1"/>
                </a:solidFill>
              </a:rPr>
              <a:t>1.5 M</a:t>
            </a:r>
            <a:endParaRPr lang="en-US" sz="3000" dirty="0"/>
          </a:p>
        </p:txBody>
      </p:sp>
      <p:sp>
        <p:nvSpPr>
          <p:cNvPr id="10" name="Text 7"/>
          <p:cNvSpPr txBox="1"/>
          <p:nvPr/>
        </p:nvSpPr>
        <p:spPr>
          <a:xfrm>
            <a:off x="6355080" y="3611880"/>
            <a:ext cx="2377440" cy="457200"/>
          </a:xfrm>
          <a:prstGeom prst="rect">
            <a:avLst/>
          </a:prstGeom>
          <a:noFill/>
          <a:ln/>
        </p:spPr>
        <p:txBody>
          <a:bodyPr wrap="square" lIns="0" tIns="0" rIns="0" bIns="0" rtlCol="0" anchor="t"/>
          <a:lstStyle/>
          <a:p>
            <a:pPr indent="0" marL="0">
              <a:buNone/>
            </a:pPr>
            <a:r>
              <a:rPr lang="en-US" sz="1200" dirty="0">
                <a:solidFill>
                  <a:schemeClr val="accent5"/>
                </a:solidFill>
              </a:rPr>
              <a:t>texts in the 24-month training window</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Finding: CFPB stopped publishing complaint text in 2026</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The most important data finding: text up to 2025 is frozen, so it is versioned once and replayed month by month.</a:t>
            </a:r>
            <a:endParaRPr lang="en-US" sz="1200" dirty="0"/>
          </a:p>
        </p:txBody>
      </p:sp>
      <p:graphicFrame>
        <p:nvGraphicFramePr>
          <p:cNvPr id="4" name="Chart 0" descr=""/>
          <p:cNvGraphicFramePr/>
          <p:nvPr/>
        </p:nvGraphicFramePr>
        <p:xfrm>
          <a:off x="365760" y="91440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715000" y="914400"/>
            <a:ext cx="2971800" cy="1463040"/>
          </a:xfrm>
          <a:prstGeom prst="roundRect">
            <a:avLst>
              <a:gd name="adj" fmla="val 3750"/>
            </a:avLst>
          </a:prstGeom>
          <a:solidFill>
            <a:srgbClr val="FBEDEC"/>
          </a:solidFill>
          <a:ln w="9525">
            <a:solidFill>
              <a:srgbClr val="FBEDEC"/>
            </a:solidFill>
            <a:prstDash val="solid"/>
          </a:ln>
        </p:spPr>
      </p:sp>
      <p:sp>
        <p:nvSpPr>
          <p:cNvPr id="6" name="Text 3"/>
          <p:cNvSpPr txBox="1"/>
          <p:nvPr/>
        </p:nvSpPr>
        <p:spPr>
          <a:xfrm>
            <a:off x="5852160" y="1005840"/>
            <a:ext cx="2743200" cy="256032"/>
          </a:xfrm>
          <a:prstGeom prst="rect">
            <a:avLst/>
          </a:prstGeom>
          <a:noFill/>
          <a:ln/>
        </p:spPr>
        <p:txBody>
          <a:bodyPr wrap="square" lIns="0" tIns="0" rIns="0" bIns="0" rtlCol="0" anchor="t"/>
          <a:lstStyle/>
          <a:p>
            <a:pPr indent="0" marL="0">
              <a:buNone/>
            </a:pPr>
            <a:r>
              <a:rPr lang="en-US" sz="1300" b="1" dirty="0">
                <a:solidFill>
                  <a:schemeClr val="accent3"/>
                </a:solidFill>
              </a:rPr>
              <a:t>What changed</a:t>
            </a:r>
            <a:endParaRPr lang="en-US" sz="1300" dirty="0"/>
          </a:p>
        </p:txBody>
      </p:sp>
      <p:sp>
        <p:nvSpPr>
          <p:cNvPr id="7" name="Text 4"/>
          <p:cNvSpPr txBox="1"/>
          <p:nvPr/>
        </p:nvSpPr>
        <p:spPr>
          <a:xfrm>
            <a:off x="5852160" y="1298448"/>
            <a:ext cx="2743200" cy="1051560"/>
          </a:xfrm>
          <a:prstGeom prst="rect">
            <a:avLst/>
          </a:prstGeom>
          <a:noFill/>
          <a:ln/>
        </p:spPr>
        <p:txBody>
          <a:bodyPr wrap="square" lIns="0" tIns="0" rIns="0" bIns="0" rtlCol="0" anchor="t"/>
          <a:lstStyle/>
          <a:p>
            <a:pPr indent="0" marL="0">
              <a:buNone/>
            </a:pPr>
            <a:r>
              <a:rPr lang="en-US" sz="1100" dirty="0">
                <a:solidFill>
                  <a:schemeClr val="tx1"/>
                </a:solidFill>
              </a:rPr>
              <a:t>The official export (2026-10-17) has 15 columns and no narrative. 26% of complaints had text in 2025-07; 0% in 2026-07.</a:t>
            </a:r>
            <a:endParaRPr lang="en-US" sz="1100" dirty="0"/>
          </a:p>
        </p:txBody>
      </p:sp>
      <p:sp>
        <p:nvSpPr>
          <p:cNvPr id="8" name="Shape 5"/>
          <p:cNvSpPr/>
          <p:nvPr/>
        </p:nvSpPr>
        <p:spPr>
          <a:xfrm>
            <a:off x="5715000" y="2514600"/>
            <a:ext cx="2971800" cy="2011680"/>
          </a:xfrm>
          <a:prstGeom prst="roundRect">
            <a:avLst>
              <a:gd name="adj" fmla="val 2727"/>
            </a:avLst>
          </a:prstGeom>
          <a:solidFill>
            <a:schemeClr val="bg2"/>
          </a:solidFill>
          <a:ln w="9525">
            <a:solidFill>
              <a:schemeClr val="bg2"/>
            </a:solidFill>
            <a:prstDash val="solid"/>
          </a:ln>
        </p:spPr>
      </p:sp>
      <p:sp>
        <p:nvSpPr>
          <p:cNvPr id="9" name="Text 6"/>
          <p:cNvSpPr txBox="1"/>
          <p:nvPr/>
        </p:nvSpPr>
        <p:spPr>
          <a:xfrm>
            <a:off x="5852160" y="2606040"/>
            <a:ext cx="2743200" cy="256032"/>
          </a:xfrm>
          <a:prstGeom prst="rect">
            <a:avLst/>
          </a:prstGeom>
          <a:noFill/>
          <a:ln/>
        </p:spPr>
        <p:txBody>
          <a:bodyPr wrap="square" lIns="0" tIns="0" rIns="0" bIns="0" rtlCol="0" anchor="t"/>
          <a:lstStyle/>
          <a:p>
            <a:pPr indent="0" marL="0">
              <a:buNone/>
            </a:pPr>
            <a:r>
              <a:rPr lang="en-US" sz="1300" b="1" dirty="0">
                <a:solidFill>
                  <a:schemeClr val="accent4"/>
                </a:solidFill>
              </a:rPr>
              <a:t>What the design does</a:t>
            </a:r>
            <a:endParaRPr lang="en-US" sz="1300" dirty="0"/>
          </a:p>
        </p:txBody>
      </p:sp>
      <p:sp>
        <p:nvSpPr>
          <p:cNvPr id="10" name="Text 7"/>
          <p:cNvSpPr txBox="1"/>
          <p:nvPr/>
        </p:nvSpPr>
        <p:spPr>
          <a:xfrm>
            <a:off x="5852160" y="2898648"/>
            <a:ext cx="2743200" cy="1554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rPr>
              <a:t>Text: 2026-07 snapshot, put in DVC once, replayed one month per run</a:t>
            </a:r>
            <a:endParaRPr lang="en-US" sz="1100" dirty="0"/>
          </a:p>
          <a:p>
            <a:pPr marL="342900" indent="-342900">
              <a:spcAft>
                <a:spcPts val="400"/>
              </a:spcAft>
              <a:buSzPct val="100000"/>
              <a:buChar char="•"/>
            </a:pPr>
            <a:r>
              <a:rPr lang="en-US" sz="1100" dirty="0">
                <a:solidFill>
                  <a:schemeClr val="tx1"/>
                </a:solidFill>
              </a:rPr>
              <a:t>Daily structured export: freshness and volume checks</a:t>
            </a:r>
            <a:endParaRPr lang="en-US" sz="1100" dirty="0"/>
          </a:p>
          <a:p>
            <a:pPr marL="342900" indent="-342900">
              <a:spcAft>
                <a:spcPts val="400"/>
              </a:spcAft>
              <a:buSzPct val="100000"/>
              <a:buChar char="•"/>
            </a:pPr>
            <a:r>
              <a:rPr lang="en-US" sz="1100" dirty="0">
                <a:solidFill>
                  <a:schemeClr val="tx1"/>
                </a:solidFill>
              </a:rPr>
              <a:t>Quality gate “text share &lt; ½ reference” fires on 2025-12</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The label set changed twice; a versioned map absorbs it</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CFPB used three product taxonomies; a versioned table maps all 20 product names onto 10 stable classes.</a:t>
            </a:r>
            <a:endParaRPr lang="en-US" sz="1200" dirty="0"/>
          </a:p>
        </p:txBody>
      </p:sp>
      <p:sp>
        <p:nvSpPr>
          <p:cNvPr id="4" name="Shape 2"/>
          <p:cNvSpPr/>
          <p:nvPr/>
        </p:nvSpPr>
        <p:spPr>
          <a:xfrm>
            <a:off x="457200" y="960120"/>
            <a:ext cx="2011680" cy="2926080"/>
          </a:xfrm>
          <a:prstGeom prst="roundRect">
            <a:avLst>
              <a:gd name="adj" fmla="val 2727"/>
            </a:avLst>
          </a:prstGeom>
          <a:solidFill>
            <a:schemeClr val="bg2"/>
          </a:solidFill>
          <a:ln w="9525">
            <a:solidFill>
              <a:schemeClr val="bg2"/>
            </a:solidFill>
            <a:prstDash val="solid"/>
          </a:ln>
        </p:spPr>
      </p:sp>
      <p:sp>
        <p:nvSpPr>
          <p:cNvPr id="5" name="Text 3"/>
          <p:cNvSpPr txBox="1"/>
          <p:nvPr/>
        </p:nvSpPr>
        <p:spPr>
          <a:xfrm>
            <a:off x="56692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Dec 2011 – Apr 2017</a:t>
            </a:r>
            <a:endParaRPr lang="en-US" sz="1200" dirty="0"/>
          </a:p>
        </p:txBody>
      </p:sp>
      <p:sp>
        <p:nvSpPr>
          <p:cNvPr id="6" name="Text 4"/>
          <p:cNvSpPr txBox="1"/>
          <p:nvPr/>
        </p:nvSpPr>
        <p:spPr>
          <a:xfrm>
            <a:off x="56692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a:t>
            </a:r>
            <a:endParaRPr lang="en-US" sz="1100" dirty="0"/>
          </a:p>
          <a:p>
            <a:pPr marL="342900" indent="-342900">
              <a:spcAft>
                <a:spcPts val="500"/>
              </a:spcAft>
              <a:buSzPct val="100000"/>
              <a:buChar char="•"/>
            </a:pPr>
            <a:r>
              <a:rPr lang="en-US" sz="1100" dirty="0">
                <a:solidFill>
                  <a:schemeClr val="tx1"/>
                </a:solidFill>
              </a:rPr>
              <a:t>Bank account or service</a:t>
            </a:r>
            <a:endParaRPr lang="en-US" sz="1100" dirty="0"/>
          </a:p>
          <a:p>
            <a:pPr marL="342900" indent="-342900">
              <a:spcAft>
                <a:spcPts val="500"/>
              </a:spcAft>
              <a:buSzPct val="100000"/>
              <a:buChar char="•"/>
            </a:pPr>
            <a:r>
              <a:rPr lang="en-US" sz="1100" dirty="0">
                <a:solidFill>
                  <a:schemeClr val="tx1"/>
                </a:solidFill>
              </a:rPr>
              <a:t>Consumer Loan</a:t>
            </a:r>
            <a:endParaRPr lang="en-US" sz="1100" dirty="0"/>
          </a:p>
          <a:p>
            <a:pPr marL="342900" indent="-342900">
              <a:spcAft>
                <a:spcPts val="500"/>
              </a:spcAft>
              <a:buSzPct val="100000"/>
              <a:buChar char="•"/>
            </a:pPr>
            <a:r>
              <a:rPr lang="en-US" sz="1100" dirty="0">
                <a:solidFill>
                  <a:schemeClr val="tx1"/>
                </a:solidFill>
              </a:rPr>
              <a:t>Money transfers</a:t>
            </a:r>
            <a:endParaRPr lang="en-US" sz="1100" dirty="0"/>
          </a:p>
        </p:txBody>
      </p:sp>
      <p:sp>
        <p:nvSpPr>
          <p:cNvPr id="7" name="Shape 5"/>
          <p:cNvSpPr/>
          <p:nvPr/>
        </p:nvSpPr>
        <p:spPr>
          <a:xfrm>
            <a:off x="2606040" y="960120"/>
            <a:ext cx="2011680" cy="2926080"/>
          </a:xfrm>
          <a:prstGeom prst="roundRect">
            <a:avLst>
              <a:gd name="adj" fmla="val 2727"/>
            </a:avLst>
          </a:prstGeom>
          <a:solidFill>
            <a:schemeClr val="bg2"/>
          </a:solidFill>
          <a:ln w="9525">
            <a:solidFill>
              <a:schemeClr val="bg2"/>
            </a:solidFill>
            <a:prstDash val="solid"/>
          </a:ln>
        </p:spPr>
      </p:sp>
      <p:sp>
        <p:nvSpPr>
          <p:cNvPr id="8" name="Text 6"/>
          <p:cNvSpPr txBox="1"/>
          <p:nvPr/>
        </p:nvSpPr>
        <p:spPr>
          <a:xfrm>
            <a:off x="271576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Apr 2017 – Aug 2023</a:t>
            </a:r>
            <a:endParaRPr lang="en-US" sz="1200" dirty="0"/>
          </a:p>
        </p:txBody>
      </p:sp>
      <p:sp>
        <p:nvSpPr>
          <p:cNvPr id="9" name="Text 7"/>
          <p:cNvSpPr txBox="1"/>
          <p:nvPr/>
        </p:nvSpPr>
        <p:spPr>
          <a:xfrm>
            <a:off x="271576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 credit repair services, or other personal consumer reports</a:t>
            </a:r>
            <a:endParaRPr lang="en-US" sz="1100" dirty="0"/>
          </a:p>
          <a:p>
            <a:pPr marL="342900" indent="-342900">
              <a:spcAft>
                <a:spcPts val="500"/>
              </a:spcAft>
              <a:buSzPct val="100000"/>
              <a:buChar char="•"/>
            </a:pPr>
            <a:r>
              <a:rPr lang="en-US" sz="1100" dirty="0">
                <a:solidFill>
                  <a:schemeClr val="tx1"/>
                </a:solidFill>
              </a:rPr>
              <a:t>Credit card or prepaid card</a:t>
            </a:r>
            <a:endParaRPr lang="en-US" sz="1100" dirty="0"/>
          </a:p>
          <a:p>
            <a:pPr marL="342900" indent="-342900">
              <a:spcAft>
                <a:spcPts val="500"/>
              </a:spcAft>
              <a:buSzPct val="100000"/>
              <a:buChar char="•"/>
            </a:pPr>
            <a:r>
              <a:rPr lang="en-US" sz="1100" dirty="0">
                <a:solidFill>
                  <a:schemeClr val="tx1"/>
                </a:solidFill>
              </a:rPr>
              <a:t>Checking or savings account</a:t>
            </a:r>
            <a:endParaRPr lang="en-US" sz="1100" dirty="0"/>
          </a:p>
        </p:txBody>
      </p:sp>
      <p:sp>
        <p:nvSpPr>
          <p:cNvPr id="10" name="Shape 8"/>
          <p:cNvSpPr/>
          <p:nvPr/>
        </p:nvSpPr>
        <p:spPr>
          <a:xfrm>
            <a:off x="4754880" y="960120"/>
            <a:ext cx="2011680" cy="2926080"/>
          </a:xfrm>
          <a:prstGeom prst="roundRect">
            <a:avLst>
              <a:gd name="adj" fmla="val 2727"/>
            </a:avLst>
          </a:prstGeom>
          <a:solidFill>
            <a:schemeClr val="bg2"/>
          </a:solidFill>
          <a:ln w="9525">
            <a:solidFill>
              <a:schemeClr val="bg2"/>
            </a:solidFill>
            <a:prstDash val="solid"/>
          </a:ln>
        </p:spPr>
      </p:sp>
      <p:sp>
        <p:nvSpPr>
          <p:cNvPr id="11" name="Text 9"/>
          <p:cNvSpPr txBox="1"/>
          <p:nvPr/>
        </p:nvSpPr>
        <p:spPr>
          <a:xfrm>
            <a:off x="4864608" y="1033272"/>
            <a:ext cx="1828800" cy="274320"/>
          </a:xfrm>
          <a:prstGeom prst="rect">
            <a:avLst/>
          </a:prstGeom>
          <a:noFill/>
          <a:ln/>
        </p:spPr>
        <p:txBody>
          <a:bodyPr wrap="square" lIns="0" tIns="0" rIns="0" bIns="0" rtlCol="0" anchor="t"/>
          <a:lstStyle/>
          <a:p>
            <a:pPr indent="0" marL="0">
              <a:buNone/>
            </a:pPr>
            <a:r>
              <a:rPr lang="en-US" sz="1200" b="1" dirty="0">
                <a:solidFill>
                  <a:schemeClr val="accent1"/>
                </a:solidFill>
              </a:rPr>
              <a:t>Aug 2023 – today</a:t>
            </a:r>
            <a:endParaRPr lang="en-US" sz="1200" dirty="0"/>
          </a:p>
        </p:txBody>
      </p:sp>
      <p:sp>
        <p:nvSpPr>
          <p:cNvPr id="12" name="Text 10"/>
          <p:cNvSpPr txBox="1"/>
          <p:nvPr/>
        </p:nvSpPr>
        <p:spPr>
          <a:xfrm>
            <a:off x="4864608" y="1371600"/>
            <a:ext cx="1828800" cy="24688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chemeClr val="tx1"/>
                </a:solidFill>
              </a:rPr>
              <a:t>Credit reporting or other personal consumer reports</a:t>
            </a:r>
            <a:endParaRPr lang="en-US" sz="1100" dirty="0"/>
          </a:p>
          <a:p>
            <a:pPr marL="342900" indent="-342900">
              <a:spcAft>
                <a:spcPts val="500"/>
              </a:spcAft>
              <a:buSzPct val="100000"/>
              <a:buChar char="•"/>
            </a:pPr>
            <a:r>
              <a:rPr lang="en-US" sz="1100" dirty="0">
                <a:solidFill>
                  <a:schemeClr val="tx1"/>
                </a:solidFill>
              </a:rPr>
              <a:t>Payday loan, title loan, personal loan, or advance loan</a:t>
            </a:r>
            <a:endParaRPr lang="en-US" sz="1100" dirty="0"/>
          </a:p>
          <a:p>
            <a:pPr marL="342900" indent="-342900">
              <a:spcAft>
                <a:spcPts val="500"/>
              </a:spcAft>
              <a:buSzPct val="100000"/>
              <a:buChar char="•"/>
            </a:pPr>
            <a:r>
              <a:rPr lang="en-US" sz="1100" dirty="0">
                <a:solidFill>
                  <a:schemeClr val="tx1"/>
                </a:solidFill>
              </a:rPr>
              <a:t>Debt or credit management (new)</a:t>
            </a:r>
            <a:endParaRPr lang="en-US" sz="1100" dirty="0"/>
          </a:p>
        </p:txBody>
      </p:sp>
      <p:sp>
        <p:nvSpPr>
          <p:cNvPr id="13" name="Shape 11"/>
          <p:cNvSpPr/>
          <p:nvPr/>
        </p:nvSpPr>
        <p:spPr>
          <a:xfrm>
            <a:off x="6949440" y="2423160"/>
            <a:ext cx="274320" cy="0"/>
          </a:xfrm>
          <a:prstGeom prst="line">
            <a:avLst/>
          </a:prstGeom>
          <a:noFill/>
          <a:ln w="25400">
            <a:solidFill>
              <a:srgbClr val="6B7785"/>
            </a:solidFill>
            <a:prstDash val="solid"/>
            <a:tailEnd type="triangle"/>
          </a:ln>
        </p:spPr>
      </p:sp>
      <p:sp>
        <p:nvSpPr>
          <p:cNvPr id="14" name="Shape 12"/>
          <p:cNvSpPr/>
          <p:nvPr/>
        </p:nvSpPr>
        <p:spPr>
          <a:xfrm>
            <a:off x="7269480" y="960120"/>
            <a:ext cx="1417320" cy="2926080"/>
          </a:xfrm>
          <a:prstGeom prst="roundRect">
            <a:avLst>
              <a:gd name="adj" fmla="val 3871"/>
            </a:avLst>
          </a:prstGeom>
          <a:solidFill>
            <a:srgbClr val="E4EEF3"/>
          </a:solidFill>
          <a:ln w="9525">
            <a:solidFill>
              <a:srgbClr val="E4EEF3"/>
            </a:solidFill>
            <a:prstDash val="solid"/>
          </a:ln>
        </p:spPr>
      </p:sp>
      <p:sp>
        <p:nvSpPr>
          <p:cNvPr id="15" name="Text 13"/>
          <p:cNvSpPr txBox="1"/>
          <p:nvPr/>
        </p:nvSpPr>
        <p:spPr>
          <a:xfrm>
            <a:off x="7360920" y="1033272"/>
            <a:ext cx="1280160" cy="274320"/>
          </a:xfrm>
          <a:prstGeom prst="rect">
            <a:avLst/>
          </a:prstGeom>
          <a:noFill/>
          <a:ln/>
        </p:spPr>
        <p:txBody>
          <a:bodyPr wrap="square" lIns="0" tIns="0" rIns="0" bIns="0" rtlCol="0" anchor="t"/>
          <a:lstStyle/>
          <a:p>
            <a:pPr indent="0" marL="0">
              <a:buNone/>
            </a:pPr>
            <a:r>
              <a:rPr lang="en-US" sz="1300" b="1" dirty="0">
                <a:solidFill>
                  <a:schemeClr val="accent2"/>
                </a:solidFill>
              </a:rPr>
              <a:t>10 classes</a:t>
            </a:r>
            <a:endParaRPr lang="en-US" sz="1300" dirty="0"/>
          </a:p>
        </p:txBody>
      </p:sp>
      <p:sp>
        <p:nvSpPr>
          <p:cNvPr id="16" name="Text 14"/>
          <p:cNvSpPr txBox="1"/>
          <p:nvPr/>
        </p:nvSpPr>
        <p:spPr>
          <a:xfrm>
            <a:off x="7360920" y="1371600"/>
            <a:ext cx="1280160" cy="2468880"/>
          </a:xfrm>
          <a:prstGeom prst="rect">
            <a:avLst/>
          </a:prstGeom>
          <a:noFill/>
          <a:ln/>
        </p:spPr>
        <p:txBody>
          <a:bodyPr wrap="square" lIns="0" tIns="0" rIns="0" bIns="0" rtlCol="0" anchor="t"/>
          <a:lstStyle/>
          <a:p>
            <a:pPr indent="0" marL="0">
              <a:buNone/>
            </a:pPr>
            <a:r>
              <a:rPr lang="en-US" sz="1100" dirty="0">
                <a:solidFill>
                  <a:schemeClr val="tx1"/>
                </a:solidFill>
              </a:rPr>
              <a:t>20 CFPB names → 10 stable classes</a:t>
            </a:r>
            <a:endParaRPr lang="en-US" sz="1100" dirty="0"/>
          </a:p>
          <a:p>
            <a:pPr indent="0" marL="0">
              <a:buNone/>
            </a:pPr>
            <a:endParaRPr lang="en-US" sz="1100" dirty="0"/>
          </a:p>
          <a:p>
            <a:pPr indent="0" marL="0">
              <a:buNone/>
            </a:pPr>
            <a:r>
              <a:rPr lang="en-US" sz="1100" dirty="0">
                <a:solidFill>
                  <a:schemeClr val="tx1"/>
                </a:solidFill>
              </a:rPr>
              <a:t>configs/</a:t>
            </a:r>
            <a:endParaRPr lang="en-US" sz="1100" dirty="0"/>
          </a:p>
          <a:p>
            <a:pPr indent="0" marL="0">
              <a:buNone/>
            </a:pPr>
            <a:r>
              <a:rPr lang="en-US" sz="1100" dirty="0">
                <a:solidFill>
                  <a:schemeClr val="tx1"/>
                </a:solidFill>
              </a:rPr>
              <a:t>taxonomy_map.csv</a:t>
            </a:r>
            <a:endParaRPr lang="en-US" sz="1100" dirty="0"/>
          </a:p>
          <a:p>
            <a:pPr indent="0" marL="0">
              <a:buNone/>
            </a:pPr>
            <a:endParaRPr lang="en-US" sz="1100" dirty="0"/>
          </a:p>
          <a:p>
            <a:pPr indent="0" marL="0">
              <a:buNone/>
            </a:pPr>
            <a:r>
              <a:rPr lang="en-US" sz="1100" dirty="0">
                <a:solidFill>
                  <a:schemeClr val="tx1"/>
                </a:solidFill>
              </a:rPr>
              <a:t>unmapped → manual triage + gate fails</a:t>
            </a:r>
            <a:endParaRPr lang="en-US" sz="1100" dirty="0"/>
          </a:p>
        </p:txBody>
      </p:sp>
      <p:sp>
        <p:nvSpPr>
          <p:cNvPr id="17" name="Text 15"/>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200" i="1" dirty="0">
                <a:solidFill>
                  <a:schemeClr val="accent5"/>
                </a:solidFill>
              </a:rPr>
              <a:t>Every era boundary is visible in the data: product names start and stop exactly in 2017-04 and 2023-08 (docs/data-profile.md).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Training texts are heavily imbalanced</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Credit reporting is three quarters of the training data, which decides the main metric and the promotion rule.</a:t>
            </a:r>
            <a:endParaRPr lang="en-US" sz="1200" dirty="0"/>
          </a:p>
        </p:txBody>
      </p:sp>
      <p:graphicFrame>
        <p:nvGraphicFramePr>
          <p:cNvPr id="4" name="Chart 0" descr=""/>
          <p:cNvGraphicFramePr/>
          <p:nvPr/>
        </p:nvGraphicFramePr>
        <p:xfrm>
          <a:off x="365760" y="914400"/>
          <a:ext cx="54864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126480" y="1005840"/>
            <a:ext cx="2560320" cy="1024128"/>
          </a:xfrm>
          <a:prstGeom prst="roundRect">
            <a:avLst>
              <a:gd name="adj" fmla="val 5357"/>
            </a:avLst>
          </a:prstGeom>
          <a:solidFill>
            <a:schemeClr val="bg2"/>
          </a:solidFill>
          <a:ln w="9525">
            <a:solidFill>
              <a:schemeClr val="bg2"/>
            </a:solidFill>
            <a:prstDash val="solid"/>
          </a:ln>
        </p:spPr>
      </p:sp>
      <p:sp>
        <p:nvSpPr>
          <p:cNvPr id="6" name="Text 3"/>
          <p:cNvSpPr txBox="1"/>
          <p:nvPr/>
        </p:nvSpPr>
        <p:spPr>
          <a:xfrm>
            <a:off x="6263640" y="111556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Macro-F1</a:t>
            </a:r>
            <a:endParaRPr lang="en-US" sz="1400" dirty="0"/>
          </a:p>
        </p:txBody>
      </p:sp>
      <p:sp>
        <p:nvSpPr>
          <p:cNvPr id="7" name="Text 4"/>
          <p:cNvSpPr txBox="1"/>
          <p:nvPr/>
        </p:nvSpPr>
        <p:spPr>
          <a:xfrm>
            <a:off x="6263640" y="1444752"/>
            <a:ext cx="2286000" cy="502920"/>
          </a:xfrm>
          <a:prstGeom prst="rect">
            <a:avLst/>
          </a:prstGeom>
          <a:noFill/>
          <a:ln/>
        </p:spPr>
        <p:txBody>
          <a:bodyPr wrap="square" lIns="0" tIns="0" rIns="0" bIns="0" rtlCol="0" anchor="t"/>
          <a:lstStyle/>
          <a:p>
            <a:pPr indent="0" marL="0">
              <a:buNone/>
            </a:pPr>
            <a:r>
              <a:rPr lang="en-US" sz="1200" dirty="0">
                <a:solidFill>
                  <a:schemeClr val="tx1"/>
                </a:solidFill>
              </a:rPr>
              <a:t>every queue weighs the same in the main metric</a:t>
            </a:r>
            <a:endParaRPr lang="en-US" sz="1200" dirty="0"/>
          </a:p>
        </p:txBody>
      </p:sp>
      <p:sp>
        <p:nvSpPr>
          <p:cNvPr id="8" name="Shape 5"/>
          <p:cNvSpPr/>
          <p:nvPr/>
        </p:nvSpPr>
        <p:spPr>
          <a:xfrm>
            <a:off x="6126480" y="2194560"/>
            <a:ext cx="2560320" cy="1024128"/>
          </a:xfrm>
          <a:prstGeom prst="roundRect">
            <a:avLst>
              <a:gd name="adj" fmla="val 5357"/>
            </a:avLst>
          </a:prstGeom>
          <a:solidFill>
            <a:schemeClr val="bg2"/>
          </a:solidFill>
          <a:ln w="9525">
            <a:solidFill>
              <a:schemeClr val="bg2"/>
            </a:solidFill>
            <a:prstDash val="solid"/>
          </a:ln>
        </p:spPr>
      </p:sp>
      <p:sp>
        <p:nvSpPr>
          <p:cNvPr id="9" name="Text 6"/>
          <p:cNvSpPr txBox="1"/>
          <p:nvPr/>
        </p:nvSpPr>
        <p:spPr>
          <a:xfrm>
            <a:off x="6263640" y="230428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Class weights</a:t>
            </a:r>
            <a:endParaRPr lang="en-US" sz="1400" dirty="0"/>
          </a:p>
        </p:txBody>
      </p:sp>
      <p:sp>
        <p:nvSpPr>
          <p:cNvPr id="10" name="Text 7"/>
          <p:cNvSpPr txBox="1"/>
          <p:nvPr/>
        </p:nvSpPr>
        <p:spPr>
          <a:xfrm>
            <a:off x="6263640" y="2633472"/>
            <a:ext cx="2286000" cy="502920"/>
          </a:xfrm>
          <a:prstGeom prst="rect">
            <a:avLst/>
          </a:prstGeom>
          <a:noFill/>
          <a:ln/>
        </p:spPr>
        <p:txBody>
          <a:bodyPr wrap="square" lIns="0" tIns="0" rIns="0" bIns="0" rtlCol="0" anchor="t"/>
          <a:lstStyle/>
          <a:p>
            <a:pPr indent="0" marL="0">
              <a:buNone/>
            </a:pPr>
            <a:r>
              <a:rPr lang="en-US" sz="1200" dirty="0">
                <a:solidFill>
                  <a:schemeClr val="tx1"/>
                </a:solidFill>
              </a:rPr>
              <a:t>small queues are not ignored in training</a:t>
            </a:r>
            <a:endParaRPr lang="en-US" sz="1200" dirty="0"/>
          </a:p>
        </p:txBody>
      </p:sp>
      <p:sp>
        <p:nvSpPr>
          <p:cNvPr id="11" name="Shape 8"/>
          <p:cNvSpPr/>
          <p:nvPr/>
        </p:nvSpPr>
        <p:spPr>
          <a:xfrm>
            <a:off x="6126480" y="3383280"/>
            <a:ext cx="2560320" cy="1024128"/>
          </a:xfrm>
          <a:prstGeom prst="roundRect">
            <a:avLst>
              <a:gd name="adj" fmla="val 5357"/>
            </a:avLst>
          </a:prstGeom>
          <a:solidFill>
            <a:schemeClr val="bg2"/>
          </a:solidFill>
          <a:ln w="9525">
            <a:solidFill>
              <a:schemeClr val="bg2"/>
            </a:solidFill>
            <a:prstDash val="solid"/>
          </a:ln>
        </p:spPr>
      </p:sp>
      <p:sp>
        <p:nvSpPr>
          <p:cNvPr id="12" name="Text 9"/>
          <p:cNvSpPr txBox="1"/>
          <p:nvPr/>
        </p:nvSpPr>
        <p:spPr>
          <a:xfrm>
            <a:off x="6263640" y="3493008"/>
            <a:ext cx="2286000" cy="274320"/>
          </a:xfrm>
          <a:prstGeom prst="rect">
            <a:avLst/>
          </a:prstGeom>
          <a:noFill/>
          <a:ln/>
        </p:spPr>
        <p:txBody>
          <a:bodyPr wrap="square" lIns="0" tIns="0" rIns="0" bIns="0" rtlCol="0" anchor="t"/>
          <a:lstStyle/>
          <a:p>
            <a:pPr indent="0" marL="0">
              <a:buNone/>
            </a:pPr>
            <a:r>
              <a:rPr lang="en-US" sz="1400" b="1" dirty="0">
                <a:solidFill>
                  <a:schemeClr val="accent2"/>
                </a:solidFill>
              </a:rPr>
              <a:t>Recall guard</a:t>
            </a:r>
            <a:endParaRPr lang="en-US" sz="1400" dirty="0"/>
          </a:p>
        </p:txBody>
      </p:sp>
      <p:sp>
        <p:nvSpPr>
          <p:cNvPr id="13" name="Text 10"/>
          <p:cNvSpPr txBox="1"/>
          <p:nvPr/>
        </p:nvSpPr>
        <p:spPr>
          <a:xfrm>
            <a:off x="6263640" y="3822192"/>
            <a:ext cx="2286000" cy="502920"/>
          </a:xfrm>
          <a:prstGeom prst="rect">
            <a:avLst/>
          </a:prstGeom>
          <a:noFill/>
          <a:ln/>
        </p:spPr>
        <p:txBody>
          <a:bodyPr wrap="square" lIns="0" tIns="0" rIns="0" bIns="0" rtlCol="0" anchor="t"/>
          <a:lstStyle/>
          <a:p>
            <a:pPr indent="0" marL="0">
              <a:buNone/>
            </a:pPr>
            <a:r>
              <a:rPr lang="en-US" sz="1200" dirty="0">
                <a:solidFill>
                  <a:schemeClr val="tx1"/>
                </a:solidFill>
              </a:rPr>
              <a:t>no class may lose &gt; 3 pp in a new model</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Labels are noisy: two real examples from the sample</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Consumers choose the product themselves and sometimes choose the wrong one; the design measures this instead of ignoring it.</a:t>
            </a:r>
            <a:endParaRPr lang="en-US" sz="1200" dirty="0"/>
          </a:p>
        </p:txBody>
      </p:sp>
      <p:sp>
        <p:nvSpPr>
          <p:cNvPr id="4" name="Shape 2"/>
          <p:cNvSpPr/>
          <p:nvPr/>
        </p:nvSpPr>
        <p:spPr>
          <a:xfrm>
            <a:off x="457200" y="914400"/>
            <a:ext cx="4023360" cy="2148840"/>
          </a:xfrm>
          <a:prstGeom prst="roundRect">
            <a:avLst>
              <a:gd name="adj" fmla="val 2553"/>
            </a:avLst>
          </a:prstGeom>
          <a:solidFill>
            <a:schemeClr val="bg2"/>
          </a:solidFill>
          <a:ln w="9525">
            <a:solidFill>
              <a:schemeClr val="bg2"/>
            </a:solidFill>
            <a:prstDash val="solid"/>
          </a:ln>
        </p:spPr>
      </p:sp>
      <p:sp>
        <p:nvSpPr>
          <p:cNvPr id="5" name="Shape 3"/>
          <p:cNvSpPr/>
          <p:nvPr/>
        </p:nvSpPr>
        <p:spPr>
          <a:xfrm>
            <a:off x="594360" y="1051560"/>
            <a:ext cx="2651760" cy="237744"/>
          </a:xfrm>
          <a:prstGeom prst="roundRect">
            <a:avLst>
              <a:gd name="adj" fmla="val 50000"/>
            </a:avLst>
          </a:prstGeom>
          <a:solidFill>
            <a:srgbClr val="B3261E"/>
          </a:solidFill>
          <a:ln w="6350">
            <a:solidFill>
              <a:srgbClr val="B3261E"/>
            </a:solidFill>
            <a:prstDash val="solid"/>
          </a:ln>
        </p:spPr>
      </p:sp>
      <p:sp>
        <p:nvSpPr>
          <p:cNvPr id="6" name="Text 4"/>
          <p:cNvSpPr txBox="1"/>
          <p:nvPr/>
        </p:nvSpPr>
        <p:spPr>
          <a:xfrm>
            <a:off x="594360" y="1051560"/>
            <a:ext cx="2651760" cy="237744"/>
          </a:xfrm>
          <a:prstGeom prst="rect">
            <a:avLst/>
          </a:prstGeom>
          <a:noFill/>
          <a:ln/>
        </p:spPr>
        <p:txBody>
          <a:bodyPr wrap="square" lIns="0" tIns="0" rIns="0" bIns="0" rtlCol="0" anchor="ctr"/>
          <a:lstStyle/>
          <a:p>
            <a:pPr algn="ctr" indent="0" marL="0">
              <a:buNone/>
            </a:pPr>
            <a:r>
              <a:rPr lang="en-US" sz="1000" b="1" dirty="0">
                <a:solidFill>
                  <a:schemeClr val="bg1"/>
                </a:solidFill>
              </a:rPr>
              <a:t>Labelled: Debt collection</a:t>
            </a:r>
            <a:endParaRPr lang="en-US" sz="1000" dirty="0"/>
          </a:p>
        </p:txBody>
      </p:sp>
      <p:sp>
        <p:nvSpPr>
          <p:cNvPr id="7" name="Text 5"/>
          <p:cNvSpPr txBox="1"/>
          <p:nvPr/>
        </p:nvSpPr>
        <p:spPr>
          <a:xfrm>
            <a:off x="594360" y="1371600"/>
            <a:ext cx="3749040" cy="228600"/>
          </a:xfrm>
          <a:prstGeom prst="rect">
            <a:avLst/>
          </a:prstGeom>
          <a:noFill/>
          <a:ln/>
        </p:spPr>
        <p:txBody>
          <a:bodyPr wrap="square" lIns="0" tIns="0" rIns="0" bIns="0" rtlCol="0" anchor="t"/>
          <a:lstStyle/>
          <a:p>
            <a:pPr indent="0" marL="0">
              <a:buNone/>
            </a:pPr>
            <a:r>
              <a:rPr lang="en-US" sz="1000" dirty="0">
                <a:solidFill>
                  <a:schemeClr val="accent5"/>
                </a:solidFill>
              </a:rPr>
              <a:t>TransUnion · VA · 2025-04-09</a:t>
            </a:r>
            <a:endParaRPr lang="en-US" sz="1000" dirty="0"/>
          </a:p>
        </p:txBody>
      </p:sp>
      <p:sp>
        <p:nvSpPr>
          <p:cNvPr id="8" name="Text 6"/>
          <p:cNvSpPr txBox="1"/>
          <p:nvPr/>
        </p:nvSpPr>
        <p:spPr>
          <a:xfrm>
            <a:off x="594360" y="1645920"/>
            <a:ext cx="3749040" cy="1325880"/>
          </a:xfrm>
          <a:prstGeom prst="rect">
            <a:avLst/>
          </a:prstGeom>
          <a:noFill/>
          <a:ln/>
        </p:spPr>
        <p:txBody>
          <a:bodyPr wrap="square" lIns="0" tIns="0" rIns="0" bIns="0" rtlCol="0" anchor="t"/>
          <a:lstStyle/>
          <a:p>
            <a:pPr indent="0" marL="0">
              <a:buNone/>
            </a:pPr>
            <a:r>
              <a:rPr lang="en-US" sz="1200" i="1" dirty="0">
                <a:solidFill>
                  <a:schemeClr val="tx1"/>
                </a:solidFill>
              </a:rPr>
              <a:t>“My credit report shows collection accounts that I believe include inaccurate information. Under my rights as outlined in 15 USC 1681e (b) and 15 USC 1681i, I am entitled to a fully accurate report…”</a:t>
            </a:r>
            <a:endParaRPr lang="en-US" sz="1200" dirty="0"/>
          </a:p>
        </p:txBody>
      </p:sp>
      <p:sp>
        <p:nvSpPr>
          <p:cNvPr id="9" name="Shape 7"/>
          <p:cNvSpPr/>
          <p:nvPr/>
        </p:nvSpPr>
        <p:spPr>
          <a:xfrm>
            <a:off x="4663440" y="914400"/>
            <a:ext cx="4023360" cy="2148840"/>
          </a:xfrm>
          <a:prstGeom prst="roundRect">
            <a:avLst>
              <a:gd name="adj" fmla="val 2553"/>
            </a:avLst>
          </a:prstGeom>
          <a:solidFill>
            <a:schemeClr val="bg2"/>
          </a:solidFill>
          <a:ln w="9525">
            <a:solidFill>
              <a:schemeClr val="bg2"/>
            </a:solidFill>
            <a:prstDash val="solid"/>
          </a:ln>
        </p:spPr>
      </p:sp>
      <p:sp>
        <p:nvSpPr>
          <p:cNvPr id="10" name="Shape 8"/>
          <p:cNvSpPr/>
          <p:nvPr/>
        </p:nvSpPr>
        <p:spPr>
          <a:xfrm>
            <a:off x="4800600" y="1051560"/>
            <a:ext cx="2651760" cy="237744"/>
          </a:xfrm>
          <a:prstGeom prst="roundRect">
            <a:avLst>
              <a:gd name="adj" fmla="val 50000"/>
            </a:avLst>
          </a:prstGeom>
          <a:solidFill>
            <a:srgbClr val="B3261E"/>
          </a:solidFill>
          <a:ln w="6350">
            <a:solidFill>
              <a:srgbClr val="B3261E"/>
            </a:solidFill>
            <a:prstDash val="solid"/>
          </a:ln>
        </p:spPr>
      </p:sp>
      <p:sp>
        <p:nvSpPr>
          <p:cNvPr id="11" name="Text 9"/>
          <p:cNvSpPr txBox="1"/>
          <p:nvPr/>
        </p:nvSpPr>
        <p:spPr>
          <a:xfrm>
            <a:off x="4800600" y="1051560"/>
            <a:ext cx="2651760" cy="237744"/>
          </a:xfrm>
          <a:prstGeom prst="rect">
            <a:avLst/>
          </a:prstGeom>
          <a:noFill/>
          <a:ln/>
        </p:spPr>
        <p:txBody>
          <a:bodyPr wrap="square" lIns="0" tIns="0" rIns="0" bIns="0" rtlCol="0" anchor="ctr"/>
          <a:lstStyle/>
          <a:p>
            <a:pPr algn="ctr" indent="0" marL="0">
              <a:buNone/>
            </a:pPr>
            <a:r>
              <a:rPr lang="en-US" sz="1000" b="1" dirty="0">
                <a:solidFill>
                  <a:schemeClr val="bg1"/>
                </a:solidFill>
              </a:rPr>
              <a:t>Labelled: Debt or credit management</a:t>
            </a:r>
            <a:endParaRPr lang="en-US" sz="1000" dirty="0"/>
          </a:p>
        </p:txBody>
      </p:sp>
      <p:sp>
        <p:nvSpPr>
          <p:cNvPr id="12" name="Text 10"/>
          <p:cNvSpPr txBox="1"/>
          <p:nvPr/>
        </p:nvSpPr>
        <p:spPr>
          <a:xfrm>
            <a:off x="4800600" y="1371600"/>
            <a:ext cx="3749040" cy="228600"/>
          </a:xfrm>
          <a:prstGeom prst="rect">
            <a:avLst/>
          </a:prstGeom>
          <a:noFill/>
          <a:ln/>
        </p:spPr>
        <p:txBody>
          <a:bodyPr wrap="square" lIns="0" tIns="0" rIns="0" bIns="0" rtlCol="0" anchor="t"/>
          <a:lstStyle/>
          <a:p>
            <a:pPr indent="0" marL="0">
              <a:buNone/>
            </a:pPr>
            <a:r>
              <a:rPr lang="en-US" sz="1000" dirty="0">
                <a:solidFill>
                  <a:schemeClr val="accent5"/>
                </a:solidFill>
              </a:rPr>
              <a:t>TransUnion · WI · 2025-01-14</a:t>
            </a:r>
            <a:endParaRPr lang="en-US" sz="1000" dirty="0"/>
          </a:p>
        </p:txBody>
      </p:sp>
      <p:sp>
        <p:nvSpPr>
          <p:cNvPr id="13" name="Text 11"/>
          <p:cNvSpPr txBox="1"/>
          <p:nvPr/>
        </p:nvSpPr>
        <p:spPr>
          <a:xfrm>
            <a:off x="4800600" y="1645920"/>
            <a:ext cx="3749040" cy="1325880"/>
          </a:xfrm>
          <a:prstGeom prst="rect">
            <a:avLst/>
          </a:prstGeom>
          <a:noFill/>
          <a:ln/>
        </p:spPr>
        <p:txBody>
          <a:bodyPr wrap="square" lIns="0" tIns="0" rIns="0" bIns="0" rtlCol="0" anchor="t"/>
          <a:lstStyle/>
          <a:p>
            <a:pPr indent="0" marL="0">
              <a:buNone/>
            </a:pPr>
            <a:r>
              <a:rPr lang="en-US" sz="1200" i="1" dirty="0">
                <a:solidFill>
                  <a:schemeClr val="tx1"/>
                </a:solidFill>
              </a:rPr>
              <a:t>“I requested proof of late payments. I requested the late payments be investigated and that TransUnion send me there method of verification…”</a:t>
            </a:r>
            <a:endParaRPr lang="en-US" sz="1200" dirty="0"/>
          </a:p>
        </p:txBody>
      </p:sp>
      <p:sp>
        <p:nvSpPr>
          <p:cNvPr id="14" name="Shape 12"/>
          <p:cNvSpPr/>
          <p:nvPr/>
        </p:nvSpPr>
        <p:spPr>
          <a:xfrm>
            <a:off x="457200" y="3246120"/>
            <a:ext cx="8229600" cy="1325880"/>
          </a:xfrm>
          <a:prstGeom prst="roundRect">
            <a:avLst>
              <a:gd name="adj" fmla="val 4138"/>
            </a:avLst>
          </a:prstGeom>
          <a:solidFill>
            <a:srgbClr val="E4EEF3"/>
          </a:solidFill>
          <a:ln w="9525">
            <a:solidFill>
              <a:srgbClr val="E4EEF3"/>
            </a:solidFill>
            <a:prstDash val="solid"/>
          </a:ln>
        </p:spPr>
      </p:sp>
      <p:sp>
        <p:nvSpPr>
          <p:cNvPr id="15" name="Text 13"/>
          <p:cNvSpPr txBox="1"/>
          <p:nvPr/>
        </p:nvSpPr>
        <p:spPr>
          <a:xfrm>
            <a:off x="594360" y="3337560"/>
            <a:ext cx="7955280" cy="274320"/>
          </a:xfrm>
          <a:prstGeom prst="rect">
            <a:avLst/>
          </a:prstGeom>
          <a:noFill/>
          <a:ln/>
        </p:spPr>
        <p:txBody>
          <a:bodyPr wrap="square" lIns="0" tIns="0" rIns="0" bIns="0" rtlCol="0" anchor="t"/>
          <a:lstStyle/>
          <a:p>
            <a:pPr indent="0" marL="0">
              <a:buNone/>
            </a:pPr>
            <a:r>
              <a:rPr lang="en-US" sz="1300" b="1" dirty="0">
                <a:solidFill>
                  <a:schemeClr val="accent2"/>
                </a:solidFill>
              </a:rPr>
              <a:t>What the design does about it</a:t>
            </a:r>
            <a:endParaRPr lang="en-US" sz="1300" dirty="0"/>
          </a:p>
        </p:txBody>
      </p:sp>
      <p:sp>
        <p:nvSpPr>
          <p:cNvPr id="16" name="Text 14"/>
          <p:cNvSpPr txBox="1"/>
          <p:nvPr/>
        </p:nvSpPr>
        <p:spPr>
          <a:xfrm>
            <a:off x="594360" y="3657600"/>
            <a:ext cx="7955280" cy="8686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1"/>
                </a:solidFill>
              </a:rPr>
              <a:t>Lab 2: hand-label 200 rows and report the noise rate next to the baseline</a:t>
            </a:r>
            <a:endParaRPr lang="en-US" sz="1200" dirty="0"/>
          </a:p>
          <a:p>
            <a:pPr marL="342900" indent="-342900">
              <a:spcAft>
                <a:spcPts val="300"/>
              </a:spcAft>
              <a:buSzPct val="100000"/>
              <a:buChar char="•"/>
            </a:pPr>
            <a:r>
              <a:rPr lang="en-US" sz="1200" dirty="0">
                <a:solidFill>
                  <a:schemeClr val="tx1"/>
                </a:solidFill>
              </a:rPr>
              <a:t>Human overrides take precedence over the CFPB label; the model's own predictions are never used as labels</a:t>
            </a:r>
            <a:endParaRPr lang="en-US" sz="1200" dirty="0"/>
          </a:p>
          <a:p>
            <a:pPr marL="342900" indent="-342900">
              <a:spcAft>
                <a:spcPts val="300"/>
              </a:spcAft>
              <a:buSzPct val="100000"/>
              <a:buChar char="•"/>
            </a:pPr>
            <a:r>
              <a:rPr lang="en-US" sz="1200" dirty="0">
                <a:solidFill>
                  <a:schemeClr val="tx1"/>
                </a:solidFill>
              </a:rPr>
              <a:t>Macro-F1 targets are read as “against noisy labels”: 0.80 is a floor, not a ceiling</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The data passes all four checks the labs require</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The assignment's data checklist, the evidence for each item, and the time split the data allows.</a:t>
            </a:r>
            <a:endParaRPr lang="en-US" sz="1200" dirty="0"/>
          </a:p>
        </p:txBody>
      </p:sp>
      <p:sp>
        <p:nvSpPr>
          <p:cNvPr id="4" name="Shape 2"/>
          <p:cNvSpPr/>
          <p:nvPr/>
        </p:nvSpPr>
        <p:spPr>
          <a:xfrm>
            <a:off x="457200" y="914400"/>
            <a:ext cx="8229600" cy="530352"/>
          </a:xfrm>
          <a:prstGeom prst="roundRect">
            <a:avLst>
              <a:gd name="adj" fmla="val 10345"/>
            </a:avLst>
          </a:prstGeom>
          <a:solidFill>
            <a:schemeClr val="bg2"/>
          </a:solidFill>
          <a:ln w="9525">
            <a:solidFill>
              <a:schemeClr val="bg2"/>
            </a:solidFill>
            <a:prstDash val="solid"/>
          </a:ln>
        </p:spPr>
      </p:sp>
      <p:sp>
        <p:nvSpPr>
          <p:cNvPr id="5" name="Shape 3"/>
          <p:cNvSpPr/>
          <p:nvPr/>
        </p:nvSpPr>
        <p:spPr>
          <a:xfrm>
            <a:off x="566928" y="1060704"/>
            <a:ext cx="548640" cy="237744"/>
          </a:xfrm>
          <a:prstGeom prst="roundRect">
            <a:avLst>
              <a:gd name="adj" fmla="val 50000"/>
            </a:avLst>
          </a:prstGeom>
          <a:solidFill>
            <a:srgbClr val="3F7D4E"/>
          </a:solidFill>
          <a:ln w="6350">
            <a:solidFill>
              <a:srgbClr val="3F7D4E"/>
            </a:solidFill>
            <a:prstDash val="solid"/>
          </a:ln>
        </p:spPr>
      </p:sp>
      <p:sp>
        <p:nvSpPr>
          <p:cNvPr id="6" name="Text 4"/>
          <p:cNvSpPr txBox="1"/>
          <p:nvPr/>
        </p:nvSpPr>
        <p:spPr>
          <a:xfrm>
            <a:off x="566928" y="1060704"/>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7" name="Text 5"/>
          <p:cNvSpPr txBox="1"/>
          <p:nvPr/>
        </p:nvSpPr>
        <p:spPr>
          <a:xfrm>
            <a:off x="1234440" y="1051560"/>
            <a:ext cx="1828800" cy="274320"/>
          </a:xfrm>
          <a:prstGeom prst="rect">
            <a:avLst/>
          </a:prstGeom>
          <a:noFill/>
          <a:ln/>
        </p:spPr>
        <p:txBody>
          <a:bodyPr wrap="square" lIns="0" tIns="0" rIns="0" bIns="0" rtlCol="0" anchor="t"/>
          <a:lstStyle/>
          <a:p>
            <a:pPr indent="0" marL="0">
              <a:buNone/>
            </a:pPr>
            <a:r>
              <a:rPr lang="en-US" sz="1300" b="1" dirty="0">
                <a:solidFill>
                  <a:schemeClr val="tx1"/>
                </a:solidFill>
              </a:rPr>
              <a:t>Time axis</a:t>
            </a:r>
            <a:endParaRPr lang="en-US" sz="1300" dirty="0"/>
          </a:p>
        </p:txBody>
      </p:sp>
      <p:sp>
        <p:nvSpPr>
          <p:cNvPr id="8" name="Text 6"/>
          <p:cNvSpPr txBox="1"/>
          <p:nvPr/>
        </p:nvSpPr>
        <p:spPr>
          <a:xfrm>
            <a:off x="3063240" y="987552"/>
            <a:ext cx="5532120" cy="411480"/>
          </a:xfrm>
          <a:prstGeom prst="rect">
            <a:avLst/>
          </a:prstGeom>
          <a:noFill/>
          <a:ln/>
        </p:spPr>
        <p:txBody>
          <a:bodyPr wrap="square" lIns="0" tIns="0" rIns="0" bIns="0" rtlCol="0" anchor="ctr"/>
          <a:lstStyle/>
          <a:p>
            <a:pPr indent="0" marL="0">
              <a:buNone/>
            </a:pPr>
            <a:r>
              <a:rPr lang="en-US" sz="1200" dirty="0">
                <a:solidFill>
                  <a:schemeClr val="tx1"/>
                </a:solidFill>
              </a:rPr>
              <a:t>Daily date_received, 2011-12 → today; monthly batches replayed from the snapshot</a:t>
            </a:r>
            <a:endParaRPr lang="en-US" sz="1200" dirty="0"/>
          </a:p>
        </p:txBody>
      </p:sp>
      <p:sp>
        <p:nvSpPr>
          <p:cNvPr id="9" name="Shape 7"/>
          <p:cNvSpPr/>
          <p:nvPr/>
        </p:nvSpPr>
        <p:spPr>
          <a:xfrm>
            <a:off x="457200" y="1536192"/>
            <a:ext cx="8229600" cy="530352"/>
          </a:xfrm>
          <a:prstGeom prst="roundRect">
            <a:avLst>
              <a:gd name="adj" fmla="val 10345"/>
            </a:avLst>
          </a:prstGeom>
          <a:solidFill>
            <a:schemeClr val="bg2"/>
          </a:solidFill>
          <a:ln w="9525">
            <a:solidFill>
              <a:schemeClr val="bg2"/>
            </a:solidFill>
            <a:prstDash val="solid"/>
          </a:ln>
        </p:spPr>
      </p:sp>
      <p:sp>
        <p:nvSpPr>
          <p:cNvPr id="10" name="Shape 8"/>
          <p:cNvSpPr/>
          <p:nvPr/>
        </p:nvSpPr>
        <p:spPr>
          <a:xfrm>
            <a:off x="566928" y="1682496"/>
            <a:ext cx="548640" cy="237744"/>
          </a:xfrm>
          <a:prstGeom prst="roundRect">
            <a:avLst>
              <a:gd name="adj" fmla="val 50000"/>
            </a:avLst>
          </a:prstGeom>
          <a:solidFill>
            <a:srgbClr val="3F7D4E"/>
          </a:solidFill>
          <a:ln w="6350">
            <a:solidFill>
              <a:srgbClr val="3F7D4E"/>
            </a:solidFill>
            <a:prstDash val="solid"/>
          </a:ln>
        </p:spPr>
      </p:sp>
      <p:sp>
        <p:nvSpPr>
          <p:cNvPr id="11" name="Text 9"/>
          <p:cNvSpPr txBox="1"/>
          <p:nvPr/>
        </p:nvSpPr>
        <p:spPr>
          <a:xfrm>
            <a:off x="566928" y="1682496"/>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12" name="Text 10"/>
          <p:cNvSpPr txBox="1"/>
          <p:nvPr/>
        </p:nvSpPr>
        <p:spPr>
          <a:xfrm>
            <a:off x="1234440" y="1673352"/>
            <a:ext cx="1828800" cy="274320"/>
          </a:xfrm>
          <a:prstGeom prst="rect">
            <a:avLst/>
          </a:prstGeom>
          <a:noFill/>
          <a:ln/>
        </p:spPr>
        <p:txBody>
          <a:bodyPr wrap="square" lIns="0" tIns="0" rIns="0" bIns="0" rtlCol="0" anchor="t"/>
          <a:lstStyle/>
          <a:p>
            <a:pPr indent="0" marL="0">
              <a:buNone/>
            </a:pPr>
            <a:r>
              <a:rPr lang="en-US" sz="1300" b="1" dirty="0">
                <a:solidFill>
                  <a:schemeClr val="tx1"/>
                </a:solidFill>
              </a:rPr>
              <a:t>History to hold out</a:t>
            </a:r>
            <a:endParaRPr lang="en-US" sz="1300" dirty="0"/>
          </a:p>
        </p:txBody>
      </p:sp>
      <p:sp>
        <p:nvSpPr>
          <p:cNvPr id="13" name="Text 11"/>
          <p:cNvSpPr txBox="1"/>
          <p:nvPr/>
        </p:nvSpPr>
        <p:spPr>
          <a:xfrm>
            <a:off x="3063240" y="1609344"/>
            <a:ext cx="5532120" cy="411480"/>
          </a:xfrm>
          <a:prstGeom prst="rect">
            <a:avLst/>
          </a:prstGeom>
          <a:noFill/>
          <a:ln/>
        </p:spPr>
        <p:txBody>
          <a:bodyPr wrap="square" lIns="0" tIns="0" rIns="0" bIns="0" rtlCol="0" anchor="ctr"/>
          <a:lstStyle/>
          <a:p>
            <a:pPr indent="0" marL="0">
              <a:buNone/>
            </a:pPr>
            <a:r>
              <a:rPr lang="en-US" sz="1200" dirty="0">
                <a:solidFill>
                  <a:schemeClr val="tx1"/>
                </a:solidFill>
              </a:rPr>
              <a:t>3.8 M texts; train 2023-04 → 2025-03, validate 2025-04 → 06, test 2025-07 → 09</a:t>
            </a:r>
            <a:endParaRPr lang="en-US" sz="1200" dirty="0"/>
          </a:p>
        </p:txBody>
      </p:sp>
      <p:sp>
        <p:nvSpPr>
          <p:cNvPr id="14" name="Shape 12"/>
          <p:cNvSpPr/>
          <p:nvPr/>
        </p:nvSpPr>
        <p:spPr>
          <a:xfrm>
            <a:off x="457200" y="2157984"/>
            <a:ext cx="8229600" cy="530352"/>
          </a:xfrm>
          <a:prstGeom prst="roundRect">
            <a:avLst>
              <a:gd name="adj" fmla="val 10345"/>
            </a:avLst>
          </a:prstGeom>
          <a:solidFill>
            <a:schemeClr val="bg2"/>
          </a:solidFill>
          <a:ln w="9525">
            <a:solidFill>
              <a:schemeClr val="bg2"/>
            </a:solidFill>
            <a:prstDash val="solid"/>
          </a:ln>
        </p:spPr>
      </p:sp>
      <p:sp>
        <p:nvSpPr>
          <p:cNvPr id="15" name="Shape 13"/>
          <p:cNvSpPr/>
          <p:nvPr/>
        </p:nvSpPr>
        <p:spPr>
          <a:xfrm>
            <a:off x="566928" y="2304288"/>
            <a:ext cx="548640" cy="237744"/>
          </a:xfrm>
          <a:prstGeom prst="roundRect">
            <a:avLst>
              <a:gd name="adj" fmla="val 50000"/>
            </a:avLst>
          </a:prstGeom>
          <a:solidFill>
            <a:srgbClr val="3F7D4E"/>
          </a:solidFill>
          <a:ln w="6350">
            <a:solidFill>
              <a:srgbClr val="3F7D4E"/>
            </a:solidFill>
            <a:prstDash val="solid"/>
          </a:ln>
        </p:spPr>
      </p:sp>
      <p:sp>
        <p:nvSpPr>
          <p:cNvPr id="16" name="Text 14"/>
          <p:cNvSpPr txBox="1"/>
          <p:nvPr/>
        </p:nvSpPr>
        <p:spPr>
          <a:xfrm>
            <a:off x="566928" y="2304288"/>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17" name="Text 15"/>
          <p:cNvSpPr txBox="1"/>
          <p:nvPr/>
        </p:nvSpPr>
        <p:spPr>
          <a:xfrm>
            <a:off x="1234440" y="2295144"/>
            <a:ext cx="1828800" cy="274320"/>
          </a:xfrm>
          <a:prstGeom prst="rect">
            <a:avLst/>
          </a:prstGeom>
          <a:noFill/>
          <a:ln/>
        </p:spPr>
        <p:txBody>
          <a:bodyPr wrap="square" lIns="0" tIns="0" rIns="0" bIns="0" rtlCol="0" anchor="t"/>
          <a:lstStyle/>
          <a:p>
            <a:pPr indent="0" marL="0">
              <a:buNone/>
            </a:pPr>
            <a:r>
              <a:rPr lang="en-US" sz="1300" b="1" dirty="0">
                <a:solidFill>
                  <a:schemeClr val="tx1"/>
                </a:solidFill>
              </a:rPr>
              <a:t>Label arrival delay</a:t>
            </a:r>
            <a:endParaRPr lang="en-US" sz="1300" dirty="0"/>
          </a:p>
        </p:txBody>
      </p:sp>
      <p:sp>
        <p:nvSpPr>
          <p:cNvPr id="18" name="Text 16"/>
          <p:cNvSpPr txBox="1"/>
          <p:nvPr/>
        </p:nvSpPr>
        <p:spPr>
          <a:xfrm>
            <a:off x="3063240" y="2231136"/>
            <a:ext cx="5532120" cy="411480"/>
          </a:xfrm>
          <a:prstGeom prst="rect">
            <a:avLst/>
          </a:prstGeom>
          <a:noFill/>
          <a:ln/>
        </p:spPr>
        <p:txBody>
          <a:bodyPr wrap="square" lIns="0" tIns="0" rIns="0" bIns="0" rtlCol="0" anchor="ctr"/>
          <a:lstStyle/>
          <a:p>
            <a:pPr indent="0" marL="0">
              <a:buNone/>
            </a:pPr>
            <a:r>
              <a:rPr lang="en-US" sz="1200" dirty="0">
                <a:solidFill>
                  <a:schemeClr val="tx1"/>
                </a:solidFill>
              </a:rPr>
              <a:t>15 days (emulated), grounded in CFPB's rule: published after the company responds or after 15 days</a:t>
            </a:r>
            <a:endParaRPr lang="en-US" sz="1200" dirty="0"/>
          </a:p>
        </p:txBody>
      </p:sp>
      <p:sp>
        <p:nvSpPr>
          <p:cNvPr id="19" name="Shape 17"/>
          <p:cNvSpPr/>
          <p:nvPr/>
        </p:nvSpPr>
        <p:spPr>
          <a:xfrm>
            <a:off x="457200" y="2779776"/>
            <a:ext cx="8229600" cy="530352"/>
          </a:xfrm>
          <a:prstGeom prst="roundRect">
            <a:avLst>
              <a:gd name="adj" fmla="val 10345"/>
            </a:avLst>
          </a:prstGeom>
          <a:solidFill>
            <a:schemeClr val="bg2"/>
          </a:solidFill>
          <a:ln w="9525">
            <a:solidFill>
              <a:schemeClr val="bg2"/>
            </a:solidFill>
            <a:prstDash val="solid"/>
          </a:ln>
        </p:spPr>
      </p:sp>
      <p:sp>
        <p:nvSpPr>
          <p:cNvPr id="20" name="Shape 18"/>
          <p:cNvSpPr/>
          <p:nvPr/>
        </p:nvSpPr>
        <p:spPr>
          <a:xfrm>
            <a:off x="566928" y="2926080"/>
            <a:ext cx="548640" cy="237744"/>
          </a:xfrm>
          <a:prstGeom prst="roundRect">
            <a:avLst>
              <a:gd name="adj" fmla="val 50000"/>
            </a:avLst>
          </a:prstGeom>
          <a:solidFill>
            <a:srgbClr val="3F7D4E"/>
          </a:solidFill>
          <a:ln w="6350">
            <a:solidFill>
              <a:srgbClr val="3F7D4E"/>
            </a:solidFill>
            <a:prstDash val="solid"/>
          </a:ln>
        </p:spPr>
      </p:sp>
      <p:sp>
        <p:nvSpPr>
          <p:cNvPr id="21" name="Text 19"/>
          <p:cNvSpPr txBox="1"/>
          <p:nvPr/>
        </p:nvSpPr>
        <p:spPr>
          <a:xfrm>
            <a:off x="566928" y="2926080"/>
            <a:ext cx="548640" cy="237744"/>
          </a:xfrm>
          <a:prstGeom prst="rect">
            <a:avLst/>
          </a:prstGeom>
          <a:noFill/>
          <a:ln/>
        </p:spPr>
        <p:txBody>
          <a:bodyPr wrap="square" lIns="0" tIns="0" rIns="0" bIns="0" rtlCol="0" anchor="ctr"/>
          <a:lstStyle/>
          <a:p>
            <a:pPr algn="ctr" indent="0" marL="0">
              <a:buNone/>
            </a:pPr>
            <a:r>
              <a:rPr lang="en-US" sz="1000" b="1" dirty="0">
                <a:solidFill>
                  <a:schemeClr val="bg1"/>
                </a:solidFill>
              </a:rPr>
              <a:t>PASS</a:t>
            </a:r>
            <a:endParaRPr lang="en-US" sz="1000" dirty="0"/>
          </a:p>
        </p:txBody>
      </p:sp>
      <p:sp>
        <p:nvSpPr>
          <p:cNvPr id="22" name="Text 20"/>
          <p:cNvSpPr txBox="1"/>
          <p:nvPr/>
        </p:nvSpPr>
        <p:spPr>
          <a:xfrm>
            <a:off x="1234440" y="2916936"/>
            <a:ext cx="1828800" cy="274320"/>
          </a:xfrm>
          <a:prstGeom prst="rect">
            <a:avLst/>
          </a:prstGeom>
          <a:noFill/>
          <a:ln/>
        </p:spPr>
        <p:txBody>
          <a:bodyPr wrap="square" lIns="0" tIns="0" rIns="0" bIns="0" rtlCol="0" anchor="t"/>
          <a:lstStyle/>
          <a:p>
            <a:pPr indent="0" marL="0">
              <a:buNone/>
            </a:pPr>
            <a:r>
              <a:rPr lang="en-US" sz="1300" b="1" dirty="0">
                <a:solidFill>
                  <a:schemeClr val="tx1"/>
                </a:solidFill>
              </a:rPr>
              <a:t>Text surface / corpus</a:t>
            </a:r>
            <a:endParaRPr lang="en-US" sz="1300" dirty="0"/>
          </a:p>
        </p:txBody>
      </p:sp>
      <p:sp>
        <p:nvSpPr>
          <p:cNvPr id="23" name="Text 21"/>
          <p:cNvSpPr txBox="1"/>
          <p:nvPr/>
        </p:nvSpPr>
        <p:spPr>
          <a:xfrm>
            <a:off x="3063240" y="2852928"/>
            <a:ext cx="5532120" cy="411480"/>
          </a:xfrm>
          <a:prstGeom prst="rect">
            <a:avLst/>
          </a:prstGeom>
          <a:noFill/>
          <a:ln/>
        </p:spPr>
        <p:txBody>
          <a:bodyPr wrap="square" lIns="0" tIns="0" rIns="0" bIns="0" rtlCol="0" anchor="ctr"/>
          <a:lstStyle/>
          <a:p>
            <a:pPr indent="0" marL="0">
              <a:buNone/>
            </a:pPr>
            <a:r>
              <a:rPr lang="en-US" sz="1200" dirty="0">
                <a:solidFill>
                  <a:schemeClr val="tx1"/>
                </a:solidFill>
              </a:rPr>
              <a:t>Narratives are the data; Lab 3 corpus: Ask CFPB articles + eCFR Regs B, E, F, V, X, Z</a:t>
            </a:r>
            <a:endParaRPr lang="en-US" sz="1200" dirty="0"/>
          </a:p>
        </p:txBody>
      </p:sp>
      <p:sp>
        <p:nvSpPr>
          <p:cNvPr id="24" name="Shape 22"/>
          <p:cNvSpPr/>
          <p:nvPr/>
        </p:nvSpPr>
        <p:spPr>
          <a:xfrm>
            <a:off x="457200" y="3566160"/>
            <a:ext cx="4937760" cy="384048"/>
          </a:xfrm>
          <a:prstGeom prst="rect">
            <a:avLst/>
          </a:prstGeom>
          <a:solidFill>
            <a:srgbClr val="2F6F8F"/>
          </a:solidFill>
          <a:ln w="12700">
            <a:solidFill>
              <a:srgbClr val="FFFFFF"/>
            </a:solidFill>
            <a:prstDash val="solid"/>
          </a:ln>
        </p:spPr>
      </p:sp>
      <p:sp>
        <p:nvSpPr>
          <p:cNvPr id="25" name="Text 23"/>
          <p:cNvSpPr txBox="1"/>
          <p:nvPr/>
        </p:nvSpPr>
        <p:spPr>
          <a:xfrm>
            <a:off x="502920" y="3566160"/>
            <a:ext cx="4846320" cy="384048"/>
          </a:xfrm>
          <a:prstGeom prst="rect">
            <a:avLst/>
          </a:prstGeom>
          <a:noFill/>
          <a:ln/>
        </p:spPr>
        <p:txBody>
          <a:bodyPr wrap="square" lIns="0" tIns="0" rIns="0" bIns="0" rtlCol="0" anchor="ctr"/>
          <a:lstStyle/>
          <a:p>
            <a:pPr algn="ctr" indent="0" marL="0">
              <a:buNone/>
            </a:pPr>
            <a:r>
              <a:rPr lang="en-US" sz="1100" b="1" dirty="0">
                <a:solidFill>
                  <a:schemeClr val="bg1"/>
                </a:solidFill>
              </a:rPr>
              <a:t>Train · 24 mo · 1.54 M</a:t>
            </a:r>
            <a:endParaRPr lang="en-US" sz="1100" dirty="0"/>
          </a:p>
        </p:txBody>
      </p:sp>
      <p:sp>
        <p:nvSpPr>
          <p:cNvPr id="26" name="Shape 24"/>
          <p:cNvSpPr/>
          <p:nvPr/>
        </p:nvSpPr>
        <p:spPr>
          <a:xfrm>
            <a:off x="5394960" y="3566160"/>
            <a:ext cx="617220" cy="384048"/>
          </a:xfrm>
          <a:prstGeom prst="rect">
            <a:avLst/>
          </a:prstGeom>
          <a:solidFill>
            <a:srgbClr val="C9741F"/>
          </a:solidFill>
          <a:ln w="12700">
            <a:solidFill>
              <a:srgbClr val="FFFFFF"/>
            </a:solidFill>
            <a:prstDash val="solid"/>
          </a:ln>
        </p:spPr>
      </p:sp>
      <p:sp>
        <p:nvSpPr>
          <p:cNvPr id="27" name="Text 25"/>
          <p:cNvSpPr txBox="1"/>
          <p:nvPr/>
        </p:nvSpPr>
        <p:spPr>
          <a:xfrm>
            <a:off x="5440680" y="3566160"/>
            <a:ext cx="525780" cy="384048"/>
          </a:xfrm>
          <a:prstGeom prst="rect">
            <a:avLst/>
          </a:prstGeom>
          <a:noFill/>
          <a:ln/>
        </p:spPr>
        <p:txBody>
          <a:bodyPr wrap="square" lIns="0" tIns="0" rIns="0" bIns="0" rtlCol="0" anchor="ctr"/>
          <a:lstStyle/>
          <a:p>
            <a:pPr algn="ctr" indent="0" marL="0">
              <a:buNone/>
            </a:pPr>
            <a:r>
              <a:rPr lang="en-US" sz="900" b="1" dirty="0">
                <a:solidFill>
                  <a:schemeClr val="bg1"/>
                </a:solidFill>
              </a:rPr>
              <a:t>Val · 325 k</a:t>
            </a:r>
            <a:endParaRPr lang="en-US" sz="900" dirty="0"/>
          </a:p>
        </p:txBody>
      </p:sp>
      <p:sp>
        <p:nvSpPr>
          <p:cNvPr id="28" name="Shape 26"/>
          <p:cNvSpPr/>
          <p:nvPr/>
        </p:nvSpPr>
        <p:spPr>
          <a:xfrm>
            <a:off x="6012180" y="3566160"/>
            <a:ext cx="617220" cy="384048"/>
          </a:xfrm>
          <a:prstGeom prst="rect">
            <a:avLst/>
          </a:prstGeom>
          <a:solidFill>
            <a:srgbClr val="3F7D4E"/>
          </a:solidFill>
          <a:ln w="12700">
            <a:solidFill>
              <a:srgbClr val="FFFFFF"/>
            </a:solidFill>
            <a:prstDash val="solid"/>
          </a:ln>
        </p:spPr>
      </p:sp>
      <p:sp>
        <p:nvSpPr>
          <p:cNvPr id="29" name="Text 27"/>
          <p:cNvSpPr txBox="1"/>
          <p:nvPr/>
        </p:nvSpPr>
        <p:spPr>
          <a:xfrm>
            <a:off x="6057900" y="3566160"/>
            <a:ext cx="525780" cy="384048"/>
          </a:xfrm>
          <a:prstGeom prst="rect">
            <a:avLst/>
          </a:prstGeom>
          <a:noFill/>
          <a:ln/>
        </p:spPr>
        <p:txBody>
          <a:bodyPr wrap="square" lIns="0" tIns="0" rIns="0" bIns="0" rtlCol="0" anchor="ctr"/>
          <a:lstStyle/>
          <a:p>
            <a:pPr algn="ctr" indent="0" marL="0">
              <a:buNone/>
            </a:pPr>
            <a:r>
              <a:rPr lang="en-US" sz="900" b="1" dirty="0">
                <a:solidFill>
                  <a:schemeClr val="bg1"/>
                </a:solidFill>
              </a:rPr>
              <a:t>Test · 316 k</a:t>
            </a:r>
            <a:endParaRPr lang="en-US" sz="900" dirty="0"/>
          </a:p>
        </p:txBody>
      </p:sp>
      <p:sp>
        <p:nvSpPr>
          <p:cNvPr id="30" name="Shape 28"/>
          <p:cNvSpPr/>
          <p:nvPr/>
        </p:nvSpPr>
        <p:spPr>
          <a:xfrm>
            <a:off x="6629400" y="3566160"/>
            <a:ext cx="2057400" cy="384048"/>
          </a:xfrm>
          <a:prstGeom prst="rect">
            <a:avLst/>
          </a:prstGeom>
          <a:solidFill>
            <a:srgbClr val="9AA6B2"/>
          </a:solidFill>
          <a:ln w="12700">
            <a:solidFill>
              <a:srgbClr val="FFFFFF"/>
            </a:solidFill>
            <a:prstDash val="solid"/>
          </a:ln>
        </p:spPr>
      </p:sp>
      <p:sp>
        <p:nvSpPr>
          <p:cNvPr id="31" name="Text 29"/>
          <p:cNvSpPr txBox="1"/>
          <p:nvPr/>
        </p:nvSpPr>
        <p:spPr>
          <a:xfrm>
            <a:off x="6675120" y="3566160"/>
            <a:ext cx="1965960" cy="384048"/>
          </a:xfrm>
          <a:prstGeom prst="rect">
            <a:avLst/>
          </a:prstGeom>
          <a:noFill/>
          <a:ln/>
        </p:spPr>
        <p:txBody>
          <a:bodyPr wrap="square" lIns="0" tIns="0" rIns="0" bIns="0" rtlCol="0" anchor="ctr"/>
          <a:lstStyle/>
          <a:p>
            <a:pPr algn="ctr" indent="0" marL="0">
              <a:buNone/>
            </a:pPr>
            <a:r>
              <a:rPr lang="en-US" sz="1100" b="1" dirty="0">
                <a:solidFill>
                  <a:schemeClr val="bg1"/>
                </a:solidFill>
              </a:rPr>
              <a:t>Replay 2025-10 →</a:t>
            </a:r>
            <a:endParaRPr lang="en-US" sz="1100" dirty="0"/>
          </a:p>
        </p:txBody>
      </p:sp>
      <p:sp>
        <p:nvSpPr>
          <p:cNvPr id="32" name="Text 30"/>
          <p:cNvSpPr txBox="1"/>
          <p:nvPr/>
        </p:nvSpPr>
        <p:spPr>
          <a:xfrm>
            <a:off x="45720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2023-04</a:t>
            </a:r>
            <a:endParaRPr lang="en-US" sz="900" dirty="0"/>
          </a:p>
        </p:txBody>
      </p:sp>
      <p:sp>
        <p:nvSpPr>
          <p:cNvPr id="33" name="Text 31"/>
          <p:cNvSpPr txBox="1"/>
          <p:nvPr/>
        </p:nvSpPr>
        <p:spPr>
          <a:xfrm>
            <a:off x="539496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2025-04</a:t>
            </a:r>
            <a:endParaRPr lang="en-US" sz="900" dirty="0"/>
          </a:p>
        </p:txBody>
      </p:sp>
      <p:sp>
        <p:nvSpPr>
          <p:cNvPr id="34" name="Text 32"/>
          <p:cNvSpPr txBox="1"/>
          <p:nvPr/>
        </p:nvSpPr>
        <p:spPr>
          <a:xfrm>
            <a:off x="6629400" y="3986784"/>
            <a:ext cx="640080" cy="201168"/>
          </a:xfrm>
          <a:prstGeom prst="rect">
            <a:avLst/>
          </a:prstGeom>
          <a:noFill/>
          <a:ln/>
        </p:spPr>
        <p:txBody>
          <a:bodyPr wrap="square" lIns="0" tIns="0" rIns="0" bIns="0" rtlCol="0" anchor="t"/>
          <a:lstStyle/>
          <a:p>
            <a:pPr algn="l" indent="0" marL="0">
              <a:buNone/>
            </a:pPr>
            <a:r>
              <a:rPr lang="en-US" sz="900" dirty="0">
                <a:solidFill>
                  <a:schemeClr val="accent5"/>
                </a:solidFill>
              </a:rPr>
              <a:t>2025-10</a:t>
            </a:r>
            <a:endParaRPr lang="en-US" sz="900" dirty="0"/>
          </a:p>
        </p:txBody>
      </p:sp>
      <p:sp>
        <p:nvSpPr>
          <p:cNvPr id="35" name="Text 33"/>
          <p:cNvSpPr txBox="1"/>
          <p:nvPr/>
        </p:nvSpPr>
        <p:spPr>
          <a:xfrm>
            <a:off x="8046720" y="3986784"/>
            <a:ext cx="640080" cy="201168"/>
          </a:xfrm>
          <a:prstGeom prst="rect">
            <a:avLst/>
          </a:prstGeom>
          <a:noFill/>
          <a:ln/>
        </p:spPr>
        <p:txBody>
          <a:bodyPr wrap="square" lIns="0" tIns="0" rIns="0" bIns="0" rtlCol="0" anchor="t"/>
          <a:lstStyle/>
          <a:p>
            <a:pPr algn="r" indent="0" marL="0">
              <a:buNone/>
            </a:pPr>
            <a:r>
              <a:rPr lang="en-US" sz="900" dirty="0">
                <a:solidFill>
                  <a:schemeClr val="accent5"/>
                </a:solidFill>
              </a:rPr>
              <a:t>2026-07</a:t>
            </a:r>
            <a:endParaRPr lang="en-US" sz="900" dirty="0"/>
          </a:p>
        </p:txBody>
      </p:sp>
      <p:sp>
        <p:nvSpPr>
          <p:cNvPr id="36" name="Text 34"/>
          <p:cNvSpPr txBox="1"/>
          <p:nvPr/>
        </p:nvSpPr>
        <p:spPr>
          <a:xfrm>
            <a:off x="457200" y="4279392"/>
            <a:ext cx="8229600" cy="274320"/>
          </a:xfrm>
          <a:prstGeom prst="rect">
            <a:avLst/>
          </a:prstGeom>
          <a:noFill/>
          <a:ln/>
        </p:spPr>
        <p:txBody>
          <a:bodyPr wrap="square" lIns="0" tIns="0" rIns="0" bIns="0" rtlCol="0" anchor="t"/>
          <a:lstStyle/>
          <a:p>
            <a:pPr indent="0" marL="0">
              <a:buNone/>
            </a:pPr>
            <a:r>
              <a:rPr lang="en-US" sz="1200" i="1" dirty="0">
                <a:solidFill>
                  <a:schemeClr val="accent5"/>
                </a:solidFill>
              </a:rPr>
              <a:t>Split by time, never random: complaints about one event share wording and cluster in time.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System context: one box, every external party around it</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Who sends data, who consumes predictions, who gets alerts; names match every diagram and design.md §6.2.</a:t>
            </a:r>
            <a:endParaRPr lang="en-US" sz="1200" dirty="0"/>
          </a:p>
        </p:txBody>
      </p:sp>
      <p:sp>
        <p:nvSpPr>
          <p:cNvPr id="4" name="Shape 2"/>
          <p:cNvSpPr/>
          <p:nvPr/>
        </p:nvSpPr>
        <p:spPr>
          <a:xfrm>
            <a:off x="457200" y="1005840"/>
            <a:ext cx="2103120" cy="777240"/>
          </a:xfrm>
          <a:prstGeom prst="roundRect">
            <a:avLst>
              <a:gd name="adj" fmla="val 7059"/>
            </a:avLst>
          </a:prstGeom>
          <a:solidFill>
            <a:schemeClr val="bg2"/>
          </a:solidFill>
          <a:ln w="12700">
            <a:solidFill>
              <a:srgbClr val="D3DAE2"/>
            </a:solidFill>
            <a:prstDash val="solid"/>
          </a:ln>
        </p:spPr>
      </p:sp>
      <p:sp>
        <p:nvSpPr>
          <p:cNvPr id="5" name="Text 3"/>
          <p:cNvSpPr txBox="1"/>
          <p:nvPr/>
        </p:nvSpPr>
        <p:spPr>
          <a:xfrm>
            <a:off x="566928" y="1097280"/>
            <a:ext cx="1920240" cy="256032"/>
          </a:xfrm>
          <a:prstGeom prst="rect">
            <a:avLst/>
          </a:prstGeom>
          <a:noFill/>
          <a:ln/>
        </p:spPr>
        <p:txBody>
          <a:bodyPr wrap="square" lIns="0" tIns="0" rIns="0" bIns="0" rtlCol="0" anchor="t"/>
          <a:lstStyle/>
          <a:p>
            <a:pPr indent="0" marL="0">
              <a:buNone/>
            </a:pPr>
            <a:r>
              <a:rPr lang="en-US" sz="1300" b="1" dirty="0">
                <a:solidFill>
                  <a:schemeClr val="tx1"/>
                </a:solidFill>
              </a:rPr>
              <a:t>CFPB database</a:t>
            </a:r>
            <a:endParaRPr lang="en-US" sz="1300" dirty="0"/>
          </a:p>
        </p:txBody>
      </p:sp>
      <p:sp>
        <p:nvSpPr>
          <p:cNvPr id="6" name="Text 4"/>
          <p:cNvSpPr txBox="1"/>
          <p:nvPr/>
        </p:nvSpPr>
        <p:spPr>
          <a:xfrm>
            <a:off x="566928" y="138988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daily export + 2026-07 text snapshot</a:t>
            </a:r>
            <a:endParaRPr lang="en-US" sz="1000" dirty="0"/>
          </a:p>
        </p:txBody>
      </p:sp>
      <p:sp>
        <p:nvSpPr>
          <p:cNvPr id="7" name="Shape 5"/>
          <p:cNvSpPr/>
          <p:nvPr/>
        </p:nvSpPr>
        <p:spPr>
          <a:xfrm>
            <a:off x="457200" y="2194560"/>
            <a:ext cx="2103120" cy="777240"/>
          </a:xfrm>
          <a:prstGeom prst="roundRect">
            <a:avLst>
              <a:gd name="adj" fmla="val 7059"/>
            </a:avLst>
          </a:prstGeom>
          <a:solidFill>
            <a:schemeClr val="bg2"/>
          </a:solidFill>
          <a:ln w="12700">
            <a:solidFill>
              <a:srgbClr val="D3DAE2"/>
            </a:solidFill>
            <a:prstDash val="solid"/>
          </a:ln>
        </p:spPr>
      </p:sp>
      <p:sp>
        <p:nvSpPr>
          <p:cNvPr id="8" name="Text 6"/>
          <p:cNvSpPr txBox="1"/>
          <p:nvPr/>
        </p:nvSpPr>
        <p:spPr>
          <a:xfrm>
            <a:off x="566928" y="2286000"/>
            <a:ext cx="1920240" cy="256032"/>
          </a:xfrm>
          <a:prstGeom prst="rect">
            <a:avLst/>
          </a:prstGeom>
          <a:noFill/>
          <a:ln/>
        </p:spPr>
        <p:txBody>
          <a:bodyPr wrap="square" lIns="0" tIns="0" rIns="0" bIns="0" rtlCol="0" anchor="t"/>
          <a:lstStyle/>
          <a:p>
            <a:pPr indent="0" marL="0">
              <a:buNone/>
            </a:pPr>
            <a:r>
              <a:rPr lang="en-US" sz="1300" b="1" dirty="0">
                <a:solidFill>
                  <a:schemeClr val="tx1"/>
                </a:solidFill>
              </a:rPr>
              <a:t>Routing outcomes</a:t>
            </a:r>
            <a:endParaRPr lang="en-US" sz="1300" dirty="0"/>
          </a:p>
        </p:txBody>
      </p:sp>
      <p:sp>
        <p:nvSpPr>
          <p:cNvPr id="9" name="Text 7"/>
          <p:cNvSpPr txBox="1"/>
          <p:nvPr/>
        </p:nvSpPr>
        <p:spPr>
          <a:xfrm>
            <a:off x="566928" y="257860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product +15 days, agent overrides</a:t>
            </a:r>
            <a:endParaRPr lang="en-US" sz="1000" dirty="0"/>
          </a:p>
        </p:txBody>
      </p:sp>
      <p:sp>
        <p:nvSpPr>
          <p:cNvPr id="10" name="Shape 8"/>
          <p:cNvSpPr/>
          <p:nvPr/>
        </p:nvSpPr>
        <p:spPr>
          <a:xfrm>
            <a:off x="457200" y="3383280"/>
            <a:ext cx="2103120" cy="777240"/>
          </a:xfrm>
          <a:prstGeom prst="roundRect">
            <a:avLst>
              <a:gd name="adj" fmla="val 7059"/>
            </a:avLst>
          </a:prstGeom>
          <a:solidFill>
            <a:schemeClr val="bg2"/>
          </a:solidFill>
          <a:ln w="12700">
            <a:solidFill>
              <a:srgbClr val="D3DAE2"/>
            </a:solidFill>
            <a:prstDash val="solid"/>
          </a:ln>
        </p:spPr>
      </p:sp>
      <p:sp>
        <p:nvSpPr>
          <p:cNvPr id="11" name="Text 9"/>
          <p:cNvSpPr txBox="1"/>
          <p:nvPr/>
        </p:nvSpPr>
        <p:spPr>
          <a:xfrm>
            <a:off x="566928" y="3474720"/>
            <a:ext cx="1920240" cy="256032"/>
          </a:xfrm>
          <a:prstGeom prst="rect">
            <a:avLst/>
          </a:prstGeom>
          <a:noFill/>
          <a:ln/>
        </p:spPr>
        <p:txBody>
          <a:bodyPr wrap="square" lIns="0" tIns="0" rIns="0" bIns="0" rtlCol="0" anchor="t"/>
          <a:lstStyle/>
          <a:p>
            <a:pPr indent="0" marL="0">
              <a:buNone/>
            </a:pPr>
            <a:r>
              <a:rPr lang="en-US" sz="1300" b="1" dirty="0">
                <a:solidFill>
                  <a:schemeClr val="tx1"/>
                </a:solidFill>
              </a:rPr>
              <a:t>Ask CFPB + eCFR</a:t>
            </a:r>
            <a:endParaRPr lang="en-US" sz="1300" dirty="0"/>
          </a:p>
        </p:txBody>
      </p:sp>
      <p:sp>
        <p:nvSpPr>
          <p:cNvPr id="12" name="Text 10"/>
          <p:cNvSpPr txBox="1"/>
          <p:nvPr/>
        </p:nvSpPr>
        <p:spPr>
          <a:xfrm>
            <a:off x="566928" y="376732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Lab 3 retrieval corpus</a:t>
            </a:r>
            <a:endParaRPr lang="en-US" sz="1000" dirty="0"/>
          </a:p>
        </p:txBody>
      </p:sp>
      <p:sp>
        <p:nvSpPr>
          <p:cNvPr id="13" name="Shape 11"/>
          <p:cNvSpPr/>
          <p:nvPr/>
        </p:nvSpPr>
        <p:spPr>
          <a:xfrm>
            <a:off x="3429000" y="1371600"/>
            <a:ext cx="2286000" cy="2194560"/>
          </a:xfrm>
          <a:prstGeom prst="roundRect">
            <a:avLst>
              <a:gd name="adj" fmla="val 2500"/>
            </a:avLst>
          </a:prstGeom>
          <a:solidFill>
            <a:schemeClr val="accent2"/>
          </a:solidFill>
          <a:ln w="12700">
            <a:solidFill>
              <a:srgbClr val="2F6F8F"/>
            </a:solidFill>
            <a:prstDash val="solid"/>
          </a:ln>
        </p:spPr>
      </p:sp>
      <p:sp>
        <p:nvSpPr>
          <p:cNvPr id="14" name="Text 12"/>
          <p:cNvSpPr txBox="1"/>
          <p:nvPr/>
        </p:nvSpPr>
        <p:spPr>
          <a:xfrm>
            <a:off x="3520440" y="2103120"/>
            <a:ext cx="2103120" cy="320040"/>
          </a:xfrm>
          <a:prstGeom prst="rect">
            <a:avLst/>
          </a:prstGeom>
          <a:noFill/>
          <a:ln/>
        </p:spPr>
        <p:txBody>
          <a:bodyPr wrap="square" lIns="0" tIns="0" rIns="0" bIns="0" rtlCol="0" anchor="t"/>
          <a:lstStyle/>
          <a:p>
            <a:pPr algn="ctr" indent="0" marL="0">
              <a:buNone/>
            </a:pPr>
            <a:r>
              <a:rPr lang="en-US" sz="1600" b="1" dirty="0">
                <a:solidFill>
                  <a:schemeClr val="bg1"/>
                </a:solidFill>
              </a:rPr>
              <a:t>complaint-router</a:t>
            </a:r>
            <a:endParaRPr lang="en-US" sz="1600" dirty="0"/>
          </a:p>
        </p:txBody>
      </p:sp>
      <p:sp>
        <p:nvSpPr>
          <p:cNvPr id="15" name="Text 13"/>
          <p:cNvSpPr txBox="1"/>
          <p:nvPr/>
        </p:nvSpPr>
        <p:spPr>
          <a:xfrm>
            <a:off x="3520440" y="2468880"/>
            <a:ext cx="2103120" cy="274320"/>
          </a:xfrm>
          <a:prstGeom prst="rect">
            <a:avLst/>
          </a:prstGeom>
          <a:noFill/>
          <a:ln/>
        </p:spPr>
        <p:txBody>
          <a:bodyPr wrap="square" lIns="0" tIns="0" rIns="0" bIns="0" rtlCol="0" anchor="t"/>
          <a:lstStyle/>
          <a:p>
            <a:pPr algn="ctr" indent="0" marL="0">
              <a:buNone/>
            </a:pPr>
            <a:r>
              <a:rPr lang="en-US" sz="1100" dirty="0">
                <a:solidFill>
                  <a:schemeClr val="bg1"/>
                </a:solidFill>
              </a:rPr>
              <a:t>ingests · trains · serves · monitors</a:t>
            </a:r>
            <a:endParaRPr lang="en-US" sz="1100" dirty="0"/>
          </a:p>
        </p:txBody>
      </p:sp>
      <p:sp>
        <p:nvSpPr>
          <p:cNvPr id="16" name="Shape 14"/>
          <p:cNvSpPr/>
          <p:nvPr/>
        </p:nvSpPr>
        <p:spPr>
          <a:xfrm>
            <a:off x="2560320" y="1389888"/>
            <a:ext cx="868680" cy="347472"/>
          </a:xfrm>
          <a:prstGeom prst="line">
            <a:avLst/>
          </a:prstGeom>
          <a:noFill/>
          <a:ln w="15875">
            <a:solidFill>
              <a:srgbClr val="6B7785"/>
            </a:solidFill>
            <a:prstDash val="solid"/>
            <a:tailEnd type="triangle"/>
          </a:ln>
        </p:spPr>
      </p:sp>
      <p:sp>
        <p:nvSpPr>
          <p:cNvPr id="17" name="Text 15"/>
          <p:cNvSpPr txBox="1"/>
          <p:nvPr/>
        </p:nvSpPr>
        <p:spPr>
          <a:xfrm>
            <a:off x="2633472" y="1170432"/>
            <a:ext cx="1097280" cy="201168"/>
          </a:xfrm>
          <a:prstGeom prst="rect">
            <a:avLst/>
          </a:prstGeom>
          <a:noFill/>
          <a:ln/>
        </p:spPr>
        <p:txBody>
          <a:bodyPr wrap="square" lIns="0" tIns="0" rIns="0" bIns="0" rtlCol="0" anchor="t"/>
          <a:lstStyle/>
          <a:p>
            <a:pPr indent="0" marL="0">
              <a:buNone/>
            </a:pPr>
            <a:r>
              <a:rPr lang="en-US" sz="900" dirty="0">
                <a:solidFill>
                  <a:schemeClr val="accent5"/>
                </a:solidFill>
              </a:rPr>
              <a:t>complaints + labels</a:t>
            </a:r>
            <a:endParaRPr lang="en-US" sz="900" dirty="0"/>
          </a:p>
        </p:txBody>
      </p:sp>
      <p:sp>
        <p:nvSpPr>
          <p:cNvPr id="18" name="Shape 16"/>
          <p:cNvSpPr/>
          <p:nvPr/>
        </p:nvSpPr>
        <p:spPr>
          <a:xfrm flipV="1">
            <a:off x="2560320" y="2514600"/>
            <a:ext cx="868680" cy="64008"/>
          </a:xfrm>
          <a:prstGeom prst="line">
            <a:avLst/>
          </a:prstGeom>
          <a:noFill/>
          <a:ln w="15875">
            <a:solidFill>
              <a:srgbClr val="6B7785"/>
            </a:solidFill>
            <a:prstDash val="solid"/>
            <a:tailEnd type="triangle"/>
          </a:ln>
        </p:spPr>
      </p:sp>
      <p:sp>
        <p:nvSpPr>
          <p:cNvPr id="19" name="Text 17"/>
          <p:cNvSpPr txBox="1"/>
          <p:nvPr/>
        </p:nvSpPr>
        <p:spPr>
          <a:xfrm>
            <a:off x="2697480" y="2331720"/>
            <a:ext cx="731520" cy="201168"/>
          </a:xfrm>
          <a:prstGeom prst="rect">
            <a:avLst/>
          </a:prstGeom>
          <a:noFill/>
          <a:ln/>
        </p:spPr>
        <p:txBody>
          <a:bodyPr wrap="square" lIns="0" tIns="0" rIns="0" bIns="0" rtlCol="0" anchor="t"/>
          <a:lstStyle/>
          <a:p>
            <a:pPr indent="0" marL="0">
              <a:buNone/>
            </a:pPr>
            <a:r>
              <a:rPr lang="en-US" sz="900" dirty="0">
                <a:solidFill>
                  <a:schemeClr val="accent5"/>
                </a:solidFill>
              </a:rPr>
              <a:t>labels</a:t>
            </a:r>
            <a:endParaRPr lang="en-US" sz="900" dirty="0"/>
          </a:p>
        </p:txBody>
      </p:sp>
      <p:sp>
        <p:nvSpPr>
          <p:cNvPr id="20" name="Shape 18"/>
          <p:cNvSpPr/>
          <p:nvPr/>
        </p:nvSpPr>
        <p:spPr>
          <a:xfrm flipV="1">
            <a:off x="2560320" y="3291840"/>
            <a:ext cx="868680" cy="475488"/>
          </a:xfrm>
          <a:prstGeom prst="line">
            <a:avLst/>
          </a:prstGeom>
          <a:noFill/>
          <a:ln w="15875">
            <a:solidFill>
              <a:srgbClr val="6B7785"/>
            </a:solidFill>
            <a:prstDash val="solid"/>
            <a:tailEnd type="triangle"/>
          </a:ln>
        </p:spPr>
      </p:sp>
      <p:sp>
        <p:nvSpPr>
          <p:cNvPr id="21" name="Text 19"/>
          <p:cNvSpPr txBox="1"/>
          <p:nvPr/>
        </p:nvSpPr>
        <p:spPr>
          <a:xfrm>
            <a:off x="2697480" y="3657600"/>
            <a:ext cx="822960" cy="201168"/>
          </a:xfrm>
          <a:prstGeom prst="rect">
            <a:avLst/>
          </a:prstGeom>
          <a:noFill/>
          <a:ln/>
        </p:spPr>
        <p:txBody>
          <a:bodyPr wrap="square" lIns="0" tIns="0" rIns="0" bIns="0" rtlCol="0" anchor="t"/>
          <a:lstStyle/>
          <a:p>
            <a:pPr indent="0" marL="0">
              <a:buNone/>
            </a:pPr>
            <a:r>
              <a:rPr lang="en-US" sz="900" dirty="0">
                <a:solidFill>
                  <a:schemeClr val="accent5"/>
                </a:solidFill>
              </a:rPr>
              <a:t>documents</a:t>
            </a:r>
            <a:endParaRPr lang="en-US" sz="900" dirty="0"/>
          </a:p>
        </p:txBody>
      </p:sp>
      <p:sp>
        <p:nvSpPr>
          <p:cNvPr id="22" name="Shape 20"/>
          <p:cNvSpPr/>
          <p:nvPr/>
        </p:nvSpPr>
        <p:spPr>
          <a:xfrm>
            <a:off x="6583680" y="1005840"/>
            <a:ext cx="2103120" cy="777240"/>
          </a:xfrm>
          <a:prstGeom prst="roundRect">
            <a:avLst>
              <a:gd name="adj" fmla="val 7059"/>
            </a:avLst>
          </a:prstGeom>
          <a:solidFill>
            <a:schemeClr val="bg2"/>
          </a:solidFill>
          <a:ln w="12700">
            <a:solidFill>
              <a:srgbClr val="D3DAE2"/>
            </a:solidFill>
            <a:prstDash val="solid"/>
          </a:ln>
        </p:spPr>
      </p:sp>
      <p:sp>
        <p:nvSpPr>
          <p:cNvPr id="23" name="Text 21"/>
          <p:cNvSpPr txBox="1"/>
          <p:nvPr/>
        </p:nvSpPr>
        <p:spPr>
          <a:xfrm>
            <a:off x="6693408" y="1097280"/>
            <a:ext cx="1920240" cy="256032"/>
          </a:xfrm>
          <a:prstGeom prst="rect">
            <a:avLst/>
          </a:prstGeom>
          <a:noFill/>
          <a:ln/>
        </p:spPr>
        <p:txBody>
          <a:bodyPr wrap="square" lIns="0" tIns="0" rIns="0" bIns="0" rtlCol="0" anchor="t"/>
          <a:lstStyle/>
          <a:p>
            <a:pPr indent="0" marL="0">
              <a:buNone/>
            </a:pPr>
            <a:r>
              <a:rPr lang="en-US" sz="1300" b="1" dirty="0">
                <a:solidFill>
                  <a:schemeClr val="tx1"/>
                </a:solidFill>
              </a:rPr>
              <a:t>Intake channel</a:t>
            </a:r>
            <a:endParaRPr lang="en-US" sz="1300" dirty="0"/>
          </a:p>
        </p:txBody>
      </p:sp>
      <p:sp>
        <p:nvSpPr>
          <p:cNvPr id="24" name="Text 22"/>
          <p:cNvSpPr txBox="1"/>
          <p:nvPr/>
        </p:nvSpPr>
        <p:spPr>
          <a:xfrm>
            <a:off x="6693408" y="138988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simulated replay</a:t>
            </a:r>
            <a:endParaRPr lang="en-US" sz="1000" dirty="0"/>
          </a:p>
        </p:txBody>
      </p:sp>
      <p:sp>
        <p:nvSpPr>
          <p:cNvPr id="25" name="Shape 23"/>
          <p:cNvSpPr/>
          <p:nvPr/>
        </p:nvSpPr>
        <p:spPr>
          <a:xfrm>
            <a:off x="6583680" y="2194560"/>
            <a:ext cx="2103120" cy="777240"/>
          </a:xfrm>
          <a:prstGeom prst="roundRect">
            <a:avLst>
              <a:gd name="adj" fmla="val 7059"/>
            </a:avLst>
          </a:prstGeom>
          <a:solidFill>
            <a:schemeClr val="bg2"/>
          </a:solidFill>
          <a:ln w="12700">
            <a:solidFill>
              <a:srgbClr val="D3DAE2"/>
            </a:solidFill>
            <a:prstDash val="solid"/>
          </a:ln>
        </p:spPr>
      </p:sp>
      <p:sp>
        <p:nvSpPr>
          <p:cNvPr id="26" name="Text 24"/>
          <p:cNvSpPr txBox="1"/>
          <p:nvPr/>
        </p:nvSpPr>
        <p:spPr>
          <a:xfrm>
            <a:off x="6693408" y="2286000"/>
            <a:ext cx="1920240" cy="256032"/>
          </a:xfrm>
          <a:prstGeom prst="rect">
            <a:avLst/>
          </a:prstGeom>
          <a:noFill/>
          <a:ln/>
        </p:spPr>
        <p:txBody>
          <a:bodyPr wrap="square" lIns="0" tIns="0" rIns="0" bIns="0" rtlCol="0" anchor="t"/>
          <a:lstStyle/>
          <a:p>
            <a:pPr indent="0" marL="0">
              <a:buNone/>
            </a:pPr>
            <a:r>
              <a:rPr lang="en-US" sz="1300" b="1" dirty="0">
                <a:solidFill>
                  <a:schemeClr val="tx1"/>
                </a:solidFill>
              </a:rPr>
              <a:t>Triage desk</a:t>
            </a:r>
            <a:endParaRPr lang="en-US" sz="1300" dirty="0"/>
          </a:p>
        </p:txBody>
      </p:sp>
      <p:sp>
        <p:nvSpPr>
          <p:cNvPr id="27" name="Text 25"/>
          <p:cNvSpPr txBox="1"/>
          <p:nvPr/>
        </p:nvSpPr>
        <p:spPr>
          <a:xfrm>
            <a:off x="6693408" y="257860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ticket queue · consumer</a:t>
            </a:r>
            <a:endParaRPr lang="en-US" sz="1000" dirty="0"/>
          </a:p>
        </p:txBody>
      </p:sp>
      <p:sp>
        <p:nvSpPr>
          <p:cNvPr id="28" name="Shape 26"/>
          <p:cNvSpPr/>
          <p:nvPr/>
        </p:nvSpPr>
        <p:spPr>
          <a:xfrm>
            <a:off x="6583680" y="3383280"/>
            <a:ext cx="2103120" cy="777240"/>
          </a:xfrm>
          <a:prstGeom prst="roundRect">
            <a:avLst>
              <a:gd name="adj" fmla="val 7059"/>
            </a:avLst>
          </a:prstGeom>
          <a:solidFill>
            <a:schemeClr val="bg2"/>
          </a:solidFill>
          <a:ln w="12700">
            <a:solidFill>
              <a:srgbClr val="D3DAE2"/>
            </a:solidFill>
            <a:prstDash val="solid"/>
          </a:ln>
        </p:spPr>
      </p:sp>
      <p:sp>
        <p:nvSpPr>
          <p:cNvPr id="29" name="Text 27"/>
          <p:cNvSpPr txBox="1"/>
          <p:nvPr/>
        </p:nvSpPr>
        <p:spPr>
          <a:xfrm>
            <a:off x="6693408" y="3474720"/>
            <a:ext cx="1920240" cy="256032"/>
          </a:xfrm>
          <a:prstGeom prst="rect">
            <a:avLst/>
          </a:prstGeom>
          <a:noFill/>
          <a:ln/>
        </p:spPr>
        <p:txBody>
          <a:bodyPr wrap="square" lIns="0" tIns="0" rIns="0" bIns="0" rtlCol="0" anchor="t"/>
          <a:lstStyle/>
          <a:p>
            <a:pPr indent="0" marL="0">
              <a:buNone/>
            </a:pPr>
            <a:r>
              <a:rPr lang="en-US" sz="1300" b="1" dirty="0">
                <a:solidFill>
                  <a:schemeClr val="tx1"/>
                </a:solidFill>
              </a:rPr>
              <a:t>ML on-call</a:t>
            </a:r>
            <a:endParaRPr lang="en-US" sz="1300" dirty="0"/>
          </a:p>
        </p:txBody>
      </p:sp>
      <p:sp>
        <p:nvSpPr>
          <p:cNvPr id="30" name="Text 28"/>
          <p:cNvSpPr txBox="1"/>
          <p:nvPr/>
        </p:nvSpPr>
        <p:spPr>
          <a:xfrm>
            <a:off x="6693408" y="3767328"/>
            <a:ext cx="1920240" cy="365760"/>
          </a:xfrm>
          <a:prstGeom prst="rect">
            <a:avLst/>
          </a:prstGeom>
          <a:noFill/>
          <a:ln/>
        </p:spPr>
        <p:txBody>
          <a:bodyPr wrap="square" lIns="0" tIns="0" rIns="0" bIns="0" rtlCol="0" anchor="t"/>
          <a:lstStyle/>
          <a:p>
            <a:pPr indent="0" marL="0">
              <a:buNone/>
            </a:pPr>
            <a:r>
              <a:rPr lang="en-US" sz="1000" dirty="0">
                <a:solidFill>
                  <a:schemeClr val="accent5"/>
                </a:solidFill>
              </a:rPr>
              <a:t>project owner · e-mail</a:t>
            </a:r>
            <a:endParaRPr lang="en-US" sz="1000" dirty="0"/>
          </a:p>
        </p:txBody>
      </p:sp>
      <p:sp>
        <p:nvSpPr>
          <p:cNvPr id="31" name="Shape 29"/>
          <p:cNvSpPr/>
          <p:nvPr/>
        </p:nvSpPr>
        <p:spPr>
          <a:xfrm>
            <a:off x="7635240" y="1783080"/>
            <a:ext cx="0" cy="411480"/>
          </a:xfrm>
          <a:prstGeom prst="line">
            <a:avLst/>
          </a:prstGeom>
          <a:noFill/>
          <a:ln w="15875">
            <a:solidFill>
              <a:srgbClr val="6B7785"/>
            </a:solidFill>
            <a:prstDash val="solid"/>
            <a:tailEnd type="triangle"/>
          </a:ln>
        </p:spPr>
      </p:sp>
      <p:sp>
        <p:nvSpPr>
          <p:cNvPr id="32" name="Text 30"/>
          <p:cNvSpPr txBox="1"/>
          <p:nvPr/>
        </p:nvSpPr>
        <p:spPr>
          <a:xfrm>
            <a:off x="7726680" y="1874520"/>
            <a:ext cx="1005840" cy="201168"/>
          </a:xfrm>
          <a:prstGeom prst="rect">
            <a:avLst/>
          </a:prstGeom>
          <a:noFill/>
          <a:ln/>
        </p:spPr>
        <p:txBody>
          <a:bodyPr wrap="square" lIns="0" tIns="0" rIns="0" bIns="0" rtlCol="0" anchor="t"/>
          <a:lstStyle/>
          <a:p>
            <a:pPr indent="0" marL="0">
              <a:buNone/>
            </a:pPr>
            <a:r>
              <a:rPr lang="en-US" sz="900" dirty="0">
                <a:solidFill>
                  <a:schemeClr val="accent5"/>
                </a:solidFill>
              </a:rPr>
              <a:t>new complaint</a:t>
            </a:r>
            <a:endParaRPr lang="en-US" sz="900" dirty="0"/>
          </a:p>
        </p:txBody>
      </p:sp>
      <p:sp>
        <p:nvSpPr>
          <p:cNvPr id="33" name="Shape 31"/>
          <p:cNvSpPr/>
          <p:nvPr/>
        </p:nvSpPr>
        <p:spPr>
          <a:xfrm flipH="1" flipV="1">
            <a:off x="5715000" y="2240280"/>
            <a:ext cx="868680" cy="155448"/>
          </a:xfrm>
          <a:prstGeom prst="line">
            <a:avLst/>
          </a:prstGeom>
          <a:noFill/>
          <a:ln w="15875">
            <a:solidFill>
              <a:srgbClr val="6B7785"/>
            </a:solidFill>
            <a:prstDash val="solid"/>
            <a:tailEnd type="triangle"/>
          </a:ln>
        </p:spPr>
      </p:sp>
      <p:sp>
        <p:nvSpPr>
          <p:cNvPr id="34" name="Text 32"/>
          <p:cNvSpPr txBox="1"/>
          <p:nvPr/>
        </p:nvSpPr>
        <p:spPr>
          <a:xfrm>
            <a:off x="5806440" y="1965960"/>
            <a:ext cx="914400" cy="201168"/>
          </a:xfrm>
          <a:prstGeom prst="rect">
            <a:avLst/>
          </a:prstGeom>
          <a:noFill/>
          <a:ln/>
        </p:spPr>
        <p:txBody>
          <a:bodyPr wrap="square" lIns="0" tIns="0" rIns="0" bIns="0" rtlCol="0" anchor="t"/>
          <a:lstStyle/>
          <a:p>
            <a:pPr indent="0" marL="0">
              <a:buNone/>
            </a:pPr>
            <a:r>
              <a:rPr lang="en-US" sz="900" dirty="0">
                <a:solidFill>
                  <a:schemeClr val="accent5"/>
                </a:solidFill>
              </a:rPr>
              <a:t>POST /predict</a:t>
            </a:r>
            <a:endParaRPr lang="en-US" sz="900" dirty="0"/>
          </a:p>
        </p:txBody>
      </p:sp>
      <p:sp>
        <p:nvSpPr>
          <p:cNvPr id="35" name="Shape 33"/>
          <p:cNvSpPr/>
          <p:nvPr/>
        </p:nvSpPr>
        <p:spPr>
          <a:xfrm>
            <a:off x="5715000" y="2697480"/>
            <a:ext cx="868680" cy="0"/>
          </a:xfrm>
          <a:prstGeom prst="line">
            <a:avLst/>
          </a:prstGeom>
          <a:noFill/>
          <a:ln w="15875">
            <a:solidFill>
              <a:srgbClr val="6B7785"/>
            </a:solidFill>
            <a:prstDash val="solid"/>
            <a:tailEnd type="triangle"/>
          </a:ln>
        </p:spPr>
      </p:sp>
      <p:sp>
        <p:nvSpPr>
          <p:cNvPr id="36" name="Text 34"/>
          <p:cNvSpPr txBox="1"/>
          <p:nvPr/>
        </p:nvSpPr>
        <p:spPr>
          <a:xfrm>
            <a:off x="5760720" y="2743200"/>
            <a:ext cx="822960" cy="365760"/>
          </a:xfrm>
          <a:prstGeom prst="rect">
            <a:avLst/>
          </a:prstGeom>
          <a:noFill/>
          <a:ln/>
        </p:spPr>
        <p:txBody>
          <a:bodyPr wrap="square" lIns="0" tIns="0" rIns="0" bIns="0" rtlCol="0" anchor="t"/>
          <a:lstStyle/>
          <a:p>
            <a:pPr indent="0" marL="0">
              <a:buNone/>
            </a:pPr>
            <a:r>
              <a:rPr lang="en-US" sz="900" dirty="0">
                <a:solidFill>
                  <a:schemeClr val="accent5"/>
                </a:solidFill>
              </a:rPr>
              <a:t>product · confidence</a:t>
            </a:r>
            <a:endParaRPr lang="en-US" sz="900" dirty="0"/>
          </a:p>
          <a:p>
            <a:pPr indent="0" marL="0">
              <a:buNone/>
            </a:pPr>
            <a:r>
              <a:rPr lang="en-US" sz="900" dirty="0">
                <a:solidFill>
                  <a:schemeClr val="accent5"/>
                </a:solidFill>
              </a:rPr>
              <a:t>· route</a:t>
            </a:r>
            <a:endParaRPr lang="en-US" sz="900" dirty="0"/>
          </a:p>
        </p:txBody>
      </p:sp>
      <p:sp>
        <p:nvSpPr>
          <p:cNvPr id="37" name="Shape 35"/>
          <p:cNvSpPr/>
          <p:nvPr/>
        </p:nvSpPr>
        <p:spPr>
          <a:xfrm>
            <a:off x="5715000" y="3291840"/>
            <a:ext cx="868680" cy="502920"/>
          </a:xfrm>
          <a:prstGeom prst="line">
            <a:avLst/>
          </a:prstGeom>
          <a:noFill/>
          <a:ln w="15875">
            <a:solidFill>
              <a:srgbClr val="6B7785"/>
            </a:solidFill>
            <a:prstDash val="solid"/>
            <a:tailEnd type="triangle"/>
          </a:ln>
        </p:spPr>
      </p:sp>
      <p:sp>
        <p:nvSpPr>
          <p:cNvPr id="38" name="Text 36"/>
          <p:cNvSpPr txBox="1"/>
          <p:nvPr/>
        </p:nvSpPr>
        <p:spPr>
          <a:xfrm>
            <a:off x="5989320" y="3611880"/>
            <a:ext cx="548640" cy="201168"/>
          </a:xfrm>
          <a:prstGeom prst="rect">
            <a:avLst/>
          </a:prstGeom>
          <a:noFill/>
          <a:ln/>
        </p:spPr>
        <p:txBody>
          <a:bodyPr wrap="square" lIns="0" tIns="0" rIns="0" bIns="0" rtlCol="0" anchor="t"/>
          <a:lstStyle/>
          <a:p>
            <a:pPr indent="0" marL="0">
              <a:buNone/>
            </a:pPr>
            <a:r>
              <a:rPr lang="en-US" sz="900" dirty="0">
                <a:solidFill>
                  <a:schemeClr val="accent5"/>
                </a:solidFill>
              </a:rPr>
              <a:t>alerts</a:t>
            </a:r>
            <a:endParaRPr lang="en-US" sz="900" dirty="0"/>
          </a:p>
        </p:txBody>
      </p:sp>
      <p:sp>
        <p:nvSpPr>
          <p:cNvPr id="39" name="Text 37"/>
          <p:cNvSpPr txBox="1"/>
          <p:nvPr/>
        </p:nvSpPr>
        <p:spPr>
          <a:xfrm>
            <a:off x="457200" y="4343400"/>
            <a:ext cx="8229600" cy="274320"/>
          </a:xfrm>
          <a:prstGeom prst="rect">
            <a:avLst/>
          </a:prstGeom>
          <a:noFill/>
          <a:ln/>
        </p:spPr>
        <p:txBody>
          <a:bodyPr wrap="square" lIns="0" tIns="0" rIns="0" bIns="0" rtlCol="0" anchor="t"/>
          <a:lstStyle/>
          <a:p>
            <a:pPr algn="ctr" indent="0" marL="0">
              <a:buNone/>
            </a:pPr>
            <a:r>
              <a:rPr lang="en-US" sz="1200" i="1" dirty="0">
                <a:solidFill>
                  <a:schemeClr val="accent5"/>
                </a:solidFill>
              </a:rPr>
              <a:t>One box. Everything outside it belongs to someone else.</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Data flow on the seven layers, with the three marks</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Orange circles: data version (DVC) and quality gate. Red tag: where training and serving paths diverge.</a:t>
            </a:r>
            <a:endParaRPr lang="en-US" sz="1200" dirty="0"/>
          </a:p>
        </p:txBody>
      </p:sp>
      <p:sp>
        <p:nvSpPr>
          <p:cNvPr id="4" name="Shape 2"/>
          <p:cNvSpPr/>
          <p:nvPr/>
        </p:nvSpPr>
        <p:spPr>
          <a:xfrm>
            <a:off x="365760" y="1051560"/>
            <a:ext cx="1600200" cy="777240"/>
          </a:xfrm>
          <a:prstGeom prst="rect">
            <a:avLst/>
          </a:prstGeom>
          <a:solidFill>
            <a:schemeClr val="bg1"/>
          </a:solidFill>
          <a:ln w="12700">
            <a:solidFill>
              <a:srgbClr val="6B7785"/>
            </a:solidFill>
            <a:prstDash val="solid"/>
          </a:ln>
        </p:spPr>
      </p:sp>
      <p:sp>
        <p:nvSpPr>
          <p:cNvPr id="5" name="Text 3"/>
          <p:cNvSpPr txBox="1"/>
          <p:nvPr/>
        </p:nvSpPr>
        <p:spPr>
          <a:xfrm>
            <a:off x="438912" y="1097280"/>
            <a:ext cx="1453896" cy="228600"/>
          </a:xfrm>
          <a:prstGeom prst="rect">
            <a:avLst/>
          </a:prstGeom>
          <a:noFill/>
          <a:ln/>
        </p:spPr>
        <p:txBody>
          <a:bodyPr wrap="square" lIns="0" tIns="0" rIns="0" bIns="0" rtlCol="0" anchor="t"/>
          <a:lstStyle/>
          <a:p>
            <a:pPr indent="0" marL="0">
              <a:buNone/>
            </a:pPr>
            <a:r>
              <a:rPr lang="en-US" sz="1100" b="1" dirty="0">
                <a:solidFill>
                  <a:schemeClr val="tx1"/>
                </a:solidFill>
              </a:rPr>
              <a:t>1 · Ingestion</a:t>
            </a:r>
            <a:endParaRPr lang="en-US" sz="1100" dirty="0"/>
          </a:p>
        </p:txBody>
      </p:sp>
      <p:sp>
        <p:nvSpPr>
          <p:cNvPr id="6" name="Text 4"/>
          <p:cNvSpPr txBox="1"/>
          <p:nvPr/>
        </p:nvSpPr>
        <p:spPr>
          <a:xfrm>
            <a:off x="438912" y="1325880"/>
            <a:ext cx="1453896" cy="475488"/>
          </a:xfrm>
          <a:prstGeom prst="rect">
            <a:avLst/>
          </a:prstGeom>
          <a:noFill/>
          <a:ln/>
        </p:spPr>
        <p:txBody>
          <a:bodyPr wrap="square" lIns="0" tIns="0" rIns="0" bIns="0" rtlCol="0" anchor="t"/>
          <a:lstStyle/>
          <a:p>
            <a:pPr indent="0" marL="0">
              <a:buNone/>
            </a:pPr>
            <a:r>
              <a:rPr lang="en-US" sz="950" dirty="0">
                <a:solidFill>
                  <a:schemeClr val="accent5"/>
                </a:solidFill>
              </a:rPr>
              <a:t>Airflow ingest_ccdb</a:t>
            </a:r>
            <a:endParaRPr lang="en-US" sz="950" dirty="0"/>
          </a:p>
          <a:p>
            <a:pPr indent="0" marL="0">
              <a:buNone/>
            </a:pPr>
            <a:r>
              <a:rPr lang="en-US" sz="950" dirty="0">
                <a:solidFill>
                  <a:schemeClr val="accent5"/>
                </a:solidFill>
              </a:rPr>
              <a:t>month slice → MinIO raw/</a:t>
            </a:r>
            <a:endParaRPr lang="en-US" sz="950" dirty="0"/>
          </a:p>
        </p:txBody>
      </p:sp>
      <p:sp>
        <p:nvSpPr>
          <p:cNvPr id="7" name="Shape 5"/>
          <p:cNvSpPr/>
          <p:nvPr/>
        </p:nvSpPr>
        <p:spPr>
          <a:xfrm>
            <a:off x="2514600" y="1051560"/>
            <a:ext cx="1737360" cy="777240"/>
          </a:xfrm>
          <a:prstGeom prst="rect">
            <a:avLst/>
          </a:prstGeom>
          <a:solidFill>
            <a:schemeClr val="bg1"/>
          </a:solidFill>
          <a:ln w="12700">
            <a:solidFill>
              <a:srgbClr val="6B7785"/>
            </a:solidFill>
            <a:prstDash val="solid"/>
          </a:ln>
        </p:spPr>
      </p:sp>
      <p:sp>
        <p:nvSpPr>
          <p:cNvPr id="8" name="Text 6"/>
          <p:cNvSpPr txBox="1"/>
          <p:nvPr/>
        </p:nvSpPr>
        <p:spPr>
          <a:xfrm>
            <a:off x="2587752" y="1097280"/>
            <a:ext cx="1591056" cy="228600"/>
          </a:xfrm>
          <a:prstGeom prst="rect">
            <a:avLst/>
          </a:prstGeom>
          <a:noFill/>
          <a:ln/>
        </p:spPr>
        <p:txBody>
          <a:bodyPr wrap="square" lIns="0" tIns="0" rIns="0" bIns="0" rtlCol="0" anchor="t"/>
          <a:lstStyle/>
          <a:p>
            <a:pPr indent="0" marL="0">
              <a:buNone/>
            </a:pPr>
            <a:r>
              <a:rPr lang="en-US" sz="1100" b="1" dirty="0">
                <a:solidFill>
                  <a:schemeClr val="tx1"/>
                </a:solidFill>
              </a:rPr>
              <a:t>2 · Preprocessing</a:t>
            </a:r>
            <a:endParaRPr lang="en-US" sz="1100" dirty="0"/>
          </a:p>
        </p:txBody>
      </p:sp>
      <p:sp>
        <p:nvSpPr>
          <p:cNvPr id="9" name="Text 7"/>
          <p:cNvSpPr txBox="1"/>
          <p:nvPr/>
        </p:nvSpPr>
        <p:spPr>
          <a:xfrm>
            <a:off x="2587752" y="1325880"/>
            <a:ext cx="1591056" cy="475488"/>
          </a:xfrm>
          <a:prstGeom prst="rect">
            <a:avLst/>
          </a:prstGeom>
          <a:noFill/>
          <a:ln/>
        </p:spPr>
        <p:txBody>
          <a:bodyPr wrap="square" lIns="0" tIns="0" rIns="0" bIns="0" rtlCol="0" anchor="t"/>
          <a:lstStyle/>
          <a:p>
            <a:pPr indent="0" marL="0">
              <a:buNone/>
            </a:pPr>
            <a:r>
              <a:rPr lang="en-US" sz="950" dirty="0">
                <a:solidFill>
                  <a:schemeClr val="accent5"/>
                </a:solidFill>
              </a:rPr>
              <a:t>clean_month: taxonomy map,</a:t>
            </a:r>
            <a:endParaRPr lang="en-US" sz="950" dirty="0"/>
          </a:p>
          <a:p>
            <a:pPr indent="0" marL="0">
              <a:buNone/>
            </a:pPr>
            <a:r>
              <a:rPr lang="en-US" sz="950" dirty="0">
                <a:solidFill>
                  <a:schemeClr val="accent5"/>
                </a:solidFill>
              </a:rPr>
              <a:t>PII mask, drop leakage</a:t>
            </a:r>
            <a:endParaRPr lang="en-US" sz="950" dirty="0"/>
          </a:p>
        </p:txBody>
      </p:sp>
      <p:sp>
        <p:nvSpPr>
          <p:cNvPr id="10" name="Shape 8"/>
          <p:cNvSpPr/>
          <p:nvPr/>
        </p:nvSpPr>
        <p:spPr>
          <a:xfrm>
            <a:off x="4800600" y="1051560"/>
            <a:ext cx="2377440" cy="777240"/>
          </a:xfrm>
          <a:prstGeom prst="rect">
            <a:avLst/>
          </a:prstGeom>
          <a:solidFill>
            <a:schemeClr val="bg1"/>
          </a:solidFill>
          <a:ln w="12700">
            <a:solidFill>
              <a:srgbClr val="6B7785"/>
            </a:solidFill>
            <a:prstDash val="solid"/>
          </a:ln>
        </p:spPr>
      </p:sp>
      <p:sp>
        <p:nvSpPr>
          <p:cNvPr id="11" name="Text 9"/>
          <p:cNvSpPr txBox="1"/>
          <p:nvPr/>
        </p:nvSpPr>
        <p:spPr>
          <a:xfrm>
            <a:off x="4873752" y="1097280"/>
            <a:ext cx="2194560" cy="228600"/>
          </a:xfrm>
          <a:prstGeom prst="rect">
            <a:avLst/>
          </a:prstGeom>
          <a:noFill/>
          <a:ln/>
        </p:spPr>
        <p:txBody>
          <a:bodyPr wrap="square" lIns="0" tIns="0" rIns="0" bIns="0" rtlCol="0" anchor="t"/>
          <a:lstStyle/>
          <a:p>
            <a:pPr indent="0" marL="0">
              <a:buNone/>
            </a:pPr>
            <a:r>
              <a:rPr lang="en-US" sz="1100" b="1" dirty="0">
                <a:solidFill>
                  <a:schemeClr val="tx1"/>
                </a:solidFill>
              </a:rPr>
              <a:t>3 · Feature store</a:t>
            </a:r>
            <a:endParaRPr lang="en-US" sz="1100" dirty="0"/>
          </a:p>
        </p:txBody>
      </p:sp>
      <p:sp>
        <p:nvSpPr>
          <p:cNvPr id="12" name="Shape 10"/>
          <p:cNvSpPr/>
          <p:nvPr/>
        </p:nvSpPr>
        <p:spPr>
          <a:xfrm>
            <a:off x="4873752" y="1344168"/>
            <a:ext cx="1069848" cy="411480"/>
          </a:xfrm>
          <a:prstGeom prst="rect">
            <a:avLst/>
          </a:prstGeom>
          <a:solidFill>
            <a:srgbClr val="E4EEF3"/>
          </a:solidFill>
          <a:ln w="12700">
            <a:solidFill>
              <a:srgbClr val="2F6F8F"/>
            </a:solidFill>
            <a:prstDash val="solid"/>
          </a:ln>
        </p:spPr>
      </p:sp>
      <p:sp>
        <p:nvSpPr>
          <p:cNvPr id="13" name="Text 11"/>
          <p:cNvSpPr txBox="1"/>
          <p:nvPr/>
        </p:nvSpPr>
        <p:spPr>
          <a:xfrm>
            <a:off x="4901184" y="13533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offline</a:t>
            </a:r>
            <a:endParaRPr lang="en-US" sz="900" dirty="0"/>
          </a:p>
          <a:p>
            <a:pPr algn="ctr" indent="0" marL="0">
              <a:buNone/>
            </a:pPr>
            <a:r>
              <a:rPr lang="en-US" sz="900" dirty="0">
                <a:solidFill>
                  <a:schemeClr val="tx1"/>
                </a:solidFill>
              </a:rPr>
              <a:t>Parquet · MinIO</a:t>
            </a:r>
            <a:endParaRPr lang="en-US" sz="900" dirty="0"/>
          </a:p>
        </p:txBody>
      </p:sp>
      <p:sp>
        <p:nvSpPr>
          <p:cNvPr id="14" name="Shape 12"/>
          <p:cNvSpPr/>
          <p:nvPr/>
        </p:nvSpPr>
        <p:spPr>
          <a:xfrm>
            <a:off x="6035040" y="1344168"/>
            <a:ext cx="1069848" cy="411480"/>
          </a:xfrm>
          <a:prstGeom prst="rect">
            <a:avLst/>
          </a:prstGeom>
          <a:solidFill>
            <a:srgbClr val="E4EEF3"/>
          </a:solidFill>
          <a:ln w="12700">
            <a:solidFill>
              <a:srgbClr val="2F6F8F"/>
            </a:solidFill>
            <a:prstDash val="solid"/>
          </a:ln>
        </p:spPr>
      </p:sp>
      <p:sp>
        <p:nvSpPr>
          <p:cNvPr id="15" name="Text 13"/>
          <p:cNvSpPr txBox="1"/>
          <p:nvPr/>
        </p:nvSpPr>
        <p:spPr>
          <a:xfrm>
            <a:off x="6062472" y="13533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online</a:t>
            </a:r>
            <a:endParaRPr lang="en-US" sz="900" dirty="0"/>
          </a:p>
          <a:p>
            <a:pPr algn="ctr" indent="0" marL="0">
              <a:buNone/>
            </a:pPr>
            <a:r>
              <a:rPr lang="en-US" sz="900" dirty="0">
                <a:solidFill>
                  <a:schemeClr val="tx1"/>
                </a:solidFill>
              </a:rPr>
              <a:t>from the request</a:t>
            </a:r>
            <a:endParaRPr lang="en-US" sz="900" dirty="0"/>
          </a:p>
        </p:txBody>
      </p:sp>
      <p:sp>
        <p:nvSpPr>
          <p:cNvPr id="16" name="Shape 14"/>
          <p:cNvSpPr/>
          <p:nvPr/>
        </p:nvSpPr>
        <p:spPr>
          <a:xfrm>
            <a:off x="1965960" y="1435608"/>
            <a:ext cx="54864" cy="0"/>
          </a:xfrm>
          <a:prstGeom prst="line">
            <a:avLst/>
          </a:prstGeom>
          <a:noFill/>
          <a:ln w="15875">
            <a:solidFill>
              <a:srgbClr val="6B7785"/>
            </a:solidFill>
            <a:prstDash val="solid"/>
          </a:ln>
        </p:spPr>
      </p:sp>
      <p:sp>
        <p:nvSpPr>
          <p:cNvPr id="17" name="Shape 15"/>
          <p:cNvSpPr/>
          <p:nvPr/>
        </p:nvSpPr>
        <p:spPr>
          <a:xfrm>
            <a:off x="2459736" y="1435608"/>
            <a:ext cx="54864" cy="0"/>
          </a:xfrm>
          <a:prstGeom prst="line">
            <a:avLst/>
          </a:prstGeom>
          <a:noFill/>
          <a:ln w="15875">
            <a:solidFill>
              <a:srgbClr val="6B7785"/>
            </a:solidFill>
            <a:prstDash val="solid"/>
            <a:tailEnd type="triangle"/>
          </a:ln>
        </p:spPr>
      </p:sp>
      <p:sp>
        <p:nvSpPr>
          <p:cNvPr id="18" name="Shape 16"/>
          <p:cNvSpPr/>
          <p:nvPr/>
        </p:nvSpPr>
        <p:spPr>
          <a:xfrm>
            <a:off x="2020824" y="1216152"/>
            <a:ext cx="438912" cy="438912"/>
          </a:xfrm>
          <a:prstGeom prst="ellipse">
            <a:avLst/>
          </a:prstGeom>
          <a:solidFill>
            <a:srgbClr val="FBF0E3"/>
          </a:solidFill>
          <a:ln w="25400">
            <a:solidFill>
              <a:srgbClr val="C9741F"/>
            </a:solidFill>
            <a:prstDash val="solid"/>
          </a:ln>
        </p:spPr>
      </p:sp>
      <p:sp>
        <p:nvSpPr>
          <p:cNvPr id="19" name="Text 17"/>
          <p:cNvSpPr txBox="1"/>
          <p:nvPr/>
        </p:nvSpPr>
        <p:spPr>
          <a:xfrm>
            <a:off x="2020824" y="1216152"/>
            <a:ext cx="438912" cy="438912"/>
          </a:xfrm>
          <a:prstGeom prst="rect">
            <a:avLst/>
          </a:prstGeom>
          <a:noFill/>
          <a:ln/>
        </p:spPr>
        <p:txBody>
          <a:bodyPr wrap="square" lIns="0" tIns="0" rIns="0" bIns="0" rtlCol="0" anchor="ctr"/>
          <a:lstStyle/>
          <a:p>
            <a:pPr algn="ctr" indent="0" marL="0">
              <a:buNone/>
            </a:pPr>
            <a:r>
              <a:rPr lang="en-US" sz="900" b="1" dirty="0">
                <a:solidFill>
                  <a:schemeClr val="accent1"/>
                </a:solidFill>
              </a:rPr>
              <a:t>DVC</a:t>
            </a:r>
            <a:endParaRPr lang="en-US" sz="900" dirty="0"/>
          </a:p>
        </p:txBody>
      </p:sp>
      <p:sp>
        <p:nvSpPr>
          <p:cNvPr id="20" name="Text 18"/>
          <p:cNvSpPr txBox="1"/>
          <p:nvPr/>
        </p:nvSpPr>
        <p:spPr>
          <a:xfrm>
            <a:off x="1691640" y="850392"/>
            <a:ext cx="1097280" cy="228600"/>
          </a:xfrm>
          <a:prstGeom prst="rect">
            <a:avLst/>
          </a:prstGeom>
          <a:noFill/>
          <a:ln/>
        </p:spPr>
        <p:txBody>
          <a:bodyPr wrap="square" lIns="0" tIns="0" rIns="0" bIns="0" rtlCol="0" anchor="t"/>
          <a:lstStyle/>
          <a:p>
            <a:pPr algn="ctr" indent="0" marL="0">
              <a:buNone/>
            </a:pPr>
            <a:r>
              <a:rPr lang="en-US" sz="850" b="1" dirty="0">
                <a:solidFill>
                  <a:schemeClr val="accent1"/>
                </a:solidFill>
              </a:rPr>
              <a:t>VERSION POINT</a:t>
            </a:r>
            <a:endParaRPr lang="en-US" sz="850" dirty="0"/>
          </a:p>
        </p:txBody>
      </p:sp>
      <p:sp>
        <p:nvSpPr>
          <p:cNvPr id="21" name="Shape 19"/>
          <p:cNvSpPr/>
          <p:nvPr/>
        </p:nvSpPr>
        <p:spPr>
          <a:xfrm>
            <a:off x="4251960" y="1435608"/>
            <a:ext cx="54864" cy="0"/>
          </a:xfrm>
          <a:prstGeom prst="line">
            <a:avLst/>
          </a:prstGeom>
          <a:noFill/>
          <a:ln w="15875">
            <a:solidFill>
              <a:srgbClr val="6B7785"/>
            </a:solidFill>
            <a:prstDash val="solid"/>
          </a:ln>
        </p:spPr>
      </p:sp>
      <p:sp>
        <p:nvSpPr>
          <p:cNvPr id="22" name="Shape 20"/>
          <p:cNvSpPr/>
          <p:nvPr/>
        </p:nvSpPr>
        <p:spPr>
          <a:xfrm>
            <a:off x="4745736" y="1435608"/>
            <a:ext cx="54864" cy="0"/>
          </a:xfrm>
          <a:prstGeom prst="line">
            <a:avLst/>
          </a:prstGeom>
          <a:noFill/>
          <a:ln w="15875">
            <a:solidFill>
              <a:srgbClr val="6B7785"/>
            </a:solidFill>
            <a:prstDash val="solid"/>
            <a:tailEnd type="triangle"/>
          </a:ln>
        </p:spPr>
      </p:sp>
      <p:sp>
        <p:nvSpPr>
          <p:cNvPr id="23" name="Shape 21"/>
          <p:cNvSpPr/>
          <p:nvPr/>
        </p:nvSpPr>
        <p:spPr>
          <a:xfrm>
            <a:off x="4306824" y="1216152"/>
            <a:ext cx="438912" cy="438912"/>
          </a:xfrm>
          <a:prstGeom prst="ellipse">
            <a:avLst/>
          </a:prstGeom>
          <a:solidFill>
            <a:srgbClr val="FBF0E3"/>
          </a:solidFill>
          <a:ln w="25400">
            <a:solidFill>
              <a:srgbClr val="C9741F"/>
            </a:solidFill>
            <a:prstDash val="solid"/>
          </a:ln>
        </p:spPr>
      </p:sp>
      <p:sp>
        <p:nvSpPr>
          <p:cNvPr id="24" name="Text 22"/>
          <p:cNvSpPr txBox="1"/>
          <p:nvPr/>
        </p:nvSpPr>
        <p:spPr>
          <a:xfrm>
            <a:off x="4306824" y="1216152"/>
            <a:ext cx="438912" cy="438912"/>
          </a:xfrm>
          <a:prstGeom prst="rect">
            <a:avLst/>
          </a:prstGeom>
          <a:noFill/>
          <a:ln/>
        </p:spPr>
        <p:txBody>
          <a:bodyPr wrap="square" lIns="0" tIns="0" rIns="0" bIns="0" rtlCol="0" anchor="ctr"/>
          <a:lstStyle/>
          <a:p>
            <a:pPr algn="ctr" indent="0" marL="0">
              <a:buNone/>
            </a:pPr>
            <a:r>
              <a:rPr lang="en-US" sz="900" b="1" dirty="0">
                <a:solidFill>
                  <a:schemeClr val="accent1"/>
                </a:solidFill>
              </a:rPr>
              <a:t>QG</a:t>
            </a:r>
            <a:endParaRPr lang="en-US" sz="900" dirty="0"/>
          </a:p>
        </p:txBody>
      </p:sp>
      <p:sp>
        <p:nvSpPr>
          <p:cNvPr id="25" name="Text 23"/>
          <p:cNvSpPr txBox="1"/>
          <p:nvPr/>
        </p:nvSpPr>
        <p:spPr>
          <a:xfrm>
            <a:off x="3977640" y="850392"/>
            <a:ext cx="1097280" cy="228600"/>
          </a:xfrm>
          <a:prstGeom prst="rect">
            <a:avLst/>
          </a:prstGeom>
          <a:noFill/>
          <a:ln/>
        </p:spPr>
        <p:txBody>
          <a:bodyPr wrap="square" lIns="0" tIns="0" rIns="0" bIns="0" rtlCol="0" anchor="t"/>
          <a:lstStyle/>
          <a:p>
            <a:pPr algn="ctr" indent="0" marL="0">
              <a:buNone/>
            </a:pPr>
            <a:r>
              <a:rPr lang="en-US" sz="850" b="1" dirty="0">
                <a:solidFill>
                  <a:schemeClr val="accent1"/>
                </a:solidFill>
              </a:rPr>
              <a:t>QUALITY GATE</a:t>
            </a:r>
            <a:endParaRPr lang="en-US" sz="850" dirty="0"/>
          </a:p>
        </p:txBody>
      </p:sp>
      <p:sp>
        <p:nvSpPr>
          <p:cNvPr id="26" name="Shape 24"/>
          <p:cNvSpPr/>
          <p:nvPr/>
        </p:nvSpPr>
        <p:spPr>
          <a:xfrm>
            <a:off x="5440680" y="1920240"/>
            <a:ext cx="1097280" cy="237744"/>
          </a:xfrm>
          <a:prstGeom prst="roundRect">
            <a:avLst>
              <a:gd name="adj" fmla="val 50000"/>
            </a:avLst>
          </a:prstGeom>
          <a:solidFill>
            <a:srgbClr val="FBEDEC"/>
          </a:solidFill>
          <a:ln w="15875">
            <a:solidFill>
              <a:srgbClr val="B3261E"/>
            </a:solidFill>
            <a:prstDash val="solid"/>
          </a:ln>
        </p:spPr>
      </p:sp>
      <p:sp>
        <p:nvSpPr>
          <p:cNvPr id="27" name="Text 25"/>
          <p:cNvSpPr txBox="1"/>
          <p:nvPr/>
        </p:nvSpPr>
        <p:spPr>
          <a:xfrm>
            <a:off x="5440680" y="1920240"/>
            <a:ext cx="1097280" cy="237744"/>
          </a:xfrm>
          <a:prstGeom prst="rect">
            <a:avLst/>
          </a:prstGeom>
          <a:noFill/>
          <a:ln/>
        </p:spPr>
        <p:txBody>
          <a:bodyPr wrap="square" lIns="0" tIns="0" rIns="0" bIns="0" rtlCol="0" anchor="ctr"/>
          <a:lstStyle/>
          <a:p>
            <a:pPr algn="ctr" indent="0" marL="0">
              <a:buNone/>
            </a:pPr>
            <a:r>
              <a:rPr lang="en-US" sz="850" b="1" dirty="0">
                <a:solidFill>
                  <a:schemeClr val="accent3"/>
                </a:solidFill>
              </a:rPr>
              <a:t>TRAIN ≠ SERVE</a:t>
            </a:r>
            <a:endParaRPr lang="en-US" sz="850" dirty="0"/>
          </a:p>
        </p:txBody>
      </p:sp>
      <p:sp>
        <p:nvSpPr>
          <p:cNvPr id="28" name="Shape 26"/>
          <p:cNvSpPr/>
          <p:nvPr/>
        </p:nvSpPr>
        <p:spPr>
          <a:xfrm>
            <a:off x="365760" y="2423160"/>
            <a:ext cx="1600200" cy="777240"/>
          </a:xfrm>
          <a:prstGeom prst="rect">
            <a:avLst/>
          </a:prstGeom>
          <a:solidFill>
            <a:schemeClr val="bg1"/>
          </a:solidFill>
          <a:ln w="12700">
            <a:solidFill>
              <a:srgbClr val="6B7785"/>
            </a:solidFill>
            <a:prstDash val="solid"/>
          </a:ln>
        </p:spPr>
      </p:sp>
      <p:sp>
        <p:nvSpPr>
          <p:cNvPr id="29" name="Text 27"/>
          <p:cNvSpPr txBox="1"/>
          <p:nvPr/>
        </p:nvSpPr>
        <p:spPr>
          <a:xfrm>
            <a:off x="438912" y="2468880"/>
            <a:ext cx="1453896" cy="228600"/>
          </a:xfrm>
          <a:prstGeom prst="rect">
            <a:avLst/>
          </a:prstGeom>
          <a:noFill/>
          <a:ln/>
        </p:spPr>
        <p:txBody>
          <a:bodyPr wrap="square" lIns="0" tIns="0" rIns="0" bIns="0" rtlCol="0" anchor="t"/>
          <a:lstStyle/>
          <a:p>
            <a:pPr indent="0" marL="0">
              <a:buNone/>
            </a:pPr>
            <a:r>
              <a:rPr lang="en-US" sz="1100" b="1" dirty="0">
                <a:solidFill>
                  <a:schemeClr val="tx1"/>
                </a:solidFill>
              </a:rPr>
              <a:t>4 · Training</a:t>
            </a:r>
            <a:endParaRPr lang="en-US" sz="1100" dirty="0"/>
          </a:p>
        </p:txBody>
      </p:sp>
      <p:sp>
        <p:nvSpPr>
          <p:cNvPr id="30" name="Text 28"/>
          <p:cNvSpPr txBox="1"/>
          <p:nvPr/>
        </p:nvSpPr>
        <p:spPr>
          <a:xfrm>
            <a:off x="438912" y="2697480"/>
            <a:ext cx="1453896" cy="475488"/>
          </a:xfrm>
          <a:prstGeom prst="rect">
            <a:avLst/>
          </a:prstGeom>
          <a:noFill/>
          <a:ln/>
        </p:spPr>
        <p:txBody>
          <a:bodyPr wrap="square" lIns="0" tIns="0" rIns="0" bIns="0" rtlCol="0" anchor="t"/>
          <a:lstStyle/>
          <a:p>
            <a:pPr indent="0" marL="0">
              <a:buNone/>
            </a:pPr>
            <a:r>
              <a:rPr lang="en-US" sz="950" dirty="0">
                <a:solidFill>
                  <a:schemeClr val="accent5"/>
                </a:solidFill>
              </a:rPr>
              <a:t>train_eval: TF-IDF + LR</a:t>
            </a:r>
            <a:endParaRPr lang="en-US" sz="950" dirty="0"/>
          </a:p>
          <a:p>
            <a:pPr indent="0" marL="0">
              <a:buNone/>
            </a:pPr>
            <a:r>
              <a:rPr lang="en-US" sz="950" dirty="0">
                <a:solidFill>
                  <a:schemeClr val="accent5"/>
                </a:solidFill>
              </a:rPr>
              <a:t>time split · MLflow</a:t>
            </a:r>
            <a:endParaRPr lang="en-US" sz="950" dirty="0"/>
          </a:p>
        </p:txBody>
      </p:sp>
      <p:sp>
        <p:nvSpPr>
          <p:cNvPr id="31" name="Shape 29"/>
          <p:cNvSpPr/>
          <p:nvPr/>
        </p:nvSpPr>
        <p:spPr>
          <a:xfrm>
            <a:off x="2514600" y="2423160"/>
            <a:ext cx="1737360" cy="777240"/>
          </a:xfrm>
          <a:prstGeom prst="rect">
            <a:avLst/>
          </a:prstGeom>
          <a:solidFill>
            <a:schemeClr val="bg1"/>
          </a:solidFill>
          <a:ln w="12700">
            <a:solidFill>
              <a:srgbClr val="6B7785"/>
            </a:solidFill>
            <a:prstDash val="solid"/>
          </a:ln>
        </p:spPr>
      </p:sp>
      <p:sp>
        <p:nvSpPr>
          <p:cNvPr id="32" name="Text 30"/>
          <p:cNvSpPr txBox="1"/>
          <p:nvPr/>
        </p:nvSpPr>
        <p:spPr>
          <a:xfrm>
            <a:off x="2587752" y="2468880"/>
            <a:ext cx="1591056" cy="228600"/>
          </a:xfrm>
          <a:prstGeom prst="rect">
            <a:avLst/>
          </a:prstGeom>
          <a:noFill/>
          <a:ln/>
        </p:spPr>
        <p:txBody>
          <a:bodyPr wrap="square" lIns="0" tIns="0" rIns="0" bIns="0" rtlCol="0" anchor="t"/>
          <a:lstStyle/>
          <a:p>
            <a:pPr indent="0" marL="0">
              <a:buNone/>
            </a:pPr>
            <a:r>
              <a:rPr lang="en-US" sz="1100" b="1" dirty="0">
                <a:solidFill>
                  <a:schemeClr val="tx1"/>
                </a:solidFill>
              </a:rPr>
              <a:t>5 · Registry</a:t>
            </a:r>
            <a:endParaRPr lang="en-US" sz="1100" dirty="0"/>
          </a:p>
        </p:txBody>
      </p:sp>
      <p:sp>
        <p:nvSpPr>
          <p:cNvPr id="33" name="Text 31"/>
          <p:cNvSpPr txBox="1"/>
          <p:nvPr/>
        </p:nvSpPr>
        <p:spPr>
          <a:xfrm>
            <a:off x="2587752" y="2697480"/>
            <a:ext cx="1591056" cy="475488"/>
          </a:xfrm>
          <a:prstGeom prst="rect">
            <a:avLst/>
          </a:prstGeom>
          <a:noFill/>
          <a:ln/>
        </p:spPr>
        <p:txBody>
          <a:bodyPr wrap="square" lIns="0" tIns="0" rIns="0" bIns="0" rtlCol="0" anchor="t"/>
          <a:lstStyle/>
          <a:p>
            <a:pPr indent="0" marL="0">
              <a:buNone/>
            </a:pPr>
            <a:r>
              <a:rPr lang="en-US" sz="950" dirty="0">
                <a:solidFill>
                  <a:schemeClr val="accent5"/>
                </a:solidFill>
              </a:rPr>
              <a:t>MLflow · @challenger ←</a:t>
            </a:r>
            <a:endParaRPr lang="en-US" sz="950" dirty="0"/>
          </a:p>
          <a:p>
            <a:pPr indent="0" marL="0">
              <a:buNone/>
            </a:pPr>
            <a:r>
              <a:rPr lang="en-US" sz="950" dirty="0">
                <a:solidFill>
                  <a:schemeClr val="accent5"/>
                </a:solidFill>
              </a:rPr>
              <a:t>pipeline, @champion ← human</a:t>
            </a:r>
            <a:endParaRPr lang="en-US" sz="950" dirty="0"/>
          </a:p>
        </p:txBody>
      </p:sp>
      <p:sp>
        <p:nvSpPr>
          <p:cNvPr id="34" name="Shape 32"/>
          <p:cNvSpPr/>
          <p:nvPr/>
        </p:nvSpPr>
        <p:spPr>
          <a:xfrm>
            <a:off x="4800600" y="2423160"/>
            <a:ext cx="2377440" cy="777240"/>
          </a:xfrm>
          <a:prstGeom prst="rect">
            <a:avLst/>
          </a:prstGeom>
          <a:solidFill>
            <a:schemeClr val="bg1"/>
          </a:solidFill>
          <a:ln w="12700">
            <a:solidFill>
              <a:srgbClr val="6B7785"/>
            </a:solidFill>
            <a:prstDash val="solid"/>
          </a:ln>
        </p:spPr>
      </p:sp>
      <p:sp>
        <p:nvSpPr>
          <p:cNvPr id="35" name="Text 33"/>
          <p:cNvSpPr txBox="1"/>
          <p:nvPr/>
        </p:nvSpPr>
        <p:spPr>
          <a:xfrm>
            <a:off x="4873752" y="2468880"/>
            <a:ext cx="2194560" cy="228600"/>
          </a:xfrm>
          <a:prstGeom prst="rect">
            <a:avLst/>
          </a:prstGeom>
          <a:noFill/>
          <a:ln/>
        </p:spPr>
        <p:txBody>
          <a:bodyPr wrap="square" lIns="0" tIns="0" rIns="0" bIns="0" rtlCol="0" anchor="t"/>
          <a:lstStyle/>
          <a:p>
            <a:pPr indent="0" marL="0">
              <a:buNone/>
            </a:pPr>
            <a:r>
              <a:rPr lang="en-US" sz="1100" b="1" dirty="0">
                <a:solidFill>
                  <a:schemeClr val="tx1"/>
                </a:solidFill>
              </a:rPr>
              <a:t>6 · Inference</a:t>
            </a:r>
            <a:endParaRPr lang="en-US" sz="1100" dirty="0"/>
          </a:p>
        </p:txBody>
      </p:sp>
      <p:sp>
        <p:nvSpPr>
          <p:cNvPr id="36" name="Shape 34"/>
          <p:cNvSpPr/>
          <p:nvPr/>
        </p:nvSpPr>
        <p:spPr>
          <a:xfrm>
            <a:off x="4873752" y="2715768"/>
            <a:ext cx="1069848" cy="411480"/>
          </a:xfrm>
          <a:prstGeom prst="rect">
            <a:avLst/>
          </a:prstGeom>
          <a:solidFill>
            <a:srgbClr val="E4EEF3"/>
          </a:solidFill>
          <a:ln w="12700">
            <a:solidFill>
              <a:srgbClr val="2F6F8F"/>
            </a:solidFill>
            <a:prstDash val="solid"/>
          </a:ln>
        </p:spPr>
      </p:sp>
      <p:sp>
        <p:nvSpPr>
          <p:cNvPr id="37" name="Text 35"/>
          <p:cNvSpPr txBox="1"/>
          <p:nvPr/>
        </p:nvSpPr>
        <p:spPr>
          <a:xfrm>
            <a:off x="4901184" y="2724912"/>
            <a:ext cx="1014984" cy="393192"/>
          </a:xfrm>
          <a:prstGeom prst="rect">
            <a:avLst/>
          </a:prstGeom>
          <a:noFill/>
          <a:ln/>
        </p:spPr>
        <p:txBody>
          <a:bodyPr wrap="square" lIns="0" tIns="0" rIns="0" bIns="0" rtlCol="0" anchor="ctr"/>
          <a:lstStyle/>
          <a:p>
            <a:pPr algn="ctr" indent="0" marL="0">
              <a:buNone/>
            </a:pPr>
            <a:r>
              <a:rPr lang="en-US" sz="900" dirty="0">
                <a:solidFill>
                  <a:schemeClr val="tx1"/>
                </a:solidFill>
              </a:rPr>
              <a:t>batch</a:t>
            </a:r>
            <a:endParaRPr lang="en-US" sz="900" dirty="0"/>
          </a:p>
          <a:p>
            <a:pPr algn="ctr" indent="0" marL="0">
              <a:buNone/>
            </a:pPr>
            <a:r>
              <a:rPr lang="en-US" sz="900" dirty="0">
                <a:solidFill>
                  <a:schemeClr val="tx1"/>
                </a:solidFill>
              </a:rPr>
              <a:t>nightly rescoring</a:t>
            </a:r>
            <a:endParaRPr lang="en-US" sz="900" dirty="0"/>
          </a:p>
        </p:txBody>
      </p:sp>
      <p:sp>
        <p:nvSpPr>
          <p:cNvPr id="38" name="Shape 36"/>
          <p:cNvSpPr/>
          <p:nvPr/>
        </p:nvSpPr>
        <p:spPr>
          <a:xfrm>
            <a:off x="6035040" y="2715768"/>
            <a:ext cx="1069848" cy="411480"/>
          </a:xfrm>
          <a:prstGeom prst="rect">
            <a:avLst/>
          </a:prstGeom>
          <a:solidFill>
            <a:schemeClr val="accent2"/>
          </a:solidFill>
          <a:ln w="12700">
            <a:solidFill>
              <a:srgbClr val="2F6F8F"/>
            </a:solidFill>
            <a:prstDash val="solid"/>
          </a:ln>
        </p:spPr>
      </p:sp>
      <p:sp>
        <p:nvSpPr>
          <p:cNvPr id="39" name="Text 37"/>
          <p:cNvSpPr txBox="1"/>
          <p:nvPr/>
        </p:nvSpPr>
        <p:spPr>
          <a:xfrm>
            <a:off x="6062472" y="2724912"/>
            <a:ext cx="1014984" cy="393192"/>
          </a:xfrm>
          <a:prstGeom prst="rect">
            <a:avLst/>
          </a:prstGeom>
          <a:noFill/>
          <a:ln/>
        </p:spPr>
        <p:txBody>
          <a:bodyPr wrap="square" lIns="0" tIns="0" rIns="0" bIns="0" rtlCol="0" anchor="ctr"/>
          <a:lstStyle/>
          <a:p>
            <a:pPr algn="ctr" indent="0" marL="0">
              <a:buNone/>
            </a:pPr>
            <a:r>
              <a:rPr lang="en-US" sz="900" dirty="0">
                <a:solidFill>
                  <a:schemeClr val="bg1"/>
                </a:solidFill>
              </a:rPr>
              <a:t>real-time</a:t>
            </a:r>
            <a:endParaRPr lang="en-US" sz="900" dirty="0"/>
          </a:p>
          <a:p>
            <a:pPr algn="ctr" indent="0" marL="0">
              <a:buNone/>
            </a:pPr>
            <a:r>
              <a:rPr lang="en-US" sz="900" dirty="0">
                <a:solidFill>
                  <a:schemeClr val="bg1"/>
                </a:solidFill>
              </a:rPr>
              <a:t>FastAPI /predict</a:t>
            </a:r>
            <a:endParaRPr lang="en-US" sz="900" dirty="0"/>
          </a:p>
        </p:txBody>
      </p:sp>
      <p:sp>
        <p:nvSpPr>
          <p:cNvPr id="40" name="Shape 38"/>
          <p:cNvSpPr/>
          <p:nvPr/>
        </p:nvSpPr>
        <p:spPr>
          <a:xfrm>
            <a:off x="7680960" y="2423160"/>
            <a:ext cx="1097280" cy="777240"/>
          </a:xfrm>
          <a:prstGeom prst="rect">
            <a:avLst/>
          </a:prstGeom>
          <a:solidFill>
            <a:schemeClr val="bg1"/>
          </a:solidFill>
          <a:ln w="12700">
            <a:solidFill>
              <a:srgbClr val="6B7785"/>
            </a:solidFill>
            <a:prstDash val="solid"/>
          </a:ln>
        </p:spPr>
      </p:sp>
      <p:sp>
        <p:nvSpPr>
          <p:cNvPr id="41" name="Text 39"/>
          <p:cNvSpPr txBox="1"/>
          <p:nvPr/>
        </p:nvSpPr>
        <p:spPr>
          <a:xfrm>
            <a:off x="7754112" y="2468880"/>
            <a:ext cx="950976" cy="228600"/>
          </a:xfrm>
          <a:prstGeom prst="rect">
            <a:avLst/>
          </a:prstGeom>
          <a:noFill/>
          <a:ln/>
        </p:spPr>
        <p:txBody>
          <a:bodyPr wrap="square" lIns="0" tIns="0" rIns="0" bIns="0" rtlCol="0" anchor="t"/>
          <a:lstStyle/>
          <a:p>
            <a:pPr indent="0" marL="0">
              <a:buNone/>
            </a:pPr>
            <a:r>
              <a:rPr lang="en-US" sz="1100" b="1" dirty="0">
                <a:solidFill>
                  <a:schemeClr val="tx1"/>
                </a:solidFill>
              </a:rPr>
              <a:t>Triage desk</a:t>
            </a:r>
            <a:endParaRPr lang="en-US" sz="1100" dirty="0"/>
          </a:p>
        </p:txBody>
      </p:sp>
      <p:sp>
        <p:nvSpPr>
          <p:cNvPr id="42" name="Text 40"/>
          <p:cNvSpPr txBox="1"/>
          <p:nvPr/>
        </p:nvSpPr>
        <p:spPr>
          <a:xfrm>
            <a:off x="7754112" y="2697480"/>
            <a:ext cx="950976" cy="475488"/>
          </a:xfrm>
          <a:prstGeom prst="rect">
            <a:avLst/>
          </a:prstGeom>
          <a:noFill/>
          <a:ln/>
        </p:spPr>
        <p:txBody>
          <a:bodyPr wrap="square" lIns="0" tIns="0" rIns="0" bIns="0" rtlCol="0" anchor="t"/>
          <a:lstStyle/>
          <a:p>
            <a:pPr indent="0" marL="0">
              <a:buNone/>
            </a:pPr>
            <a:r>
              <a:rPr lang="en-US" sz="950" dirty="0">
                <a:solidFill>
                  <a:schemeClr val="accent5"/>
                </a:solidFill>
              </a:rPr>
              <a:t>auto / manual</a:t>
            </a:r>
            <a:endParaRPr lang="en-US" sz="950" dirty="0"/>
          </a:p>
          <a:p>
            <a:pPr indent="0" marL="0">
              <a:buNone/>
            </a:pPr>
            <a:r>
              <a:rPr lang="en-US" sz="950" dirty="0">
                <a:solidFill>
                  <a:schemeClr val="accent5"/>
                </a:solidFill>
              </a:rPr>
              <a:t>queues</a:t>
            </a:r>
            <a:endParaRPr lang="en-US" sz="950" dirty="0"/>
          </a:p>
        </p:txBody>
      </p:sp>
      <p:sp>
        <p:nvSpPr>
          <p:cNvPr id="43" name="Shape 41"/>
          <p:cNvSpPr/>
          <p:nvPr/>
        </p:nvSpPr>
        <p:spPr>
          <a:xfrm>
            <a:off x="2514600" y="3657600"/>
            <a:ext cx="4663440" cy="777240"/>
          </a:xfrm>
          <a:prstGeom prst="rect">
            <a:avLst/>
          </a:prstGeom>
          <a:solidFill>
            <a:schemeClr val="bg1"/>
          </a:solidFill>
          <a:ln w="12700">
            <a:solidFill>
              <a:srgbClr val="6B7785"/>
            </a:solidFill>
            <a:prstDash val="solid"/>
          </a:ln>
        </p:spPr>
      </p:sp>
      <p:sp>
        <p:nvSpPr>
          <p:cNvPr id="44" name="Text 42"/>
          <p:cNvSpPr txBox="1"/>
          <p:nvPr/>
        </p:nvSpPr>
        <p:spPr>
          <a:xfrm>
            <a:off x="2587752" y="3703320"/>
            <a:ext cx="4517136" cy="228600"/>
          </a:xfrm>
          <a:prstGeom prst="rect">
            <a:avLst/>
          </a:prstGeom>
          <a:noFill/>
          <a:ln/>
        </p:spPr>
        <p:txBody>
          <a:bodyPr wrap="square" lIns="0" tIns="0" rIns="0" bIns="0" rtlCol="0" anchor="t"/>
          <a:lstStyle/>
          <a:p>
            <a:pPr indent="0" marL="0">
              <a:buNone/>
            </a:pPr>
            <a:r>
              <a:rPr lang="en-US" sz="1100" b="1" dirty="0">
                <a:solidFill>
                  <a:schemeClr val="tx1"/>
                </a:solidFill>
              </a:rPr>
              <a:t>7 · Monitoring and retraining loop</a:t>
            </a:r>
            <a:endParaRPr lang="en-US" sz="1100" dirty="0"/>
          </a:p>
        </p:txBody>
      </p:sp>
      <p:sp>
        <p:nvSpPr>
          <p:cNvPr id="45" name="Text 43"/>
          <p:cNvSpPr txBox="1"/>
          <p:nvPr/>
        </p:nvSpPr>
        <p:spPr>
          <a:xfrm>
            <a:off x="2587752" y="3931920"/>
            <a:ext cx="4517136" cy="475488"/>
          </a:xfrm>
          <a:prstGeom prst="rect">
            <a:avLst/>
          </a:prstGeom>
          <a:noFill/>
          <a:ln/>
        </p:spPr>
        <p:txBody>
          <a:bodyPr wrap="square" lIns="0" tIns="0" rIns="0" bIns="0" rtlCol="0" anchor="t"/>
          <a:lstStyle/>
          <a:p>
            <a:pPr indent="0" marL="0">
              <a:buNone/>
            </a:pPr>
            <a:r>
              <a:rPr lang="en-US" sz="950" dirty="0">
                <a:solidFill>
                  <a:schemeClr val="accent5"/>
                </a:solidFill>
              </a:rPr>
              <a:t>Evidently daily: input, prediction and confidence drift · macro-F1 weekly once labels arrive (+15 d)</a:t>
            </a:r>
            <a:endParaRPr lang="en-US" sz="950" dirty="0"/>
          </a:p>
          <a:p>
            <a:pPr indent="0" marL="0">
              <a:buNone/>
            </a:pPr>
            <a:r>
              <a:rPr lang="en-US" sz="950" dirty="0">
                <a:solidFill>
                  <a:schemeClr val="accent5"/>
                </a:solidFill>
              </a:rPr>
              <a:t>Prometheus + Grafana: latency, errors → alert ML on-call → may trigger train_eval</a:t>
            </a:r>
            <a:endParaRPr lang="en-US" sz="950" dirty="0"/>
          </a:p>
        </p:txBody>
      </p:sp>
      <p:sp>
        <p:nvSpPr>
          <p:cNvPr id="46" name="Shape 44"/>
          <p:cNvSpPr/>
          <p:nvPr/>
        </p:nvSpPr>
        <p:spPr>
          <a:xfrm>
            <a:off x="7680960" y="3657600"/>
            <a:ext cx="1097280" cy="777240"/>
          </a:xfrm>
          <a:prstGeom prst="rect">
            <a:avLst/>
          </a:prstGeom>
          <a:solidFill>
            <a:schemeClr val="bg1"/>
          </a:solidFill>
          <a:ln w="12700">
            <a:solidFill>
              <a:srgbClr val="6B7785"/>
            </a:solidFill>
            <a:prstDash val="solid"/>
          </a:ln>
        </p:spPr>
      </p:sp>
      <p:sp>
        <p:nvSpPr>
          <p:cNvPr id="47" name="Text 45"/>
          <p:cNvSpPr txBox="1"/>
          <p:nvPr/>
        </p:nvSpPr>
        <p:spPr>
          <a:xfrm>
            <a:off x="7754112" y="3703320"/>
            <a:ext cx="950976" cy="228600"/>
          </a:xfrm>
          <a:prstGeom prst="rect">
            <a:avLst/>
          </a:prstGeom>
          <a:noFill/>
          <a:ln/>
        </p:spPr>
        <p:txBody>
          <a:bodyPr wrap="square" lIns="0" tIns="0" rIns="0" bIns="0" rtlCol="0" anchor="t"/>
          <a:lstStyle/>
          <a:p>
            <a:pPr indent="0" marL="0">
              <a:buNone/>
            </a:pPr>
            <a:r>
              <a:rPr lang="en-US" sz="1100" b="1" dirty="0">
                <a:solidFill>
                  <a:schemeClr val="tx1"/>
                </a:solidFill>
              </a:rPr>
              <a:t>Labels</a:t>
            </a:r>
            <a:endParaRPr lang="en-US" sz="1100" dirty="0"/>
          </a:p>
        </p:txBody>
      </p:sp>
      <p:sp>
        <p:nvSpPr>
          <p:cNvPr id="48" name="Text 46"/>
          <p:cNvSpPr txBox="1"/>
          <p:nvPr/>
        </p:nvSpPr>
        <p:spPr>
          <a:xfrm>
            <a:off x="7754112" y="3931920"/>
            <a:ext cx="950976" cy="475488"/>
          </a:xfrm>
          <a:prstGeom prst="rect">
            <a:avLst/>
          </a:prstGeom>
          <a:noFill/>
          <a:ln/>
        </p:spPr>
        <p:txBody>
          <a:bodyPr wrap="square" lIns="0" tIns="0" rIns="0" bIns="0" rtlCol="0" anchor="t"/>
          <a:lstStyle/>
          <a:p>
            <a:pPr indent="0" marL="0">
              <a:buNone/>
            </a:pPr>
            <a:r>
              <a:rPr lang="en-US" sz="950" dirty="0">
                <a:solidFill>
                  <a:schemeClr val="accent5"/>
                </a:solidFill>
              </a:rPr>
              <a:t>CFPB +15 days</a:t>
            </a:r>
            <a:endParaRPr lang="en-US" sz="950" dirty="0"/>
          </a:p>
          <a:p>
            <a:pPr indent="0" marL="0">
              <a:buNone/>
            </a:pPr>
            <a:r>
              <a:rPr lang="en-US" sz="950" dirty="0">
                <a:solidFill>
                  <a:schemeClr val="accent5"/>
                </a:solidFill>
              </a:rPr>
              <a:t>+ overrides</a:t>
            </a:r>
            <a:endParaRPr lang="en-US" sz="950" dirty="0"/>
          </a:p>
        </p:txBody>
      </p:sp>
      <p:sp>
        <p:nvSpPr>
          <p:cNvPr id="49" name="Shape 47"/>
          <p:cNvSpPr/>
          <p:nvPr/>
        </p:nvSpPr>
        <p:spPr>
          <a:xfrm>
            <a:off x="5413248" y="1755648"/>
            <a:ext cx="0" cy="347472"/>
          </a:xfrm>
          <a:prstGeom prst="line">
            <a:avLst/>
          </a:prstGeom>
          <a:noFill/>
          <a:ln w="15875">
            <a:solidFill>
              <a:srgbClr val="2F6F8F"/>
            </a:solidFill>
            <a:prstDash val="solid"/>
          </a:ln>
        </p:spPr>
      </p:sp>
      <p:sp>
        <p:nvSpPr>
          <p:cNvPr id="50" name="Shape 48"/>
          <p:cNvSpPr/>
          <p:nvPr/>
        </p:nvSpPr>
        <p:spPr>
          <a:xfrm flipH="1">
            <a:off x="1161288" y="2103120"/>
            <a:ext cx="4251960" cy="0"/>
          </a:xfrm>
          <a:prstGeom prst="line">
            <a:avLst/>
          </a:prstGeom>
          <a:noFill/>
          <a:ln w="15875">
            <a:solidFill>
              <a:srgbClr val="2F6F8F"/>
            </a:solidFill>
            <a:prstDash val="solid"/>
          </a:ln>
        </p:spPr>
      </p:sp>
      <p:sp>
        <p:nvSpPr>
          <p:cNvPr id="51" name="Shape 49"/>
          <p:cNvSpPr/>
          <p:nvPr/>
        </p:nvSpPr>
        <p:spPr>
          <a:xfrm>
            <a:off x="1161288" y="2103120"/>
            <a:ext cx="0" cy="320040"/>
          </a:xfrm>
          <a:prstGeom prst="line">
            <a:avLst/>
          </a:prstGeom>
          <a:noFill/>
          <a:ln w="15875">
            <a:solidFill>
              <a:srgbClr val="2F6F8F"/>
            </a:solidFill>
            <a:prstDash val="solid"/>
            <a:tailEnd type="triangle"/>
          </a:ln>
        </p:spPr>
      </p:sp>
      <p:sp>
        <p:nvSpPr>
          <p:cNvPr id="52" name="Text 50"/>
          <p:cNvSpPr txBox="1"/>
          <p:nvPr/>
        </p:nvSpPr>
        <p:spPr>
          <a:xfrm>
            <a:off x="2377440" y="2130552"/>
            <a:ext cx="1463040" cy="182880"/>
          </a:xfrm>
          <a:prstGeom prst="rect">
            <a:avLst/>
          </a:prstGeom>
          <a:noFill/>
          <a:ln/>
        </p:spPr>
        <p:txBody>
          <a:bodyPr wrap="square" lIns="0" tIns="0" rIns="0" bIns="0" rtlCol="0" anchor="t"/>
          <a:lstStyle/>
          <a:p>
            <a:pPr indent="0" marL="0">
              <a:buNone/>
            </a:pPr>
            <a:r>
              <a:rPr lang="en-US" sz="850" dirty="0">
                <a:solidFill>
                  <a:schemeClr val="accent2"/>
                </a:solidFill>
              </a:rPr>
              <a:t>training path (offline)</a:t>
            </a:r>
            <a:endParaRPr lang="en-US" sz="850" dirty="0"/>
          </a:p>
        </p:txBody>
      </p:sp>
      <p:sp>
        <p:nvSpPr>
          <p:cNvPr id="53" name="Shape 51"/>
          <p:cNvSpPr/>
          <p:nvPr/>
        </p:nvSpPr>
        <p:spPr>
          <a:xfrm>
            <a:off x="6565392" y="1755648"/>
            <a:ext cx="0" cy="960120"/>
          </a:xfrm>
          <a:prstGeom prst="line">
            <a:avLst/>
          </a:prstGeom>
          <a:noFill/>
          <a:ln w="15875">
            <a:solidFill>
              <a:srgbClr val="2F6F8F"/>
            </a:solidFill>
            <a:prstDash val="solid"/>
            <a:tailEnd type="triangle"/>
          </a:ln>
        </p:spPr>
      </p:sp>
      <p:sp>
        <p:nvSpPr>
          <p:cNvPr id="54" name="Text 52"/>
          <p:cNvSpPr txBox="1"/>
          <p:nvPr/>
        </p:nvSpPr>
        <p:spPr>
          <a:xfrm>
            <a:off x="6629400" y="2194560"/>
            <a:ext cx="868680" cy="182880"/>
          </a:xfrm>
          <a:prstGeom prst="rect">
            <a:avLst/>
          </a:prstGeom>
          <a:noFill/>
          <a:ln/>
        </p:spPr>
        <p:txBody>
          <a:bodyPr wrap="square" lIns="0" tIns="0" rIns="0" bIns="0" rtlCol="0" anchor="t"/>
          <a:lstStyle/>
          <a:p>
            <a:pPr indent="0" marL="0">
              <a:buNone/>
            </a:pPr>
            <a:r>
              <a:rPr lang="en-US" sz="850" dirty="0">
                <a:solidFill>
                  <a:schemeClr val="accent2"/>
                </a:solidFill>
              </a:rPr>
              <a:t>serving path</a:t>
            </a:r>
            <a:endParaRPr lang="en-US" sz="850" dirty="0"/>
          </a:p>
        </p:txBody>
      </p:sp>
      <p:sp>
        <p:nvSpPr>
          <p:cNvPr id="55" name="Shape 53"/>
          <p:cNvSpPr/>
          <p:nvPr/>
        </p:nvSpPr>
        <p:spPr>
          <a:xfrm>
            <a:off x="1965960" y="2807208"/>
            <a:ext cx="548640" cy="0"/>
          </a:xfrm>
          <a:prstGeom prst="line">
            <a:avLst/>
          </a:prstGeom>
          <a:noFill/>
          <a:ln w="15875">
            <a:solidFill>
              <a:srgbClr val="6B7785"/>
            </a:solidFill>
            <a:prstDash val="solid"/>
            <a:tailEnd type="triangle"/>
          </a:ln>
        </p:spPr>
      </p:sp>
      <p:sp>
        <p:nvSpPr>
          <p:cNvPr id="56" name="Shape 54"/>
          <p:cNvSpPr/>
          <p:nvPr/>
        </p:nvSpPr>
        <p:spPr>
          <a:xfrm>
            <a:off x="4251960" y="2807208"/>
            <a:ext cx="548640" cy="0"/>
          </a:xfrm>
          <a:prstGeom prst="line">
            <a:avLst/>
          </a:prstGeom>
          <a:noFill/>
          <a:ln w="15875">
            <a:solidFill>
              <a:srgbClr val="6B7785"/>
            </a:solidFill>
            <a:prstDash val="solid"/>
            <a:tailEnd type="triangle"/>
          </a:ln>
        </p:spPr>
      </p:sp>
      <p:sp>
        <p:nvSpPr>
          <p:cNvPr id="57" name="Text 55"/>
          <p:cNvSpPr txBox="1"/>
          <p:nvPr/>
        </p:nvSpPr>
        <p:spPr>
          <a:xfrm>
            <a:off x="4261104" y="2852928"/>
            <a:ext cx="548640" cy="182880"/>
          </a:xfrm>
          <a:prstGeom prst="rect">
            <a:avLst/>
          </a:prstGeom>
          <a:noFill/>
          <a:ln/>
        </p:spPr>
        <p:txBody>
          <a:bodyPr wrap="square" lIns="0" tIns="0" rIns="0" bIns="0" rtlCol="0" anchor="t"/>
          <a:lstStyle/>
          <a:p>
            <a:pPr indent="0" marL="0">
              <a:buNone/>
            </a:pPr>
            <a:r>
              <a:rPr lang="en-US" sz="800" dirty="0">
                <a:solidFill>
                  <a:schemeClr val="accent5"/>
                </a:solidFill>
              </a:rPr>
              <a:t>@champion</a:t>
            </a:r>
            <a:endParaRPr lang="en-US" sz="800" dirty="0"/>
          </a:p>
        </p:txBody>
      </p:sp>
      <p:sp>
        <p:nvSpPr>
          <p:cNvPr id="58" name="Shape 56"/>
          <p:cNvSpPr/>
          <p:nvPr/>
        </p:nvSpPr>
        <p:spPr>
          <a:xfrm>
            <a:off x="7178040" y="2807208"/>
            <a:ext cx="502920" cy="0"/>
          </a:xfrm>
          <a:prstGeom prst="line">
            <a:avLst/>
          </a:prstGeom>
          <a:noFill/>
          <a:ln w="15875">
            <a:solidFill>
              <a:srgbClr val="6B7785"/>
            </a:solidFill>
            <a:prstDash val="solid"/>
            <a:tailEnd type="triangle"/>
          </a:ln>
        </p:spPr>
      </p:sp>
      <p:sp>
        <p:nvSpPr>
          <p:cNvPr id="59" name="Shape 57"/>
          <p:cNvSpPr/>
          <p:nvPr/>
        </p:nvSpPr>
        <p:spPr>
          <a:xfrm>
            <a:off x="5989320" y="3200400"/>
            <a:ext cx="0" cy="457200"/>
          </a:xfrm>
          <a:prstGeom prst="line">
            <a:avLst/>
          </a:prstGeom>
          <a:noFill/>
          <a:ln w="15875">
            <a:solidFill>
              <a:srgbClr val="6B7785"/>
            </a:solidFill>
            <a:prstDash val="solid"/>
            <a:tailEnd type="triangle"/>
          </a:ln>
        </p:spPr>
      </p:sp>
      <p:sp>
        <p:nvSpPr>
          <p:cNvPr id="60" name="Text 58"/>
          <p:cNvSpPr txBox="1"/>
          <p:nvPr/>
        </p:nvSpPr>
        <p:spPr>
          <a:xfrm>
            <a:off x="6053328" y="3310128"/>
            <a:ext cx="914400" cy="182880"/>
          </a:xfrm>
          <a:prstGeom prst="rect">
            <a:avLst/>
          </a:prstGeom>
          <a:noFill/>
          <a:ln/>
        </p:spPr>
        <p:txBody>
          <a:bodyPr wrap="square" lIns="0" tIns="0" rIns="0" bIns="0" rtlCol="0" anchor="t"/>
          <a:lstStyle/>
          <a:p>
            <a:pPr indent="0" marL="0">
              <a:buNone/>
            </a:pPr>
            <a:r>
              <a:rPr lang="en-US" sz="850" dirty="0">
                <a:solidFill>
                  <a:schemeClr val="accent5"/>
                </a:solidFill>
              </a:rPr>
              <a:t>predictions log</a:t>
            </a:r>
            <a:endParaRPr lang="en-US" sz="850" dirty="0"/>
          </a:p>
        </p:txBody>
      </p:sp>
      <p:sp>
        <p:nvSpPr>
          <p:cNvPr id="61" name="Shape 59"/>
          <p:cNvSpPr/>
          <p:nvPr/>
        </p:nvSpPr>
        <p:spPr>
          <a:xfrm flipH="1">
            <a:off x="7178040" y="4041648"/>
            <a:ext cx="502920" cy="0"/>
          </a:xfrm>
          <a:prstGeom prst="line">
            <a:avLst/>
          </a:prstGeom>
          <a:noFill/>
          <a:ln w="15875">
            <a:solidFill>
              <a:srgbClr val="6B7785"/>
            </a:solidFill>
            <a:prstDash val="solid"/>
            <a:tailEnd type="triangle"/>
          </a:ln>
        </p:spPr>
      </p:sp>
      <p:sp>
        <p:nvSpPr>
          <p:cNvPr id="62" name="Shape 60"/>
          <p:cNvSpPr/>
          <p:nvPr/>
        </p:nvSpPr>
        <p:spPr>
          <a:xfrm flipH="1">
            <a:off x="1161288" y="4041648"/>
            <a:ext cx="1353312" cy="0"/>
          </a:xfrm>
          <a:prstGeom prst="line">
            <a:avLst/>
          </a:prstGeom>
          <a:noFill/>
          <a:ln w="15875">
            <a:solidFill>
              <a:srgbClr val="C9741F"/>
            </a:solidFill>
            <a:prstDash val="solid"/>
          </a:ln>
        </p:spPr>
      </p:sp>
      <p:sp>
        <p:nvSpPr>
          <p:cNvPr id="63" name="Shape 61"/>
          <p:cNvSpPr/>
          <p:nvPr/>
        </p:nvSpPr>
        <p:spPr>
          <a:xfrm flipV="1">
            <a:off x="1161288" y="3200400"/>
            <a:ext cx="0" cy="841248"/>
          </a:xfrm>
          <a:prstGeom prst="line">
            <a:avLst/>
          </a:prstGeom>
          <a:noFill/>
          <a:ln w="15875">
            <a:solidFill>
              <a:srgbClr val="C9741F"/>
            </a:solidFill>
            <a:prstDash val="solid"/>
            <a:tailEnd type="triangle"/>
          </a:ln>
        </p:spPr>
      </p:sp>
      <p:sp>
        <p:nvSpPr>
          <p:cNvPr id="64" name="Text 62"/>
          <p:cNvSpPr txBox="1"/>
          <p:nvPr/>
        </p:nvSpPr>
        <p:spPr>
          <a:xfrm>
            <a:off x="1234440" y="3794760"/>
            <a:ext cx="1188720" cy="182880"/>
          </a:xfrm>
          <a:prstGeom prst="rect">
            <a:avLst/>
          </a:prstGeom>
          <a:noFill/>
          <a:ln/>
        </p:spPr>
        <p:txBody>
          <a:bodyPr wrap="square" lIns="0" tIns="0" rIns="0" bIns="0" rtlCol="0" anchor="t"/>
          <a:lstStyle/>
          <a:p>
            <a:pPr indent="0" marL="0">
              <a:buNone/>
            </a:pPr>
            <a:r>
              <a:rPr lang="en-US" sz="850" dirty="0">
                <a:solidFill>
                  <a:schemeClr val="accent1"/>
                </a:solidFill>
              </a:rPr>
              <a:t>trigger retraining</a:t>
            </a:r>
            <a:endParaRPr lang="en-US" sz="8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Model: start from rules, keep the candidate simple</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Two baselines, one simple candidate, and for every feature the place its value comes from at serving time.</a:t>
            </a:r>
            <a:endParaRPr lang="en-US" sz="1200" dirty="0"/>
          </a:p>
        </p:txBody>
      </p:sp>
      <p:sp>
        <p:nvSpPr>
          <p:cNvPr id="4" name="Shape 2"/>
          <p:cNvSpPr/>
          <p:nvPr/>
        </p:nvSpPr>
        <p:spPr>
          <a:xfrm>
            <a:off x="457200" y="960120"/>
            <a:ext cx="3566160" cy="896112"/>
          </a:xfrm>
          <a:prstGeom prst="roundRect">
            <a:avLst>
              <a:gd name="adj" fmla="val 6122"/>
            </a:avLst>
          </a:prstGeom>
          <a:solidFill>
            <a:schemeClr val="bg2"/>
          </a:solidFill>
          <a:ln w="9525">
            <a:solidFill>
              <a:schemeClr val="bg2"/>
            </a:solidFill>
            <a:prstDash val="solid"/>
          </a:ln>
        </p:spPr>
      </p:sp>
      <p:sp>
        <p:nvSpPr>
          <p:cNvPr id="5" name="Text 3"/>
          <p:cNvSpPr txBox="1"/>
          <p:nvPr/>
        </p:nvSpPr>
        <p:spPr>
          <a:xfrm>
            <a:off x="594360" y="1051560"/>
            <a:ext cx="3291840" cy="256032"/>
          </a:xfrm>
          <a:prstGeom prst="rect">
            <a:avLst/>
          </a:prstGeom>
          <a:noFill/>
          <a:ln/>
        </p:spPr>
        <p:txBody>
          <a:bodyPr wrap="square" lIns="0" tIns="0" rIns="0" bIns="0" rtlCol="0" anchor="t"/>
          <a:lstStyle/>
          <a:p>
            <a:pPr indent="0" marL="0">
              <a:buNone/>
            </a:pPr>
            <a:r>
              <a:rPr lang="en-US" sz="1300" b="1" dirty="0">
                <a:solidFill>
                  <a:schemeClr val="tx1"/>
                </a:solidFill>
              </a:rPr>
              <a:t>Baseline 0</a:t>
            </a:r>
            <a:endParaRPr lang="en-US" sz="1300" dirty="0"/>
          </a:p>
        </p:txBody>
      </p:sp>
      <p:sp>
        <p:nvSpPr>
          <p:cNvPr id="6" name="Text 4"/>
          <p:cNvSpPr txBox="1"/>
          <p:nvPr/>
        </p:nvSpPr>
        <p:spPr>
          <a:xfrm>
            <a:off x="594360" y="1344168"/>
            <a:ext cx="3291840" cy="475488"/>
          </a:xfrm>
          <a:prstGeom prst="rect">
            <a:avLst/>
          </a:prstGeom>
          <a:noFill/>
          <a:ln/>
        </p:spPr>
        <p:txBody>
          <a:bodyPr wrap="square" lIns="0" tIns="0" rIns="0" bIns="0" rtlCol="0" anchor="t"/>
          <a:lstStyle/>
          <a:p>
            <a:pPr indent="0" marL="0">
              <a:buNone/>
            </a:pPr>
            <a:r>
              <a:rPr lang="en-US" sz="1100" dirty="0">
                <a:solidFill>
                  <a:schemeClr val="tx1"/>
                </a:solidFill>
              </a:rPr>
              <a:t>always “Credit reporting”: the macro-F1 floor</a:t>
            </a:r>
            <a:endParaRPr lang="en-US" sz="1100" dirty="0"/>
          </a:p>
        </p:txBody>
      </p:sp>
      <p:sp>
        <p:nvSpPr>
          <p:cNvPr id="7" name="Shape 5"/>
          <p:cNvSpPr/>
          <p:nvPr/>
        </p:nvSpPr>
        <p:spPr>
          <a:xfrm>
            <a:off x="457200" y="1984248"/>
            <a:ext cx="3566160" cy="896112"/>
          </a:xfrm>
          <a:prstGeom prst="roundRect">
            <a:avLst>
              <a:gd name="adj" fmla="val 6122"/>
            </a:avLst>
          </a:prstGeom>
          <a:solidFill>
            <a:schemeClr val="bg2"/>
          </a:solidFill>
          <a:ln w="9525">
            <a:solidFill>
              <a:schemeClr val="bg2"/>
            </a:solidFill>
            <a:prstDash val="solid"/>
          </a:ln>
        </p:spPr>
      </p:sp>
      <p:sp>
        <p:nvSpPr>
          <p:cNvPr id="8" name="Text 6"/>
          <p:cNvSpPr txBox="1"/>
          <p:nvPr/>
        </p:nvSpPr>
        <p:spPr>
          <a:xfrm>
            <a:off x="594360" y="2075688"/>
            <a:ext cx="3291840" cy="256032"/>
          </a:xfrm>
          <a:prstGeom prst="rect">
            <a:avLst/>
          </a:prstGeom>
          <a:noFill/>
          <a:ln/>
        </p:spPr>
        <p:txBody>
          <a:bodyPr wrap="square" lIns="0" tIns="0" rIns="0" bIns="0" rtlCol="0" anchor="t"/>
          <a:lstStyle/>
          <a:p>
            <a:pPr indent="0" marL="0">
              <a:buNone/>
            </a:pPr>
            <a:r>
              <a:rPr lang="en-US" sz="1300" b="1" dirty="0">
                <a:solidFill>
                  <a:schemeClr val="tx1"/>
                </a:solidFill>
              </a:rPr>
              <a:t>Baseline 1</a:t>
            </a:r>
            <a:endParaRPr lang="en-US" sz="1300" dirty="0"/>
          </a:p>
        </p:txBody>
      </p:sp>
      <p:sp>
        <p:nvSpPr>
          <p:cNvPr id="9" name="Text 7"/>
          <p:cNvSpPr txBox="1"/>
          <p:nvPr/>
        </p:nvSpPr>
        <p:spPr>
          <a:xfrm>
            <a:off x="594360" y="2368296"/>
            <a:ext cx="3291840" cy="475488"/>
          </a:xfrm>
          <a:prstGeom prst="rect">
            <a:avLst/>
          </a:prstGeom>
          <a:noFill/>
          <a:ln/>
        </p:spPr>
        <p:txBody>
          <a:bodyPr wrap="square" lIns="0" tIns="0" rIns="0" bIns="0" rtlCol="0" anchor="t"/>
          <a:lstStyle/>
          <a:p>
            <a:pPr indent="0" marL="0">
              <a:buNone/>
            </a:pPr>
            <a:r>
              <a:rPr lang="en-US" sz="1100" dirty="0">
                <a:solidFill>
                  <a:schemeClr val="tx1"/>
                </a:solidFill>
              </a:rPr>
              <a:t>keyword rule per product; no match → manual</a:t>
            </a:r>
            <a:endParaRPr lang="en-US" sz="1100" dirty="0"/>
          </a:p>
        </p:txBody>
      </p:sp>
      <p:sp>
        <p:nvSpPr>
          <p:cNvPr id="10" name="Shape 8"/>
          <p:cNvSpPr/>
          <p:nvPr/>
        </p:nvSpPr>
        <p:spPr>
          <a:xfrm>
            <a:off x="457200" y="3008376"/>
            <a:ext cx="3566160" cy="896112"/>
          </a:xfrm>
          <a:prstGeom prst="roundRect">
            <a:avLst>
              <a:gd name="adj" fmla="val 6122"/>
            </a:avLst>
          </a:prstGeom>
          <a:solidFill>
            <a:srgbClr val="E4EEF3"/>
          </a:solidFill>
          <a:ln w="9525">
            <a:solidFill>
              <a:srgbClr val="E4EEF3"/>
            </a:solidFill>
            <a:prstDash val="solid"/>
          </a:ln>
        </p:spPr>
      </p:sp>
      <p:sp>
        <p:nvSpPr>
          <p:cNvPr id="11" name="Text 9"/>
          <p:cNvSpPr txBox="1"/>
          <p:nvPr/>
        </p:nvSpPr>
        <p:spPr>
          <a:xfrm>
            <a:off x="594360" y="3099816"/>
            <a:ext cx="3291840" cy="256032"/>
          </a:xfrm>
          <a:prstGeom prst="rect">
            <a:avLst/>
          </a:prstGeom>
          <a:noFill/>
          <a:ln/>
        </p:spPr>
        <p:txBody>
          <a:bodyPr wrap="square" lIns="0" tIns="0" rIns="0" bIns="0" rtlCol="0" anchor="t"/>
          <a:lstStyle/>
          <a:p>
            <a:pPr indent="0" marL="0">
              <a:buNone/>
            </a:pPr>
            <a:r>
              <a:rPr lang="en-US" sz="1300" b="1" dirty="0">
                <a:solidFill>
                  <a:schemeClr val="accent2"/>
                </a:solidFill>
              </a:rPr>
              <a:t>Candidate</a:t>
            </a:r>
            <a:endParaRPr lang="en-US" sz="1300" dirty="0"/>
          </a:p>
        </p:txBody>
      </p:sp>
      <p:sp>
        <p:nvSpPr>
          <p:cNvPr id="12" name="Text 10"/>
          <p:cNvSpPr txBox="1"/>
          <p:nvPr/>
        </p:nvSpPr>
        <p:spPr>
          <a:xfrm>
            <a:off x="594360" y="3392424"/>
            <a:ext cx="3291840" cy="475488"/>
          </a:xfrm>
          <a:prstGeom prst="rect">
            <a:avLst/>
          </a:prstGeom>
          <a:noFill/>
          <a:ln/>
        </p:spPr>
        <p:txBody>
          <a:bodyPr wrap="square" lIns="0" tIns="0" rIns="0" bIns="0" rtlCol="0" anchor="t"/>
          <a:lstStyle/>
          <a:p>
            <a:pPr indent="0" marL="0">
              <a:buNone/>
            </a:pPr>
            <a:r>
              <a:rPr lang="en-US" sz="1100" dirty="0">
                <a:solidFill>
                  <a:schemeClr val="tx1"/>
                </a:solidFill>
              </a:rPr>
              <a:t>TF-IDF (word 1–2, char 3–5) + one-hot fields → logistic regression, class weights, isotonic calibration</a:t>
            </a:r>
            <a:endParaRPr lang="en-US" sz="1100" dirty="0"/>
          </a:p>
        </p:txBody>
      </p:sp>
      <p:sp>
        <p:nvSpPr>
          <p:cNvPr id="13" name="Text 11"/>
          <p:cNvSpPr txBox="1"/>
          <p:nvPr/>
        </p:nvSpPr>
        <p:spPr>
          <a:xfrm>
            <a:off x="457200" y="4069080"/>
            <a:ext cx="3566160" cy="457200"/>
          </a:xfrm>
          <a:prstGeom prst="rect">
            <a:avLst/>
          </a:prstGeom>
          <a:noFill/>
          <a:ln/>
        </p:spPr>
        <p:txBody>
          <a:bodyPr wrap="square" lIns="0" tIns="0" rIns="0" bIns="0" rtlCol="0" anchor="t"/>
          <a:lstStyle/>
          <a:p>
            <a:pPr indent="0" marL="0">
              <a:buNone/>
            </a:pPr>
            <a:r>
              <a:rPr lang="en-US" sz="1100" i="1" dirty="0">
                <a:solidFill>
                  <a:schemeClr val="accent5"/>
                </a:solidFill>
              </a:rPr>
              <a:t>LLM zero-shot classifier: evaluated as the LLM baseline in Lab 3, not as the router.</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251960" y="960120"/>
          <a:ext cx="4434840" cy="914400"/>
        </p:xfrm>
        <a:graphic>
          <a:graphicData uri="http://schemas.openxmlformats.org/drawingml/2006/table">
            <a:tbl>
              <a:tblPr/>
              <a:tblGrid>
                <a:gridCol w="1234440"/>
                <a:gridCol w="1325880"/>
                <a:gridCol w="1874520"/>
              </a:tblGrid>
              <a:tr h="0">
                <a:tc>
                  <a:txBody>
                    <a:bodyPr/>
                    <a:lstStyle/>
                    <a:p>
                      <a:pPr indent="0" marL="0">
                        <a:buNone/>
                      </a:pPr>
                      <a:r>
                        <a:rPr lang="en-US" sz="1100" b="1" dirty="0">
                          <a:solidFill>
                            <a:schemeClr val="bg1"/>
                          </a:solidFill>
                        </a:rPr>
                        <a:t>Feature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Training source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Serving source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dirty="0">
                          <a:solidFill>
                            <a:schemeClr val="tx1"/>
                          </a:solidFill>
                        </a:rPr>
                        <a:t>Narrative TF-IDF</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clean/ Parquet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request text, same preprocess()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Narrative length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clean/ Parquet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computed from request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dirty="0">
                          <a:solidFill>
                            <a:schemeClr val="tx1"/>
                          </a:solidFill>
                        </a:rPr>
                        <a:t>Submitted via, state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CFPB fields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request; missing → unknown</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accent3"/>
                          </a:solidFill>
                        </a:rPr>
                        <a:t>Company bucket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CFPB normalized name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accent3"/>
                          </a:solidFill>
                        </a:rPr>
                        <a:t>raw text → alias table (skew risk, monitored)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15" name="Text 12"/>
          <p:cNvSpPr txBox="1"/>
          <p:nvPr/>
        </p:nvSpPr>
        <p:spPr>
          <a:xfrm>
            <a:off x="4251960" y="4069080"/>
            <a:ext cx="4434840" cy="457200"/>
          </a:xfrm>
          <a:prstGeom prst="rect">
            <a:avLst/>
          </a:prstGeom>
          <a:noFill/>
          <a:ln/>
        </p:spPr>
        <p:txBody>
          <a:bodyPr wrap="square" lIns="0" tIns="0" rIns="0" bIns="0" rtlCol="0" anchor="t"/>
          <a:lstStyle/>
          <a:p>
            <a:pPr indent="0" marL="0">
              <a:buNone/>
            </a:pPr>
            <a:r>
              <a:rPr lang="en-US" sz="1100" i="1" dirty="0">
                <a:solidFill>
                  <a:schemeClr val="accent5"/>
                </a:solidFill>
              </a:rPr>
              <a:t>CFPB masks personal data as XXXX in 62% of texts; the service applies the same mask at intake.</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Monitoring: what we can see before the labels arrive</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Labels arrive 15 days after a prediction, so the first two weeks rely on proxy signals; quality is measured once labels land.</a:t>
            </a:r>
            <a:endParaRPr lang="en-US" sz="1200" dirty="0"/>
          </a:p>
        </p:txBody>
      </p:sp>
      <p:sp>
        <p:nvSpPr>
          <p:cNvPr id="4" name="Shape 2"/>
          <p:cNvSpPr/>
          <p:nvPr/>
        </p:nvSpPr>
        <p:spPr>
          <a:xfrm>
            <a:off x="457200" y="960120"/>
            <a:ext cx="365760" cy="320040"/>
          </a:xfrm>
          <a:prstGeom prst="rect">
            <a:avLst/>
          </a:prstGeom>
          <a:solidFill>
            <a:srgbClr val="2F6F8F"/>
          </a:solidFill>
          <a:ln w="6350">
            <a:solidFill>
              <a:srgbClr val="FFFFFF"/>
            </a:solidFill>
            <a:prstDash val="solid"/>
          </a:ln>
        </p:spPr>
      </p:sp>
      <p:sp>
        <p:nvSpPr>
          <p:cNvPr id="5" name="Text 3"/>
          <p:cNvSpPr txBox="1"/>
          <p:nvPr/>
        </p:nvSpPr>
        <p:spPr>
          <a:xfrm>
            <a:off x="365760"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0</a:t>
            </a:r>
            <a:endParaRPr lang="en-US" sz="900" dirty="0"/>
          </a:p>
        </p:txBody>
      </p:sp>
      <p:sp>
        <p:nvSpPr>
          <p:cNvPr id="6" name="Shape 4"/>
          <p:cNvSpPr/>
          <p:nvPr/>
        </p:nvSpPr>
        <p:spPr>
          <a:xfrm>
            <a:off x="849112" y="960120"/>
            <a:ext cx="365760" cy="320040"/>
          </a:xfrm>
          <a:prstGeom prst="rect">
            <a:avLst/>
          </a:prstGeom>
          <a:solidFill>
            <a:srgbClr val="F5E3CC"/>
          </a:solidFill>
          <a:ln w="6350">
            <a:solidFill>
              <a:srgbClr val="FFFFFF"/>
            </a:solidFill>
            <a:prstDash val="solid"/>
          </a:ln>
        </p:spPr>
      </p:sp>
      <p:sp>
        <p:nvSpPr>
          <p:cNvPr id="7" name="Shape 5"/>
          <p:cNvSpPr/>
          <p:nvPr/>
        </p:nvSpPr>
        <p:spPr>
          <a:xfrm>
            <a:off x="1241024" y="960120"/>
            <a:ext cx="365760" cy="320040"/>
          </a:xfrm>
          <a:prstGeom prst="rect">
            <a:avLst/>
          </a:prstGeom>
          <a:solidFill>
            <a:srgbClr val="F5E3CC"/>
          </a:solidFill>
          <a:ln w="6350">
            <a:solidFill>
              <a:srgbClr val="FFFFFF"/>
            </a:solidFill>
            <a:prstDash val="solid"/>
          </a:ln>
        </p:spPr>
      </p:sp>
      <p:sp>
        <p:nvSpPr>
          <p:cNvPr id="8" name="Shape 6"/>
          <p:cNvSpPr/>
          <p:nvPr/>
        </p:nvSpPr>
        <p:spPr>
          <a:xfrm>
            <a:off x="1632936" y="960120"/>
            <a:ext cx="365760" cy="320040"/>
          </a:xfrm>
          <a:prstGeom prst="rect">
            <a:avLst/>
          </a:prstGeom>
          <a:solidFill>
            <a:srgbClr val="F5E3CC"/>
          </a:solidFill>
          <a:ln w="6350">
            <a:solidFill>
              <a:srgbClr val="FFFFFF"/>
            </a:solidFill>
            <a:prstDash val="solid"/>
          </a:ln>
        </p:spPr>
      </p:sp>
      <p:sp>
        <p:nvSpPr>
          <p:cNvPr id="9" name="Shape 7"/>
          <p:cNvSpPr/>
          <p:nvPr/>
        </p:nvSpPr>
        <p:spPr>
          <a:xfrm>
            <a:off x="2024847" y="960120"/>
            <a:ext cx="365760" cy="320040"/>
          </a:xfrm>
          <a:prstGeom prst="rect">
            <a:avLst/>
          </a:prstGeom>
          <a:solidFill>
            <a:srgbClr val="F5E3CC"/>
          </a:solidFill>
          <a:ln w="6350">
            <a:solidFill>
              <a:srgbClr val="FFFFFF"/>
            </a:solidFill>
            <a:prstDash val="solid"/>
          </a:ln>
        </p:spPr>
      </p:sp>
      <p:sp>
        <p:nvSpPr>
          <p:cNvPr id="10" name="Shape 8"/>
          <p:cNvSpPr/>
          <p:nvPr/>
        </p:nvSpPr>
        <p:spPr>
          <a:xfrm>
            <a:off x="2416759" y="960120"/>
            <a:ext cx="365760" cy="320040"/>
          </a:xfrm>
          <a:prstGeom prst="rect">
            <a:avLst/>
          </a:prstGeom>
          <a:solidFill>
            <a:srgbClr val="F5E3CC"/>
          </a:solidFill>
          <a:ln w="6350">
            <a:solidFill>
              <a:srgbClr val="FFFFFF"/>
            </a:solidFill>
            <a:prstDash val="solid"/>
          </a:ln>
        </p:spPr>
      </p:sp>
      <p:sp>
        <p:nvSpPr>
          <p:cNvPr id="11" name="Text 9"/>
          <p:cNvSpPr txBox="1"/>
          <p:nvPr/>
        </p:nvSpPr>
        <p:spPr>
          <a:xfrm>
            <a:off x="2325319"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5</a:t>
            </a:r>
            <a:endParaRPr lang="en-US" sz="900" dirty="0"/>
          </a:p>
        </p:txBody>
      </p:sp>
      <p:sp>
        <p:nvSpPr>
          <p:cNvPr id="12" name="Shape 10"/>
          <p:cNvSpPr/>
          <p:nvPr/>
        </p:nvSpPr>
        <p:spPr>
          <a:xfrm>
            <a:off x="2808671" y="960120"/>
            <a:ext cx="365760" cy="320040"/>
          </a:xfrm>
          <a:prstGeom prst="rect">
            <a:avLst/>
          </a:prstGeom>
          <a:solidFill>
            <a:srgbClr val="F5E3CC"/>
          </a:solidFill>
          <a:ln w="6350">
            <a:solidFill>
              <a:srgbClr val="FFFFFF"/>
            </a:solidFill>
            <a:prstDash val="solid"/>
          </a:ln>
        </p:spPr>
      </p:sp>
      <p:sp>
        <p:nvSpPr>
          <p:cNvPr id="13" name="Shape 11"/>
          <p:cNvSpPr/>
          <p:nvPr/>
        </p:nvSpPr>
        <p:spPr>
          <a:xfrm>
            <a:off x="3200583" y="960120"/>
            <a:ext cx="365760" cy="320040"/>
          </a:xfrm>
          <a:prstGeom prst="rect">
            <a:avLst/>
          </a:prstGeom>
          <a:solidFill>
            <a:srgbClr val="F5E3CC"/>
          </a:solidFill>
          <a:ln w="6350">
            <a:solidFill>
              <a:srgbClr val="FFFFFF"/>
            </a:solidFill>
            <a:prstDash val="solid"/>
          </a:ln>
        </p:spPr>
      </p:sp>
      <p:sp>
        <p:nvSpPr>
          <p:cNvPr id="14" name="Shape 12"/>
          <p:cNvSpPr/>
          <p:nvPr/>
        </p:nvSpPr>
        <p:spPr>
          <a:xfrm>
            <a:off x="3592495" y="960120"/>
            <a:ext cx="365760" cy="320040"/>
          </a:xfrm>
          <a:prstGeom prst="rect">
            <a:avLst/>
          </a:prstGeom>
          <a:solidFill>
            <a:srgbClr val="F5E3CC"/>
          </a:solidFill>
          <a:ln w="6350">
            <a:solidFill>
              <a:srgbClr val="FFFFFF"/>
            </a:solidFill>
            <a:prstDash val="solid"/>
          </a:ln>
        </p:spPr>
      </p:sp>
      <p:sp>
        <p:nvSpPr>
          <p:cNvPr id="15" name="Shape 13"/>
          <p:cNvSpPr/>
          <p:nvPr/>
        </p:nvSpPr>
        <p:spPr>
          <a:xfrm>
            <a:off x="3984407" y="960120"/>
            <a:ext cx="365760" cy="320040"/>
          </a:xfrm>
          <a:prstGeom prst="rect">
            <a:avLst/>
          </a:prstGeom>
          <a:solidFill>
            <a:srgbClr val="F5E3CC"/>
          </a:solidFill>
          <a:ln w="6350">
            <a:solidFill>
              <a:srgbClr val="FFFFFF"/>
            </a:solidFill>
            <a:prstDash val="solid"/>
          </a:ln>
        </p:spPr>
      </p:sp>
      <p:sp>
        <p:nvSpPr>
          <p:cNvPr id="16" name="Shape 14"/>
          <p:cNvSpPr/>
          <p:nvPr/>
        </p:nvSpPr>
        <p:spPr>
          <a:xfrm>
            <a:off x="4376318" y="960120"/>
            <a:ext cx="365760" cy="320040"/>
          </a:xfrm>
          <a:prstGeom prst="rect">
            <a:avLst/>
          </a:prstGeom>
          <a:solidFill>
            <a:srgbClr val="F5E3CC"/>
          </a:solidFill>
          <a:ln w="6350">
            <a:solidFill>
              <a:srgbClr val="FFFFFF"/>
            </a:solidFill>
            <a:prstDash val="solid"/>
          </a:ln>
        </p:spPr>
      </p:sp>
      <p:sp>
        <p:nvSpPr>
          <p:cNvPr id="17" name="Text 15"/>
          <p:cNvSpPr txBox="1"/>
          <p:nvPr/>
        </p:nvSpPr>
        <p:spPr>
          <a:xfrm>
            <a:off x="4284878"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10</a:t>
            </a:r>
            <a:endParaRPr lang="en-US" sz="900" dirty="0"/>
          </a:p>
        </p:txBody>
      </p:sp>
      <p:sp>
        <p:nvSpPr>
          <p:cNvPr id="18" name="Shape 16"/>
          <p:cNvSpPr/>
          <p:nvPr/>
        </p:nvSpPr>
        <p:spPr>
          <a:xfrm>
            <a:off x="4768230" y="960120"/>
            <a:ext cx="365760" cy="320040"/>
          </a:xfrm>
          <a:prstGeom prst="rect">
            <a:avLst/>
          </a:prstGeom>
          <a:solidFill>
            <a:srgbClr val="F5E3CC"/>
          </a:solidFill>
          <a:ln w="6350">
            <a:solidFill>
              <a:srgbClr val="FFFFFF"/>
            </a:solidFill>
            <a:prstDash val="solid"/>
          </a:ln>
        </p:spPr>
      </p:sp>
      <p:sp>
        <p:nvSpPr>
          <p:cNvPr id="19" name="Shape 17"/>
          <p:cNvSpPr/>
          <p:nvPr/>
        </p:nvSpPr>
        <p:spPr>
          <a:xfrm>
            <a:off x="5160142" y="960120"/>
            <a:ext cx="365760" cy="320040"/>
          </a:xfrm>
          <a:prstGeom prst="rect">
            <a:avLst/>
          </a:prstGeom>
          <a:solidFill>
            <a:srgbClr val="F5E3CC"/>
          </a:solidFill>
          <a:ln w="6350">
            <a:solidFill>
              <a:srgbClr val="FFFFFF"/>
            </a:solidFill>
            <a:prstDash val="solid"/>
          </a:ln>
        </p:spPr>
      </p:sp>
      <p:sp>
        <p:nvSpPr>
          <p:cNvPr id="20" name="Shape 18"/>
          <p:cNvSpPr/>
          <p:nvPr/>
        </p:nvSpPr>
        <p:spPr>
          <a:xfrm>
            <a:off x="5552054" y="960120"/>
            <a:ext cx="365760" cy="320040"/>
          </a:xfrm>
          <a:prstGeom prst="rect">
            <a:avLst/>
          </a:prstGeom>
          <a:solidFill>
            <a:srgbClr val="F5E3CC"/>
          </a:solidFill>
          <a:ln w="6350">
            <a:solidFill>
              <a:srgbClr val="FFFFFF"/>
            </a:solidFill>
            <a:prstDash val="solid"/>
          </a:ln>
        </p:spPr>
      </p:sp>
      <p:sp>
        <p:nvSpPr>
          <p:cNvPr id="21" name="Shape 19"/>
          <p:cNvSpPr/>
          <p:nvPr/>
        </p:nvSpPr>
        <p:spPr>
          <a:xfrm>
            <a:off x="5943966" y="960120"/>
            <a:ext cx="365760" cy="320040"/>
          </a:xfrm>
          <a:prstGeom prst="rect">
            <a:avLst/>
          </a:prstGeom>
          <a:solidFill>
            <a:srgbClr val="F5E3CC"/>
          </a:solidFill>
          <a:ln w="6350">
            <a:solidFill>
              <a:srgbClr val="FFFFFF"/>
            </a:solidFill>
            <a:prstDash val="solid"/>
          </a:ln>
        </p:spPr>
      </p:sp>
      <p:sp>
        <p:nvSpPr>
          <p:cNvPr id="22" name="Shape 20"/>
          <p:cNvSpPr/>
          <p:nvPr/>
        </p:nvSpPr>
        <p:spPr>
          <a:xfrm>
            <a:off x="6335878" y="960120"/>
            <a:ext cx="365760" cy="320040"/>
          </a:xfrm>
          <a:prstGeom prst="rect">
            <a:avLst/>
          </a:prstGeom>
          <a:solidFill>
            <a:srgbClr val="3F7D4E"/>
          </a:solidFill>
          <a:ln w="6350">
            <a:solidFill>
              <a:srgbClr val="FFFFFF"/>
            </a:solidFill>
            <a:prstDash val="solid"/>
          </a:ln>
        </p:spPr>
      </p:sp>
      <p:sp>
        <p:nvSpPr>
          <p:cNvPr id="23" name="Text 21"/>
          <p:cNvSpPr txBox="1"/>
          <p:nvPr/>
        </p:nvSpPr>
        <p:spPr>
          <a:xfrm>
            <a:off x="6244438"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15</a:t>
            </a:r>
            <a:endParaRPr lang="en-US" sz="900" dirty="0"/>
          </a:p>
        </p:txBody>
      </p:sp>
      <p:sp>
        <p:nvSpPr>
          <p:cNvPr id="24" name="Shape 22"/>
          <p:cNvSpPr/>
          <p:nvPr/>
        </p:nvSpPr>
        <p:spPr>
          <a:xfrm>
            <a:off x="6727789" y="960120"/>
            <a:ext cx="365760" cy="320040"/>
          </a:xfrm>
          <a:prstGeom prst="rect">
            <a:avLst/>
          </a:prstGeom>
          <a:solidFill>
            <a:srgbClr val="3F7D4E"/>
          </a:solidFill>
          <a:ln w="6350">
            <a:solidFill>
              <a:srgbClr val="FFFFFF"/>
            </a:solidFill>
            <a:prstDash val="solid"/>
          </a:ln>
        </p:spPr>
      </p:sp>
      <p:sp>
        <p:nvSpPr>
          <p:cNvPr id="25" name="Shape 23"/>
          <p:cNvSpPr/>
          <p:nvPr/>
        </p:nvSpPr>
        <p:spPr>
          <a:xfrm>
            <a:off x="7119701" y="960120"/>
            <a:ext cx="365760" cy="320040"/>
          </a:xfrm>
          <a:prstGeom prst="rect">
            <a:avLst/>
          </a:prstGeom>
          <a:solidFill>
            <a:srgbClr val="3F7D4E"/>
          </a:solidFill>
          <a:ln w="6350">
            <a:solidFill>
              <a:srgbClr val="FFFFFF"/>
            </a:solidFill>
            <a:prstDash val="solid"/>
          </a:ln>
        </p:spPr>
      </p:sp>
      <p:sp>
        <p:nvSpPr>
          <p:cNvPr id="26" name="Shape 24"/>
          <p:cNvSpPr/>
          <p:nvPr/>
        </p:nvSpPr>
        <p:spPr>
          <a:xfrm>
            <a:off x="7511613" y="960120"/>
            <a:ext cx="365760" cy="320040"/>
          </a:xfrm>
          <a:prstGeom prst="rect">
            <a:avLst/>
          </a:prstGeom>
          <a:solidFill>
            <a:srgbClr val="3F7D4E"/>
          </a:solidFill>
          <a:ln w="6350">
            <a:solidFill>
              <a:srgbClr val="FFFFFF"/>
            </a:solidFill>
            <a:prstDash val="solid"/>
          </a:ln>
        </p:spPr>
      </p:sp>
      <p:sp>
        <p:nvSpPr>
          <p:cNvPr id="27" name="Shape 25"/>
          <p:cNvSpPr/>
          <p:nvPr/>
        </p:nvSpPr>
        <p:spPr>
          <a:xfrm>
            <a:off x="7903525" y="960120"/>
            <a:ext cx="365760" cy="320040"/>
          </a:xfrm>
          <a:prstGeom prst="rect">
            <a:avLst/>
          </a:prstGeom>
          <a:solidFill>
            <a:srgbClr val="3F7D4E"/>
          </a:solidFill>
          <a:ln w="6350">
            <a:solidFill>
              <a:srgbClr val="FFFFFF"/>
            </a:solidFill>
            <a:prstDash val="solid"/>
          </a:ln>
        </p:spPr>
      </p:sp>
      <p:sp>
        <p:nvSpPr>
          <p:cNvPr id="28" name="Shape 26"/>
          <p:cNvSpPr/>
          <p:nvPr/>
        </p:nvSpPr>
        <p:spPr>
          <a:xfrm>
            <a:off x="8295437" y="960120"/>
            <a:ext cx="365760" cy="320040"/>
          </a:xfrm>
          <a:prstGeom prst="rect">
            <a:avLst/>
          </a:prstGeom>
          <a:solidFill>
            <a:srgbClr val="3F7D4E"/>
          </a:solidFill>
          <a:ln w="6350">
            <a:solidFill>
              <a:srgbClr val="FFFFFF"/>
            </a:solidFill>
            <a:prstDash val="solid"/>
          </a:ln>
        </p:spPr>
      </p:sp>
      <p:sp>
        <p:nvSpPr>
          <p:cNvPr id="29" name="Text 27"/>
          <p:cNvSpPr txBox="1"/>
          <p:nvPr/>
        </p:nvSpPr>
        <p:spPr>
          <a:xfrm>
            <a:off x="8203997" y="1307592"/>
            <a:ext cx="640080" cy="182880"/>
          </a:xfrm>
          <a:prstGeom prst="rect">
            <a:avLst/>
          </a:prstGeom>
          <a:noFill/>
          <a:ln/>
        </p:spPr>
        <p:txBody>
          <a:bodyPr wrap="square" lIns="0" tIns="0" rIns="0" bIns="0" rtlCol="0" anchor="t"/>
          <a:lstStyle/>
          <a:p>
            <a:pPr indent="0" marL="0">
              <a:buNone/>
            </a:pPr>
            <a:r>
              <a:rPr lang="en-US" sz="900" dirty="0">
                <a:solidFill>
                  <a:schemeClr val="accent5"/>
                </a:solidFill>
              </a:rPr>
              <a:t>day 20</a:t>
            </a:r>
            <a:endParaRPr lang="en-US" sz="900" dirty="0"/>
          </a:p>
        </p:txBody>
      </p:sp>
      <p:sp>
        <p:nvSpPr>
          <p:cNvPr id="30" name="Shape 28"/>
          <p:cNvSpPr/>
          <p:nvPr/>
        </p:nvSpPr>
        <p:spPr>
          <a:xfrm>
            <a:off x="457200" y="1645920"/>
            <a:ext cx="5120640" cy="2926080"/>
          </a:xfrm>
          <a:prstGeom prst="roundRect">
            <a:avLst>
              <a:gd name="adj" fmla="val 1875"/>
            </a:avLst>
          </a:prstGeom>
          <a:solidFill>
            <a:schemeClr val="bg2"/>
          </a:solidFill>
          <a:ln w="9525">
            <a:solidFill>
              <a:schemeClr val="bg2"/>
            </a:solidFill>
            <a:prstDash val="solid"/>
          </a:ln>
        </p:spPr>
      </p:sp>
      <p:sp>
        <p:nvSpPr>
          <p:cNvPr id="31" name="Text 29"/>
          <p:cNvSpPr txBox="1"/>
          <p:nvPr/>
        </p:nvSpPr>
        <p:spPr>
          <a:xfrm>
            <a:off x="594360" y="1737360"/>
            <a:ext cx="4846320" cy="256032"/>
          </a:xfrm>
          <a:prstGeom prst="rect">
            <a:avLst/>
          </a:prstGeom>
          <a:noFill/>
          <a:ln/>
        </p:spPr>
        <p:txBody>
          <a:bodyPr wrap="square" lIns="0" tIns="0" rIns="0" bIns="0" rtlCol="0" anchor="t"/>
          <a:lstStyle/>
          <a:p>
            <a:pPr indent="0" marL="0">
              <a:buNone/>
            </a:pPr>
            <a:r>
              <a:rPr lang="en-US" sz="1300" b="1" dirty="0">
                <a:solidFill>
                  <a:schemeClr val="accent1"/>
                </a:solidFill>
              </a:rPr>
              <a:t>Visible from day 0 (proxies)</a:t>
            </a:r>
            <a:endParaRPr lang="en-US" sz="1300" dirty="0"/>
          </a:p>
        </p:txBody>
      </p:sp>
      <p:sp>
        <p:nvSpPr>
          <p:cNvPr id="32" name="Text 30"/>
          <p:cNvSpPr txBox="1"/>
          <p:nvPr/>
        </p:nvSpPr>
        <p:spPr>
          <a:xfrm>
            <a:off x="594360" y="2029968"/>
            <a:ext cx="4846320" cy="2468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Prediction drift: PSI of class mix &gt; 0.2</a:t>
            </a:r>
            <a:endParaRPr lang="en-US" sz="1150" dirty="0"/>
          </a:p>
          <a:p>
            <a:pPr marL="342900" indent="-342900">
              <a:spcAft>
                <a:spcPts val="400"/>
              </a:spcAft>
              <a:buSzPct val="100000"/>
              <a:buChar char="•"/>
            </a:pPr>
            <a:r>
              <a:rPr lang="en-US" sz="1150" dirty="0">
                <a:solidFill>
                  <a:schemeClr val="tx1"/>
                </a:solidFill>
              </a:rPr>
              <a:t>Input drift: OOV-token rate +50%, text length, channel mix</a:t>
            </a:r>
            <a:endParaRPr lang="en-US" sz="1150" dirty="0"/>
          </a:p>
          <a:p>
            <a:pPr marL="342900" indent="-342900">
              <a:spcAft>
                <a:spcPts val="400"/>
              </a:spcAft>
              <a:buSzPct val="100000"/>
              <a:buChar char="•"/>
            </a:pPr>
            <a:r>
              <a:rPr lang="en-US" sz="1150" dirty="0">
                <a:solidFill>
                  <a:schemeClr val="tx1"/>
                </a:solidFill>
              </a:rPr>
              <a:t>Confidence: mean max-prob −0.05, auto share &lt; 50%</a:t>
            </a:r>
            <a:endParaRPr lang="en-US" sz="1150" dirty="0"/>
          </a:p>
          <a:p>
            <a:pPr marL="342900" indent="-342900">
              <a:spcAft>
                <a:spcPts val="400"/>
              </a:spcAft>
              <a:buSzPct val="100000"/>
              <a:buChar char="•"/>
            </a:pPr>
            <a:r>
              <a:rPr lang="en-US" sz="1150" dirty="0">
                <a:solidFill>
                  <a:schemeClr val="tx1"/>
                </a:solidFill>
              </a:rPr>
              <a:t>Skew: unmatched company names &gt; 15%</a:t>
            </a:r>
            <a:endParaRPr lang="en-US" sz="1150" dirty="0"/>
          </a:p>
          <a:p>
            <a:pPr marL="342900" indent="-342900">
              <a:spcAft>
                <a:spcPts val="400"/>
              </a:spcAft>
              <a:buSzPct val="100000"/>
              <a:buChar char="•"/>
            </a:pPr>
            <a:r>
              <a:rPr lang="en-US" sz="1150" dirty="0">
                <a:solidFill>
                  <a:schemeClr val="tx1"/>
                </a:solidFill>
              </a:rPr>
              <a:t>Service: p95 &gt; 300 ms or 5xx &gt; 1% for 5 min</a:t>
            </a:r>
            <a:endParaRPr lang="en-US" sz="1150" dirty="0"/>
          </a:p>
          <a:p>
            <a:pPr marL="342900" indent="-342900">
              <a:spcAft>
                <a:spcPts val="400"/>
              </a:spcAft>
              <a:buSzPct val="100000"/>
              <a:buChar char="•"/>
            </a:pPr>
            <a:r>
              <a:rPr lang="en-US" sz="1150" dirty="0">
                <a:solidFill>
                  <a:schemeClr val="tx1"/>
                </a:solidFill>
              </a:rPr>
              <a:t>Data: newest row &gt; 3 days old; row count equal to previous interval; text share &lt; ½ reference</a:t>
            </a:r>
            <a:endParaRPr lang="en-US" sz="1150" dirty="0"/>
          </a:p>
        </p:txBody>
      </p:sp>
      <p:sp>
        <p:nvSpPr>
          <p:cNvPr id="33" name="Shape 31"/>
          <p:cNvSpPr/>
          <p:nvPr/>
        </p:nvSpPr>
        <p:spPr>
          <a:xfrm>
            <a:off x="5760720" y="1645920"/>
            <a:ext cx="2926080" cy="2926080"/>
          </a:xfrm>
          <a:prstGeom prst="roundRect">
            <a:avLst>
              <a:gd name="adj" fmla="val 1875"/>
            </a:avLst>
          </a:prstGeom>
          <a:solidFill>
            <a:srgbClr val="E8F2EA"/>
          </a:solidFill>
          <a:ln w="9525">
            <a:solidFill>
              <a:srgbClr val="E8F2EA"/>
            </a:solidFill>
            <a:prstDash val="solid"/>
          </a:ln>
        </p:spPr>
      </p:sp>
      <p:sp>
        <p:nvSpPr>
          <p:cNvPr id="34" name="Text 32"/>
          <p:cNvSpPr txBox="1"/>
          <p:nvPr/>
        </p:nvSpPr>
        <p:spPr>
          <a:xfrm>
            <a:off x="5897880" y="1737360"/>
            <a:ext cx="2651760" cy="256032"/>
          </a:xfrm>
          <a:prstGeom prst="rect">
            <a:avLst/>
          </a:prstGeom>
          <a:noFill/>
          <a:ln/>
        </p:spPr>
        <p:txBody>
          <a:bodyPr wrap="square" lIns="0" tIns="0" rIns="0" bIns="0" rtlCol="0" anchor="t"/>
          <a:lstStyle/>
          <a:p>
            <a:pPr indent="0" marL="0">
              <a:buNone/>
            </a:pPr>
            <a:r>
              <a:rPr lang="en-US" sz="1300" b="1" dirty="0">
                <a:solidFill>
                  <a:schemeClr val="accent4"/>
                </a:solidFill>
              </a:rPr>
              <a:t>From day 15 (labels)</a:t>
            </a:r>
            <a:endParaRPr lang="en-US" sz="1300" dirty="0"/>
          </a:p>
        </p:txBody>
      </p:sp>
      <p:sp>
        <p:nvSpPr>
          <p:cNvPr id="35" name="Text 33"/>
          <p:cNvSpPr txBox="1"/>
          <p:nvPr/>
        </p:nvSpPr>
        <p:spPr>
          <a:xfrm>
            <a:off x="5897880" y="2029968"/>
            <a:ext cx="2651760" cy="18288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macro-F1 &lt; 0.75 or a class recall −10 pp → alert + retrain trigger</a:t>
            </a:r>
            <a:endParaRPr lang="en-US" sz="1150" dirty="0"/>
          </a:p>
          <a:p>
            <a:pPr marL="342900" indent="-342900">
              <a:spcAft>
                <a:spcPts val="400"/>
              </a:spcAft>
              <a:buSzPct val="100000"/>
              <a:buChar char="•"/>
            </a:pPr>
            <a:r>
              <a:rPr lang="en-US" sz="1150" dirty="0">
                <a:solidFill>
                  <a:schemeClr val="tx1"/>
                </a:solidFill>
              </a:rPr>
              <a:t>Real misrouting rate (business metric)</a:t>
            </a:r>
            <a:endParaRPr lang="en-US" sz="1150" dirty="0"/>
          </a:p>
          <a:p>
            <a:pPr marL="342900" indent="-342900">
              <a:spcAft>
                <a:spcPts val="400"/>
              </a:spcAft>
              <a:buSzPct val="100000"/>
              <a:buChar char="•"/>
            </a:pPr>
            <a:r>
              <a:rPr lang="en-US" sz="1150" dirty="0">
                <a:solidFill>
                  <a:schemeClr val="tx1"/>
                </a:solidFill>
              </a:rPr>
              <a:t>Concept drift: same words, different correct product</a:t>
            </a:r>
            <a:endParaRPr lang="en-US" sz="1150" dirty="0"/>
          </a:p>
        </p:txBody>
      </p:sp>
      <p:sp>
        <p:nvSpPr>
          <p:cNvPr id="36" name="Text 34"/>
          <p:cNvSpPr txBox="1"/>
          <p:nvPr/>
        </p:nvSpPr>
        <p:spPr>
          <a:xfrm>
            <a:off x="5897880" y="3931920"/>
            <a:ext cx="2651760" cy="548640"/>
          </a:xfrm>
          <a:prstGeom prst="rect">
            <a:avLst/>
          </a:prstGeom>
          <a:noFill/>
          <a:ln/>
        </p:spPr>
        <p:txBody>
          <a:bodyPr wrap="square" lIns="0" tIns="0" rIns="0" bIns="0" rtlCol="0" anchor="t"/>
          <a:lstStyle/>
          <a:p>
            <a:pPr indent="0" marL="0">
              <a:buNone/>
            </a:pPr>
            <a:r>
              <a:rPr lang="en-US" sz="1000" i="1" dirty="0">
                <a:solidFill>
                  <a:schemeClr val="accent5"/>
                </a:solidFill>
              </a:rPr>
              <a:t>Alerts: Grafana e-mail to the ML on-call, acknowledged within 1 business day.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Runs on a laptop; every component has a priced cloud twin</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Everything runs locally (Docker Compose, then Minikube); the AWS column is named and priced as the template requires, not run.</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5120640" cy="914400"/>
        </p:xfrm>
        <a:graphic>
          <a:graphicData uri="http://schemas.openxmlformats.org/drawingml/2006/table">
            <a:tbl>
              <a:tblPr/>
              <a:tblGrid>
                <a:gridCol w="1828800"/>
                <a:gridCol w="2194560"/>
                <a:gridCol w="1097280"/>
              </a:tblGrid>
              <a:tr h="329184">
                <a:tc>
                  <a:txBody>
                    <a:bodyPr/>
                    <a:lstStyle/>
                    <a:p>
                      <a:pPr indent="0" marL="0">
                        <a:buNone/>
                      </a:pPr>
                      <a:r>
                        <a:rPr lang="en-US" sz="1100" b="1" dirty="0">
                          <a:solidFill>
                            <a:schemeClr val="bg1"/>
                          </a:solidFill>
                        </a:rPr>
                        <a:t>Local (pinned)</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AWS equivalent</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 / month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329184">
                <a:tc>
                  <a:txBody>
                    <a:bodyPr/>
                    <a:lstStyle/>
                    <a:p>
                      <a:pPr indent="0" marL="0">
                        <a:buNone/>
                      </a:pPr>
                      <a:r>
                        <a:rPr lang="en-US" sz="1100" dirty="0">
                          <a:solidFill>
                            <a:schemeClr val="tx1"/>
                          </a:solidFill>
                        </a:rPr>
                        <a:t>MinIO (S3 API)</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S3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PostgreSQL 16</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RDS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Airflow 3.3.1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MWAA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250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MLflow 3.16.1</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SageMaker with MLflow</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FastAPI on Minikube</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EKS + ECR</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136</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Prometheus + Grafana</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CloudWatch</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Evidently</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EKS CronJob</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pgvector (Lab 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OpenSearch Serverless</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175</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329184">
                <a:tc>
                  <a:txBody>
                    <a:bodyPr/>
                    <a:lstStyle/>
                    <a:p>
                      <a:pPr indent="0" marL="0">
                        <a:buNone/>
                      </a:pPr>
                      <a:r>
                        <a:rPr lang="en-US" sz="1100" dirty="0">
                          <a:solidFill>
                            <a:schemeClr val="tx1"/>
                          </a:solidFill>
                        </a:rPr>
                        <a:t>LLM (Lab 3)</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Amazon Bedrock</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algn="r" indent="0" marL="0">
                        <a:buNone/>
                      </a:pPr>
                      <a:r>
                        <a:rPr lang="en-US" sz="1100" dirty="0">
                          <a:solidFill>
                            <a:schemeClr val="tx1"/>
                          </a:solidFill>
                        </a:rPr>
                        <a:t>160</a:t>
                      </a:r>
                      <a:endParaRPr lang="en-US" sz="11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Text 2"/>
          <p:cNvSpPr txBox="1"/>
          <p:nvPr/>
        </p:nvSpPr>
        <p:spPr>
          <a:xfrm>
            <a:off x="5897880" y="960120"/>
            <a:ext cx="2743200" cy="502920"/>
          </a:xfrm>
          <a:prstGeom prst="rect">
            <a:avLst/>
          </a:prstGeom>
          <a:noFill/>
          <a:ln/>
        </p:spPr>
        <p:txBody>
          <a:bodyPr wrap="square" lIns="0" tIns="0" rIns="0" bIns="0" rtlCol="0" anchor="t"/>
          <a:lstStyle/>
          <a:p>
            <a:pPr indent="0" marL="0">
              <a:buNone/>
            </a:pPr>
            <a:r>
              <a:rPr lang="en-US" sz="3000" b="1" dirty="0">
                <a:solidFill>
                  <a:schemeClr val="accent3"/>
                </a:solidFill>
              </a:rPr>
              <a:t>$904</a:t>
            </a:r>
            <a:endParaRPr lang="en-US" sz="3000" dirty="0"/>
          </a:p>
        </p:txBody>
      </p:sp>
      <p:sp>
        <p:nvSpPr>
          <p:cNvPr id="6" name="Text 3"/>
          <p:cNvSpPr txBox="1"/>
          <p:nvPr/>
        </p:nvSpPr>
        <p:spPr>
          <a:xfrm>
            <a:off x="5897880" y="146304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estimated AWS cost per month</a:t>
            </a:r>
            <a:endParaRPr lang="en-US" sz="1200" dirty="0"/>
          </a:p>
        </p:txBody>
      </p:sp>
      <p:sp>
        <p:nvSpPr>
          <p:cNvPr id="7" name="Text 4"/>
          <p:cNvSpPr txBox="1"/>
          <p:nvPr/>
        </p:nvSpPr>
        <p:spPr>
          <a:xfrm>
            <a:off x="5897880" y="1965960"/>
            <a:ext cx="2743200" cy="502920"/>
          </a:xfrm>
          <a:prstGeom prst="rect">
            <a:avLst/>
          </a:prstGeom>
          <a:noFill/>
          <a:ln/>
        </p:spPr>
        <p:txBody>
          <a:bodyPr wrap="square" lIns="0" tIns="0" rIns="0" bIns="0" rtlCol="0" anchor="t"/>
          <a:lstStyle/>
          <a:p>
            <a:pPr indent="0" marL="0">
              <a:buNone/>
            </a:pPr>
            <a:r>
              <a:rPr lang="en-US" sz="3000" b="1" dirty="0">
                <a:solidFill>
                  <a:schemeClr val="tx1"/>
                </a:solidFill>
              </a:rPr>
              <a:t>$800</a:t>
            </a:r>
            <a:endParaRPr lang="en-US" sz="3000" dirty="0"/>
          </a:p>
        </p:txBody>
      </p:sp>
      <p:sp>
        <p:nvSpPr>
          <p:cNvPr id="8" name="Text 5"/>
          <p:cNvSpPr txBox="1"/>
          <p:nvPr/>
        </p:nvSpPr>
        <p:spPr>
          <a:xfrm>
            <a:off x="5897880" y="246888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ceiling set in section 4</a:t>
            </a:r>
            <a:endParaRPr lang="en-US" sz="1200" dirty="0"/>
          </a:p>
        </p:txBody>
      </p:sp>
      <p:sp>
        <p:nvSpPr>
          <p:cNvPr id="9" name="Text 6"/>
          <p:cNvSpPr txBox="1"/>
          <p:nvPr/>
        </p:nvSpPr>
        <p:spPr>
          <a:xfrm>
            <a:off x="5897880" y="2971800"/>
            <a:ext cx="2743200" cy="502920"/>
          </a:xfrm>
          <a:prstGeom prst="rect">
            <a:avLst/>
          </a:prstGeom>
          <a:noFill/>
          <a:ln/>
        </p:spPr>
        <p:txBody>
          <a:bodyPr wrap="square" lIns="0" tIns="0" rIns="0" bIns="0" rtlCol="0" anchor="t"/>
          <a:lstStyle/>
          <a:p>
            <a:pPr indent="0" marL="0">
              <a:buNone/>
            </a:pPr>
            <a:r>
              <a:rPr lang="en-US" sz="3000" b="1" dirty="0">
                <a:solidFill>
                  <a:schemeClr val="accent4"/>
                </a:solidFill>
              </a:rPr>
              <a:t>$729</a:t>
            </a:r>
            <a:endParaRPr lang="en-US" sz="3000" dirty="0"/>
          </a:p>
        </p:txBody>
      </p:sp>
      <p:sp>
        <p:nvSpPr>
          <p:cNvPr id="10" name="Text 7"/>
          <p:cNvSpPr txBox="1"/>
          <p:nvPr/>
        </p:nvSpPr>
        <p:spPr>
          <a:xfrm>
            <a:off x="5897880" y="3474720"/>
            <a:ext cx="2743200" cy="457200"/>
          </a:xfrm>
          <a:prstGeom prst="rect">
            <a:avLst/>
          </a:prstGeom>
          <a:noFill/>
          <a:ln/>
        </p:spPr>
        <p:txBody>
          <a:bodyPr wrap="square" lIns="0" tIns="0" rIns="0" bIns="0" rtlCol="0" anchor="t"/>
          <a:lstStyle/>
          <a:p>
            <a:pPr indent="0" marL="0">
              <a:buNone/>
            </a:pPr>
            <a:r>
              <a:rPr lang="en-US" sz="1200" dirty="0">
                <a:solidFill>
                  <a:schemeClr val="accent5"/>
                </a:solidFill>
              </a:rPr>
              <a:t>with pgvector in RDS instead of OpenSearch</a:t>
            </a:r>
            <a:endParaRPr lang="en-US" sz="1200" dirty="0"/>
          </a:p>
        </p:txBody>
      </p:sp>
      <p:sp>
        <p:nvSpPr>
          <p:cNvPr id="11" name="Text 8"/>
          <p:cNvSpPr txBox="1"/>
          <p:nvPr/>
        </p:nvSpPr>
        <p:spPr>
          <a:xfrm>
            <a:off x="5897880" y="4069080"/>
            <a:ext cx="2743200" cy="457200"/>
          </a:xfrm>
          <a:prstGeom prst="rect">
            <a:avLst/>
          </a:prstGeom>
          <a:noFill/>
          <a:ln/>
        </p:spPr>
        <p:txBody>
          <a:bodyPr wrap="square" lIns="0" tIns="0" rIns="0" bIns="0" rtlCol="0" anchor="t"/>
          <a:lstStyle/>
          <a:p>
            <a:pPr indent="0" marL="0">
              <a:buNone/>
            </a:pPr>
            <a:r>
              <a:rPr lang="en-US" sz="1000" i="1" dirty="0">
                <a:solidFill>
                  <a:schemeClr val="accent5"/>
                </a:solidFill>
              </a:rPr>
              <a:t>Nothing is run in the cloud; naming and pricing is the requirement.</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Known risks, each with its answer</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Each risk has a mitigation and the lab that implements it; the first one has already happened.</a:t>
            </a:r>
            <a:endParaRPr lang="en-US" sz="1200" dirty="0"/>
          </a:p>
        </p:txBody>
      </p:sp>
      <p:sp>
        <p:nvSpPr>
          <p:cNvPr id="4" name="Shape 2"/>
          <p:cNvSpPr/>
          <p:nvPr/>
        </p:nvSpPr>
        <p:spPr>
          <a:xfrm>
            <a:off x="457200" y="960120"/>
            <a:ext cx="2606040" cy="1627632"/>
          </a:xfrm>
          <a:prstGeom prst="roundRect">
            <a:avLst>
              <a:gd name="adj" fmla="val 3371"/>
            </a:avLst>
          </a:prstGeom>
          <a:solidFill>
            <a:srgbClr val="FBEDEC"/>
          </a:solidFill>
          <a:ln w="9525">
            <a:solidFill>
              <a:srgbClr val="FBEDEC"/>
            </a:solidFill>
            <a:prstDash val="solid"/>
          </a:ln>
        </p:spPr>
      </p:sp>
      <p:sp>
        <p:nvSpPr>
          <p:cNvPr id="5" name="Text 3"/>
          <p:cNvSpPr txBox="1"/>
          <p:nvPr/>
        </p:nvSpPr>
        <p:spPr>
          <a:xfrm>
            <a:off x="594360" y="1069848"/>
            <a:ext cx="2331720" cy="457200"/>
          </a:xfrm>
          <a:prstGeom prst="rect">
            <a:avLst/>
          </a:prstGeom>
          <a:noFill/>
          <a:ln/>
        </p:spPr>
        <p:txBody>
          <a:bodyPr wrap="square" lIns="0" tIns="0" rIns="0" bIns="0" rtlCol="0" anchor="t"/>
          <a:lstStyle/>
          <a:p>
            <a:pPr indent="0" marL="0">
              <a:buNone/>
            </a:pPr>
            <a:r>
              <a:rPr lang="en-US" sz="1300" b="1" dirty="0">
                <a:solidFill>
                  <a:schemeClr val="accent3"/>
                </a:solidFill>
              </a:rPr>
              <a:t>Text source stopped (2026)</a:t>
            </a:r>
            <a:endParaRPr lang="en-US" sz="1300" dirty="0"/>
          </a:p>
        </p:txBody>
      </p:sp>
      <p:sp>
        <p:nvSpPr>
          <p:cNvPr id="6" name="Text 4"/>
          <p:cNvSpPr txBox="1"/>
          <p:nvPr/>
        </p:nvSpPr>
        <p:spPr>
          <a:xfrm>
            <a:off x="59436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Versioned snapshot in DVC; monthly replay</a:t>
            </a:r>
            <a:endParaRPr lang="en-US" sz="1150" dirty="0"/>
          </a:p>
        </p:txBody>
      </p:sp>
      <p:sp>
        <p:nvSpPr>
          <p:cNvPr id="7" name="Text 5"/>
          <p:cNvSpPr txBox="1"/>
          <p:nvPr/>
        </p:nvSpPr>
        <p:spPr>
          <a:xfrm>
            <a:off x="59436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8" name="Shape 6"/>
          <p:cNvSpPr/>
          <p:nvPr/>
        </p:nvSpPr>
        <p:spPr>
          <a:xfrm>
            <a:off x="3246120" y="960120"/>
            <a:ext cx="2606040" cy="1627632"/>
          </a:xfrm>
          <a:prstGeom prst="roundRect">
            <a:avLst>
              <a:gd name="adj" fmla="val 3371"/>
            </a:avLst>
          </a:prstGeom>
          <a:solidFill>
            <a:schemeClr val="bg2"/>
          </a:solidFill>
          <a:ln w="9525">
            <a:solidFill>
              <a:schemeClr val="bg2"/>
            </a:solidFill>
            <a:prstDash val="solid"/>
          </a:ln>
        </p:spPr>
      </p:sp>
      <p:sp>
        <p:nvSpPr>
          <p:cNvPr id="9" name="Text 7"/>
          <p:cNvSpPr txBox="1"/>
          <p:nvPr/>
        </p:nvSpPr>
        <p:spPr>
          <a:xfrm>
            <a:off x="3383280" y="1069848"/>
            <a:ext cx="2331720" cy="457200"/>
          </a:xfrm>
          <a:prstGeom prst="rect">
            <a:avLst/>
          </a:prstGeom>
          <a:noFill/>
          <a:ln/>
        </p:spPr>
        <p:txBody>
          <a:bodyPr wrap="square" lIns="0" tIns="0" rIns="0" bIns="0" rtlCol="0" anchor="t"/>
          <a:lstStyle/>
          <a:p>
            <a:pPr indent="0" marL="0">
              <a:buNone/>
            </a:pPr>
            <a:r>
              <a:rPr lang="en-US" sz="1300" b="1" dirty="0">
                <a:solidFill>
                  <a:schemeClr val="tx1"/>
                </a:solidFill>
              </a:rPr>
              <a:t>Taxonomy change</a:t>
            </a:r>
            <a:endParaRPr lang="en-US" sz="1300" dirty="0"/>
          </a:p>
        </p:txBody>
      </p:sp>
      <p:sp>
        <p:nvSpPr>
          <p:cNvPr id="10" name="Text 8"/>
          <p:cNvSpPr txBox="1"/>
          <p:nvPr/>
        </p:nvSpPr>
        <p:spPr>
          <a:xfrm>
            <a:off x="338328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taxonomy_map.csv; unmapped product fails the gate</a:t>
            </a:r>
            <a:endParaRPr lang="en-US" sz="1150" dirty="0"/>
          </a:p>
        </p:txBody>
      </p:sp>
      <p:sp>
        <p:nvSpPr>
          <p:cNvPr id="11" name="Text 9"/>
          <p:cNvSpPr txBox="1"/>
          <p:nvPr/>
        </p:nvSpPr>
        <p:spPr>
          <a:xfrm>
            <a:off x="338328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12" name="Shape 10"/>
          <p:cNvSpPr/>
          <p:nvPr/>
        </p:nvSpPr>
        <p:spPr>
          <a:xfrm>
            <a:off x="6035040" y="960120"/>
            <a:ext cx="2606040" cy="1627632"/>
          </a:xfrm>
          <a:prstGeom prst="roundRect">
            <a:avLst>
              <a:gd name="adj" fmla="val 3371"/>
            </a:avLst>
          </a:prstGeom>
          <a:solidFill>
            <a:schemeClr val="bg2"/>
          </a:solidFill>
          <a:ln w="9525">
            <a:solidFill>
              <a:schemeClr val="bg2"/>
            </a:solidFill>
            <a:prstDash val="solid"/>
          </a:ln>
        </p:spPr>
      </p:sp>
      <p:sp>
        <p:nvSpPr>
          <p:cNvPr id="13" name="Text 11"/>
          <p:cNvSpPr txBox="1"/>
          <p:nvPr/>
        </p:nvSpPr>
        <p:spPr>
          <a:xfrm>
            <a:off x="6172200" y="1069848"/>
            <a:ext cx="2331720" cy="457200"/>
          </a:xfrm>
          <a:prstGeom prst="rect">
            <a:avLst/>
          </a:prstGeom>
          <a:noFill/>
          <a:ln/>
        </p:spPr>
        <p:txBody>
          <a:bodyPr wrap="square" lIns="0" tIns="0" rIns="0" bIns="0" rtlCol="0" anchor="t"/>
          <a:lstStyle/>
          <a:p>
            <a:pPr indent="0" marL="0">
              <a:buNone/>
            </a:pPr>
            <a:r>
              <a:rPr lang="en-US" sz="1300" b="1" dirty="0">
                <a:solidFill>
                  <a:schemeClr val="tx1"/>
                </a:solidFill>
              </a:rPr>
              <a:t>Training/serving skew</a:t>
            </a:r>
            <a:endParaRPr lang="en-US" sz="1300" dirty="0"/>
          </a:p>
        </p:txBody>
      </p:sp>
      <p:sp>
        <p:nvSpPr>
          <p:cNvPr id="14" name="Text 12"/>
          <p:cNvSpPr txBox="1"/>
          <p:nvPr/>
        </p:nvSpPr>
        <p:spPr>
          <a:xfrm>
            <a:off x="6172200" y="1554480"/>
            <a:ext cx="2331720" cy="640080"/>
          </a:xfrm>
          <a:prstGeom prst="rect">
            <a:avLst/>
          </a:prstGeom>
          <a:noFill/>
          <a:ln/>
        </p:spPr>
        <p:txBody>
          <a:bodyPr wrap="square" lIns="0" tIns="0" rIns="0" bIns="0" rtlCol="0" anchor="t"/>
          <a:lstStyle/>
          <a:p>
            <a:pPr indent="0" marL="0">
              <a:buNone/>
            </a:pPr>
            <a:r>
              <a:rPr lang="en-US" sz="1150" dirty="0">
                <a:solidFill>
                  <a:schemeClr val="tx1"/>
                </a:solidFill>
              </a:rPr>
              <a:t>preprocess() inside the model; unmatched-name alert</a:t>
            </a:r>
            <a:endParaRPr lang="en-US" sz="1150" dirty="0"/>
          </a:p>
        </p:txBody>
      </p:sp>
      <p:sp>
        <p:nvSpPr>
          <p:cNvPr id="15" name="Text 13"/>
          <p:cNvSpPr txBox="1"/>
          <p:nvPr/>
        </p:nvSpPr>
        <p:spPr>
          <a:xfrm>
            <a:off x="6172200" y="225856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Labs 2, 4</a:t>
            </a:r>
            <a:endParaRPr lang="en-US" sz="1000" dirty="0"/>
          </a:p>
        </p:txBody>
      </p:sp>
      <p:sp>
        <p:nvSpPr>
          <p:cNvPr id="16" name="Shape 14"/>
          <p:cNvSpPr/>
          <p:nvPr/>
        </p:nvSpPr>
        <p:spPr>
          <a:xfrm>
            <a:off x="457200" y="2743200"/>
            <a:ext cx="2606040" cy="1627632"/>
          </a:xfrm>
          <a:prstGeom prst="roundRect">
            <a:avLst>
              <a:gd name="adj" fmla="val 3371"/>
            </a:avLst>
          </a:prstGeom>
          <a:solidFill>
            <a:schemeClr val="bg2"/>
          </a:solidFill>
          <a:ln w="9525">
            <a:solidFill>
              <a:schemeClr val="bg2"/>
            </a:solidFill>
            <a:prstDash val="solid"/>
          </a:ln>
        </p:spPr>
      </p:sp>
      <p:sp>
        <p:nvSpPr>
          <p:cNvPr id="17" name="Text 15"/>
          <p:cNvSpPr txBox="1"/>
          <p:nvPr/>
        </p:nvSpPr>
        <p:spPr>
          <a:xfrm>
            <a:off x="59436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15 days without labels</a:t>
            </a:r>
            <a:endParaRPr lang="en-US" sz="1300" dirty="0"/>
          </a:p>
        </p:txBody>
      </p:sp>
      <p:sp>
        <p:nvSpPr>
          <p:cNvPr id="18" name="Text 16"/>
          <p:cNvSpPr txBox="1"/>
          <p:nvPr/>
        </p:nvSpPr>
        <p:spPr>
          <a:xfrm>
            <a:off x="59436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Drift, confidence and override proxies</a:t>
            </a:r>
            <a:endParaRPr lang="en-US" sz="1150" dirty="0"/>
          </a:p>
        </p:txBody>
      </p:sp>
      <p:sp>
        <p:nvSpPr>
          <p:cNvPr id="19" name="Text 17"/>
          <p:cNvSpPr txBox="1"/>
          <p:nvPr/>
        </p:nvSpPr>
        <p:spPr>
          <a:xfrm>
            <a:off x="59436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4</a:t>
            </a:r>
            <a:endParaRPr lang="en-US" sz="1000" dirty="0"/>
          </a:p>
        </p:txBody>
      </p:sp>
      <p:sp>
        <p:nvSpPr>
          <p:cNvPr id="20" name="Shape 18"/>
          <p:cNvSpPr/>
          <p:nvPr/>
        </p:nvSpPr>
        <p:spPr>
          <a:xfrm>
            <a:off x="3246120" y="2743200"/>
            <a:ext cx="2606040" cy="1627632"/>
          </a:xfrm>
          <a:prstGeom prst="roundRect">
            <a:avLst>
              <a:gd name="adj" fmla="val 3371"/>
            </a:avLst>
          </a:prstGeom>
          <a:solidFill>
            <a:schemeClr val="bg2"/>
          </a:solidFill>
          <a:ln w="9525">
            <a:solidFill>
              <a:schemeClr val="bg2"/>
            </a:solidFill>
            <a:prstDash val="solid"/>
          </a:ln>
        </p:spPr>
      </p:sp>
      <p:sp>
        <p:nvSpPr>
          <p:cNvPr id="21" name="Text 19"/>
          <p:cNvSpPr txBox="1"/>
          <p:nvPr/>
        </p:nvSpPr>
        <p:spPr>
          <a:xfrm>
            <a:off x="338328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4 GB laptop cluster</a:t>
            </a:r>
            <a:endParaRPr lang="en-US" sz="1300" dirty="0"/>
          </a:p>
        </p:txBody>
      </p:sp>
      <p:sp>
        <p:nvSpPr>
          <p:cNvPr id="22" name="Text 20"/>
          <p:cNvSpPr txBox="1"/>
          <p:nvPr/>
        </p:nvSpPr>
        <p:spPr>
          <a:xfrm>
            <a:off x="338328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Linear model, LocalExecutor, hosted LLM</a:t>
            </a:r>
            <a:endParaRPr lang="en-US" sz="1150" dirty="0"/>
          </a:p>
        </p:txBody>
      </p:sp>
      <p:sp>
        <p:nvSpPr>
          <p:cNvPr id="23" name="Text 21"/>
          <p:cNvSpPr txBox="1"/>
          <p:nvPr/>
        </p:nvSpPr>
        <p:spPr>
          <a:xfrm>
            <a:off x="338328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4</a:t>
            </a:r>
            <a:endParaRPr lang="en-US" sz="1000" dirty="0"/>
          </a:p>
        </p:txBody>
      </p:sp>
      <p:sp>
        <p:nvSpPr>
          <p:cNvPr id="24" name="Shape 22"/>
          <p:cNvSpPr/>
          <p:nvPr/>
        </p:nvSpPr>
        <p:spPr>
          <a:xfrm>
            <a:off x="6035040" y="2743200"/>
            <a:ext cx="2606040" cy="1627632"/>
          </a:xfrm>
          <a:prstGeom prst="roundRect">
            <a:avLst>
              <a:gd name="adj" fmla="val 3371"/>
            </a:avLst>
          </a:prstGeom>
          <a:solidFill>
            <a:schemeClr val="bg2"/>
          </a:solidFill>
          <a:ln w="9525">
            <a:solidFill>
              <a:schemeClr val="bg2"/>
            </a:solidFill>
            <a:prstDash val="solid"/>
          </a:ln>
        </p:spPr>
      </p:sp>
      <p:sp>
        <p:nvSpPr>
          <p:cNvPr id="25" name="Text 23"/>
          <p:cNvSpPr txBox="1"/>
          <p:nvPr/>
        </p:nvSpPr>
        <p:spPr>
          <a:xfrm>
            <a:off x="6172200" y="2852928"/>
            <a:ext cx="2331720" cy="457200"/>
          </a:xfrm>
          <a:prstGeom prst="rect">
            <a:avLst/>
          </a:prstGeom>
          <a:noFill/>
          <a:ln/>
        </p:spPr>
        <p:txBody>
          <a:bodyPr wrap="square" lIns="0" tIns="0" rIns="0" bIns="0" rtlCol="0" anchor="t"/>
          <a:lstStyle/>
          <a:p>
            <a:pPr indent="0" marL="0">
              <a:buNone/>
            </a:pPr>
            <a:r>
              <a:rPr lang="en-US" sz="1300" b="1" dirty="0">
                <a:solidFill>
                  <a:schemeClr val="tx1"/>
                </a:solidFill>
              </a:rPr>
              <a:t>Feedback loop</a:t>
            </a:r>
            <a:endParaRPr lang="en-US" sz="1300" dirty="0"/>
          </a:p>
        </p:txBody>
      </p:sp>
      <p:sp>
        <p:nvSpPr>
          <p:cNvPr id="26" name="Text 24"/>
          <p:cNvSpPr txBox="1"/>
          <p:nvPr/>
        </p:nvSpPr>
        <p:spPr>
          <a:xfrm>
            <a:off x="6172200" y="3337560"/>
            <a:ext cx="2331720" cy="640080"/>
          </a:xfrm>
          <a:prstGeom prst="rect">
            <a:avLst/>
          </a:prstGeom>
          <a:noFill/>
          <a:ln/>
        </p:spPr>
        <p:txBody>
          <a:bodyPr wrap="square" lIns="0" tIns="0" rIns="0" bIns="0" rtlCol="0" anchor="t"/>
          <a:lstStyle/>
          <a:p>
            <a:pPr indent="0" marL="0">
              <a:buNone/>
            </a:pPr>
            <a:r>
              <a:rPr lang="en-US" sz="1150" dirty="0">
                <a:solidFill>
                  <a:schemeClr val="tx1"/>
                </a:solidFill>
              </a:rPr>
              <a:t>Labels from CFPB and overrides, never from predictions</a:t>
            </a:r>
            <a:endParaRPr lang="en-US" sz="1150" dirty="0"/>
          </a:p>
        </p:txBody>
      </p:sp>
      <p:sp>
        <p:nvSpPr>
          <p:cNvPr id="27" name="Text 25"/>
          <p:cNvSpPr txBox="1"/>
          <p:nvPr/>
        </p:nvSpPr>
        <p:spPr>
          <a:xfrm>
            <a:off x="6172200" y="4041648"/>
            <a:ext cx="2331720" cy="228600"/>
          </a:xfrm>
          <a:prstGeom prst="rect">
            <a:avLst/>
          </a:prstGeom>
          <a:noFill/>
          <a:ln/>
        </p:spPr>
        <p:txBody>
          <a:bodyPr wrap="square" lIns="0" tIns="0" rIns="0" bIns="0" rtlCol="0" anchor="t"/>
          <a:lstStyle/>
          <a:p>
            <a:pPr indent="0" marL="0">
              <a:buNone/>
            </a:pPr>
            <a:r>
              <a:rPr lang="en-US" sz="1000" b="1" dirty="0">
                <a:solidFill>
                  <a:schemeClr val="accent4"/>
                </a:solidFill>
              </a:rPr>
              <a:t>Lab 2</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This project carries all five labs</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For each lab: what it needs, what this project provides, and the verdict.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1417320"/>
                <a:gridCol w="2514600"/>
                <a:gridCol w="3657600"/>
                <a:gridCol w="640080"/>
              </a:tblGrid>
              <a:tr h="0">
                <a:tc>
                  <a:txBody>
                    <a:bodyPr/>
                    <a:lstStyle/>
                    <a:p>
                      <a:pPr indent="0" marL="0">
                        <a:buNone/>
                      </a:pPr>
                      <a:r>
                        <a:rPr lang="en-US" sz="1100" b="1" dirty="0">
                          <a:solidFill>
                            <a:schemeClr val="bg1"/>
                          </a:solidFill>
                        </a:rPr>
                        <a:t>Lab</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What the lab needs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What this project provides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100" b="1" dirty="0">
                          <a:solidFill>
                            <a:schemeClr val="bg1"/>
                          </a:solidFill>
                        </a:rPr>
                        <a:t>Fit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100" b="1" dirty="0">
                          <a:solidFill>
                            <a:schemeClr val="tx1"/>
                          </a:solidFill>
                        </a:rPr>
                        <a:t>1 · Design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Use case, data justification, 3 diagrams, repo with CI</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design.md, data profile, 200-row sample, taxonomy map, green CI, tag lab-1</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Done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2 · Data + MLflow</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Batches over time, held-out period, a bad batch for the gate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Monthly replay of 3.8 M texts; time split; a real bad batch: 2026 months without text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3 · LLM + retrieval</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A task for an LLM baseline; a corpus to retrieve from</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Zero-shot LLM vs TF-IDF on 1,000 test texts; Ask CFPB + eCFR for cited rationales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4 · Serving + drift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Servable model, real drift, known label delay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Small model on FastAPI; replay of 2023-08 taxonomy change and the credit-reporting surge; 15-day delay</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100" b="1" dirty="0">
                          <a:solidFill>
                            <a:schemeClr val="tx1"/>
                          </a:solidFill>
                        </a:rPr>
                        <a:t>5 · Agent</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Operational tasks an agent can do and be scored on</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dirty="0">
                          <a:solidFill>
                            <a:schemeClr val="tx1"/>
                          </a:solidFill>
                        </a:rPr>
                        <a:t>Read drift reports, compare challenger vs champion (5.4 rule), draft the promotion note</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100" b="1" dirty="0">
                          <a:solidFill>
                            <a:schemeClr val="accent4"/>
                          </a:solidFill>
                        </a:rPr>
                        <a:t>Fits</a:t>
                      </a:r>
                      <a:endParaRPr lang="en-US" sz="1100" dirty="0"/>
                    </a:p>
                  </a:txBody>
                  <a:tcPr marL="54864" marR="54864" marT="54864" marB="54864"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Shape 2"/>
          <p:cNvSpPr/>
          <p:nvPr/>
        </p:nvSpPr>
        <p:spPr>
          <a:xfrm>
            <a:off x="457200" y="3977640"/>
            <a:ext cx="8229600" cy="594360"/>
          </a:xfrm>
          <a:prstGeom prst="roundRect">
            <a:avLst>
              <a:gd name="adj" fmla="val 9231"/>
            </a:avLst>
          </a:prstGeom>
          <a:solidFill>
            <a:srgbClr val="FBF0E3"/>
          </a:solidFill>
          <a:ln w="9525">
            <a:solidFill>
              <a:srgbClr val="FBF0E3"/>
            </a:solidFill>
            <a:prstDash val="solid"/>
          </a:ln>
        </p:spPr>
      </p:sp>
      <p:sp>
        <p:nvSpPr>
          <p:cNvPr id="6" name="Text 3"/>
          <p:cNvSpPr txBox="1"/>
          <p:nvPr/>
        </p:nvSpPr>
        <p:spPr>
          <a:xfrm>
            <a:off x="594360" y="4041648"/>
            <a:ext cx="7955280" cy="475488"/>
          </a:xfrm>
          <a:prstGeom prst="rect">
            <a:avLst/>
          </a:prstGeom>
          <a:noFill/>
          <a:ln/>
        </p:spPr>
        <p:txBody>
          <a:bodyPr wrap="square" lIns="0" tIns="0" rIns="0" bIns="0" rtlCol="0" anchor="ctr"/>
          <a:lstStyle/>
          <a:p>
            <a:pPr indent="0" marL="0">
              <a:buNone/>
            </a:pPr>
            <a:r>
              <a:rPr lang="en-US" sz="1200" b="1" dirty="0">
                <a:solidFill>
                  <a:schemeClr val="accent1"/>
                </a:solidFill>
              </a:rPr>
              <a:t>One caveat, stated in design.md §5.2 and §6.9: </a:t>
            </a:r>
            <a:pPr indent="0" marL="0">
              <a:buNone/>
            </a:pPr>
            <a:r>
              <a:rPr lang="en-US" sz="1200" dirty="0">
                <a:solidFill>
                  <a:schemeClr val="tx1"/>
                </a:solidFill>
              </a:rPr>
              <a:t>no new complaint text after 2025, so “new” text batches are replayed history. The daily structured export still exercises freshness and volume checks.</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How the next four labs grow this system</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Each lab revises numbered sections of design.md and adds rows to the README maturity scorecard, so nothing starts over.</a:t>
            </a:r>
            <a:endParaRPr lang="en-US" sz="1200" dirty="0"/>
          </a:p>
        </p:txBody>
      </p:sp>
      <p:sp>
        <p:nvSpPr>
          <p:cNvPr id="4" name="Shape 2"/>
          <p:cNvSpPr/>
          <p:nvPr/>
        </p:nvSpPr>
        <p:spPr>
          <a:xfrm>
            <a:off x="457200" y="960120"/>
            <a:ext cx="1965960" cy="3611880"/>
          </a:xfrm>
          <a:prstGeom prst="roundRect">
            <a:avLst>
              <a:gd name="adj" fmla="val 2791"/>
            </a:avLst>
          </a:prstGeom>
          <a:solidFill>
            <a:schemeClr val="bg2"/>
          </a:solidFill>
          <a:ln w="9525">
            <a:solidFill>
              <a:schemeClr val="bg2"/>
            </a:solidFill>
            <a:prstDash val="solid"/>
          </a:ln>
        </p:spPr>
      </p:sp>
      <p:sp>
        <p:nvSpPr>
          <p:cNvPr id="5" name="Text 3"/>
          <p:cNvSpPr txBox="1"/>
          <p:nvPr/>
        </p:nvSpPr>
        <p:spPr>
          <a:xfrm>
            <a:off x="576072" y="1033272"/>
            <a:ext cx="1737360" cy="292608"/>
          </a:xfrm>
          <a:prstGeom prst="rect">
            <a:avLst/>
          </a:prstGeom>
          <a:noFill/>
          <a:ln/>
        </p:spPr>
        <p:txBody>
          <a:bodyPr wrap="square" lIns="0" tIns="0" rIns="0" bIns="0" rtlCol="0" anchor="t"/>
          <a:lstStyle/>
          <a:p>
            <a:pPr indent="0" marL="0">
              <a:buNone/>
            </a:pPr>
            <a:r>
              <a:rPr lang="en-US" sz="1600" b="1" dirty="0">
                <a:solidFill>
                  <a:schemeClr val="accent2"/>
                </a:solidFill>
              </a:rPr>
              <a:t>Lab 2</a:t>
            </a:r>
            <a:endParaRPr lang="en-US" sz="1600" dirty="0"/>
          </a:p>
        </p:txBody>
      </p:sp>
      <p:sp>
        <p:nvSpPr>
          <p:cNvPr id="6" name="Text 4"/>
          <p:cNvSpPr txBox="1"/>
          <p:nvPr/>
        </p:nvSpPr>
        <p:spPr>
          <a:xfrm>
            <a:off x="576072" y="1325880"/>
            <a:ext cx="1737360" cy="411480"/>
          </a:xfrm>
          <a:prstGeom prst="rect">
            <a:avLst/>
          </a:prstGeom>
          <a:noFill/>
          <a:ln/>
        </p:spPr>
        <p:txBody>
          <a:bodyPr wrap="square" lIns="0" tIns="0" rIns="0" bIns="0" rtlCol="0" anchor="t"/>
          <a:lstStyle/>
          <a:p>
            <a:pPr indent="0" marL="0">
              <a:buNone/>
            </a:pPr>
            <a:r>
              <a:rPr lang="en-US" sz="1100" b="1" dirty="0">
                <a:solidFill>
                  <a:schemeClr val="tx1"/>
                </a:solidFill>
              </a:rPr>
              <a:t>Data pipeline, versioning, MLflow</a:t>
            </a:r>
            <a:endParaRPr lang="en-US" sz="1100" dirty="0"/>
          </a:p>
        </p:txBody>
      </p:sp>
      <p:sp>
        <p:nvSpPr>
          <p:cNvPr id="7" name="Text 5"/>
          <p:cNvSpPr txBox="1"/>
          <p:nvPr/>
        </p:nvSpPr>
        <p:spPr>
          <a:xfrm>
            <a:off x="576072" y="1755648"/>
            <a:ext cx="1737360" cy="1325880"/>
          </a:xfrm>
          <a:prstGeom prst="rect">
            <a:avLst/>
          </a:prstGeom>
          <a:noFill/>
          <a:ln/>
        </p:spPr>
        <p:txBody>
          <a:bodyPr wrap="square" lIns="0" tIns="0" rIns="0" bIns="0" rtlCol="0" anchor="t"/>
          <a:lstStyle/>
          <a:p>
            <a:pPr indent="0" marL="0">
              <a:buNone/>
            </a:pPr>
            <a:r>
              <a:rPr lang="en-US" sz="1000" dirty="0">
                <a:solidFill>
                  <a:schemeClr val="tx1"/>
                </a:solidFill>
              </a:rPr>
              <a:t>Airflow DAG ccdb_pipeline: ingest → DVC snapshot → clean → quality gate → train. Baselines and TF-IDF model tracked in MLflow; @challenger registered.</a:t>
            </a:r>
            <a:endParaRPr lang="en-US" sz="1000" dirty="0"/>
          </a:p>
        </p:txBody>
      </p:sp>
      <p:sp>
        <p:nvSpPr>
          <p:cNvPr id="8" name="Text 6"/>
          <p:cNvSpPr txBox="1"/>
          <p:nvPr/>
        </p:nvSpPr>
        <p:spPr>
          <a:xfrm>
            <a:off x="576072" y="3108960"/>
            <a:ext cx="1737360" cy="201168"/>
          </a:xfrm>
          <a:prstGeom prst="rect">
            <a:avLst/>
          </a:prstGeom>
          <a:noFill/>
          <a:ln/>
        </p:spPr>
        <p:txBody>
          <a:bodyPr wrap="square" lIns="0" tIns="0" rIns="0" bIns="0" rtlCol="0" anchor="t"/>
          <a:lstStyle/>
          <a:p>
            <a:pPr indent="0" marL="0">
              <a:buNone/>
            </a:pPr>
            <a:r>
              <a:rPr lang="en-US" sz="1000" b="1" dirty="0">
                <a:solidFill>
                  <a:schemeClr val="accent4"/>
                </a:solidFill>
              </a:rPr>
              <a:t>Proves</a:t>
            </a:r>
            <a:endParaRPr lang="en-US" sz="1000" dirty="0"/>
          </a:p>
        </p:txBody>
      </p:sp>
      <p:sp>
        <p:nvSpPr>
          <p:cNvPr id="9" name="Text 7"/>
          <p:cNvSpPr txBox="1"/>
          <p:nvPr/>
        </p:nvSpPr>
        <p:spPr>
          <a:xfrm>
            <a:off x="576072" y="3310128"/>
            <a:ext cx="1737360" cy="914400"/>
          </a:xfrm>
          <a:prstGeom prst="rect">
            <a:avLst/>
          </a:prstGeom>
          <a:noFill/>
          <a:ln/>
        </p:spPr>
        <p:txBody>
          <a:bodyPr wrap="square" lIns="0" tIns="0" rIns="0" bIns="0" rtlCol="0" anchor="t"/>
          <a:lstStyle/>
          <a:p>
            <a:pPr indent="0" marL="0">
              <a:buNone/>
            </a:pPr>
            <a:r>
              <a:rPr lang="en-US" sz="1000" dirty="0">
                <a:solidFill>
                  <a:schemeClr val="tx1"/>
                </a:solidFill>
              </a:rPr>
              <a:t>Data versioned · pipeline idempotent · quality gate (a 2026 month without text fails it) · experiments tracked · model with lineage</a:t>
            </a:r>
            <a:endParaRPr lang="en-US" sz="1000" dirty="0"/>
          </a:p>
        </p:txBody>
      </p:sp>
      <p:sp>
        <p:nvSpPr>
          <p:cNvPr id="10" name="Text 8"/>
          <p:cNvSpPr txBox="1"/>
          <p:nvPr/>
        </p:nvSpPr>
        <p:spPr>
          <a:xfrm>
            <a:off x="576072" y="4279392"/>
            <a:ext cx="1737360" cy="228600"/>
          </a:xfrm>
          <a:prstGeom prst="rect">
            <a:avLst/>
          </a:prstGeom>
          <a:noFill/>
          <a:ln/>
        </p:spPr>
        <p:txBody>
          <a:bodyPr wrap="square" lIns="0" tIns="0" rIns="0" bIns="0" rtlCol="0" anchor="t"/>
          <a:lstStyle/>
          <a:p>
            <a:pPr indent="0" marL="0">
              <a:buNone/>
            </a:pPr>
            <a:r>
              <a:rPr lang="en-US" sz="900" i="1" dirty="0">
                <a:solidFill>
                  <a:schemeClr val="accent5"/>
                </a:solidFill>
              </a:rPr>
              <a:t>Revises §5.2 5.4 6.1 7.2</a:t>
            </a:r>
            <a:endParaRPr lang="en-US" sz="900" dirty="0"/>
          </a:p>
        </p:txBody>
      </p:sp>
      <p:sp>
        <p:nvSpPr>
          <p:cNvPr id="11" name="Shape 9"/>
          <p:cNvSpPr/>
          <p:nvPr/>
        </p:nvSpPr>
        <p:spPr>
          <a:xfrm>
            <a:off x="2560320" y="960120"/>
            <a:ext cx="1965960" cy="3611880"/>
          </a:xfrm>
          <a:prstGeom prst="roundRect">
            <a:avLst>
              <a:gd name="adj" fmla="val 2791"/>
            </a:avLst>
          </a:prstGeom>
          <a:solidFill>
            <a:schemeClr val="bg2"/>
          </a:solidFill>
          <a:ln w="9525">
            <a:solidFill>
              <a:schemeClr val="bg2"/>
            </a:solidFill>
            <a:prstDash val="solid"/>
          </a:ln>
        </p:spPr>
      </p:sp>
      <p:sp>
        <p:nvSpPr>
          <p:cNvPr id="12" name="Text 10"/>
          <p:cNvSpPr txBox="1"/>
          <p:nvPr/>
        </p:nvSpPr>
        <p:spPr>
          <a:xfrm>
            <a:off x="2679192" y="1033272"/>
            <a:ext cx="1737360" cy="292608"/>
          </a:xfrm>
          <a:prstGeom prst="rect">
            <a:avLst/>
          </a:prstGeom>
          <a:noFill/>
          <a:ln/>
        </p:spPr>
        <p:txBody>
          <a:bodyPr wrap="square" lIns="0" tIns="0" rIns="0" bIns="0" rtlCol="0" anchor="t"/>
          <a:lstStyle/>
          <a:p>
            <a:pPr indent="0" marL="0">
              <a:buNone/>
            </a:pPr>
            <a:r>
              <a:rPr lang="en-US" sz="1600" b="1" dirty="0">
                <a:solidFill>
                  <a:schemeClr val="accent2"/>
                </a:solidFill>
              </a:rPr>
              <a:t>Lab 3</a:t>
            </a:r>
            <a:endParaRPr lang="en-US" sz="1600" dirty="0"/>
          </a:p>
        </p:txBody>
      </p:sp>
      <p:sp>
        <p:nvSpPr>
          <p:cNvPr id="13" name="Text 11"/>
          <p:cNvSpPr txBox="1"/>
          <p:nvPr/>
        </p:nvSpPr>
        <p:spPr>
          <a:xfrm>
            <a:off x="2679192" y="1325880"/>
            <a:ext cx="1737360" cy="411480"/>
          </a:xfrm>
          <a:prstGeom prst="rect">
            <a:avLst/>
          </a:prstGeom>
          <a:noFill/>
          <a:ln/>
        </p:spPr>
        <p:txBody>
          <a:bodyPr wrap="square" lIns="0" tIns="0" rIns="0" bIns="0" rtlCol="0" anchor="t"/>
          <a:lstStyle/>
          <a:p>
            <a:pPr indent="0" marL="0">
              <a:buNone/>
            </a:pPr>
            <a:r>
              <a:rPr lang="en-US" sz="1100" b="1" dirty="0">
                <a:solidFill>
                  <a:schemeClr val="tx1"/>
                </a:solidFill>
              </a:rPr>
              <a:t>LLM baseline and retrieval</a:t>
            </a:r>
            <a:endParaRPr lang="en-US" sz="1100" dirty="0"/>
          </a:p>
        </p:txBody>
      </p:sp>
      <p:sp>
        <p:nvSpPr>
          <p:cNvPr id="14" name="Text 12"/>
          <p:cNvSpPr txBox="1"/>
          <p:nvPr/>
        </p:nvSpPr>
        <p:spPr>
          <a:xfrm>
            <a:off x="2679192" y="1755648"/>
            <a:ext cx="1737360" cy="1325880"/>
          </a:xfrm>
          <a:prstGeom prst="rect">
            <a:avLst/>
          </a:prstGeom>
          <a:noFill/>
          <a:ln/>
        </p:spPr>
        <p:txBody>
          <a:bodyPr wrap="square" lIns="0" tIns="0" rIns="0" bIns="0" rtlCol="0" anchor="t"/>
          <a:lstStyle/>
          <a:p>
            <a:pPr indent="0" marL="0">
              <a:buNone/>
            </a:pPr>
            <a:r>
              <a:rPr lang="en-US" sz="1000" dirty="0">
                <a:solidFill>
                  <a:schemeClr val="tx1"/>
                </a:solidFill>
              </a:rPr>
              <a:t>Zero-shot LLM classifier scored against TF-IDF on 1,000 test texts. pgvector index of Ask CFPB + eCFR; cited rationales for manual-queue complaints.</a:t>
            </a:r>
            <a:endParaRPr lang="en-US" sz="1000" dirty="0"/>
          </a:p>
        </p:txBody>
      </p:sp>
      <p:sp>
        <p:nvSpPr>
          <p:cNvPr id="15" name="Text 13"/>
          <p:cNvSpPr txBox="1"/>
          <p:nvPr/>
        </p:nvSpPr>
        <p:spPr>
          <a:xfrm>
            <a:off x="2679192" y="3108960"/>
            <a:ext cx="1737360" cy="201168"/>
          </a:xfrm>
          <a:prstGeom prst="rect">
            <a:avLst/>
          </a:prstGeom>
          <a:noFill/>
          <a:ln/>
        </p:spPr>
        <p:txBody>
          <a:bodyPr wrap="square" lIns="0" tIns="0" rIns="0" bIns="0" rtlCol="0" anchor="t"/>
          <a:lstStyle/>
          <a:p>
            <a:pPr indent="0" marL="0">
              <a:buNone/>
            </a:pPr>
            <a:r>
              <a:rPr lang="en-US" sz="1000" b="1" dirty="0">
                <a:solidFill>
                  <a:schemeClr val="accent4"/>
                </a:solidFill>
              </a:rPr>
              <a:t>Proves</a:t>
            </a:r>
            <a:endParaRPr lang="en-US" sz="1000" dirty="0"/>
          </a:p>
        </p:txBody>
      </p:sp>
      <p:sp>
        <p:nvSpPr>
          <p:cNvPr id="16" name="Text 14"/>
          <p:cNvSpPr txBox="1"/>
          <p:nvPr/>
        </p:nvSpPr>
        <p:spPr>
          <a:xfrm>
            <a:off x="2679192" y="3310128"/>
            <a:ext cx="1737360" cy="914400"/>
          </a:xfrm>
          <a:prstGeom prst="rect">
            <a:avLst/>
          </a:prstGeom>
          <a:noFill/>
          <a:ln/>
        </p:spPr>
        <p:txBody>
          <a:bodyPr wrap="square" lIns="0" tIns="0" rIns="0" bIns="0" rtlCol="0" anchor="t"/>
          <a:lstStyle/>
          <a:p>
            <a:pPr indent="0" marL="0">
              <a:buNone/>
            </a:pPr>
            <a:r>
              <a:rPr lang="en-US" sz="1000" dirty="0">
                <a:solidFill>
                  <a:schemeClr val="tx1"/>
                </a:solidFill>
              </a:rPr>
              <a:t>LLM component evaluated · prompts versioned · tokens, cost, p50/p95 recorded</a:t>
            </a:r>
            <a:endParaRPr lang="en-US" sz="1000" dirty="0"/>
          </a:p>
        </p:txBody>
      </p:sp>
      <p:sp>
        <p:nvSpPr>
          <p:cNvPr id="17" name="Text 15"/>
          <p:cNvSpPr txBox="1"/>
          <p:nvPr/>
        </p:nvSpPr>
        <p:spPr>
          <a:xfrm>
            <a:off x="2679192" y="4279392"/>
            <a:ext cx="1737360" cy="228600"/>
          </a:xfrm>
          <a:prstGeom prst="rect">
            <a:avLst/>
          </a:prstGeom>
          <a:noFill/>
          <a:ln/>
        </p:spPr>
        <p:txBody>
          <a:bodyPr wrap="square" lIns="0" tIns="0" rIns="0" bIns="0" rtlCol="0" anchor="t"/>
          <a:lstStyle/>
          <a:p>
            <a:pPr indent="0" marL="0">
              <a:buNone/>
            </a:pPr>
            <a:r>
              <a:rPr lang="en-US" sz="900" i="1" dirty="0">
                <a:solidFill>
                  <a:schemeClr val="accent5"/>
                </a:solidFill>
              </a:rPr>
              <a:t>Revises §5.3 6.2 6.7</a:t>
            </a:r>
            <a:endParaRPr lang="en-US" sz="900" dirty="0"/>
          </a:p>
        </p:txBody>
      </p:sp>
      <p:sp>
        <p:nvSpPr>
          <p:cNvPr id="18" name="Shape 16"/>
          <p:cNvSpPr/>
          <p:nvPr/>
        </p:nvSpPr>
        <p:spPr>
          <a:xfrm>
            <a:off x="4663440" y="960120"/>
            <a:ext cx="1965960" cy="3611880"/>
          </a:xfrm>
          <a:prstGeom prst="roundRect">
            <a:avLst>
              <a:gd name="adj" fmla="val 2791"/>
            </a:avLst>
          </a:prstGeom>
          <a:solidFill>
            <a:schemeClr val="bg2"/>
          </a:solidFill>
          <a:ln w="9525">
            <a:solidFill>
              <a:schemeClr val="bg2"/>
            </a:solidFill>
            <a:prstDash val="solid"/>
          </a:ln>
        </p:spPr>
      </p:sp>
      <p:sp>
        <p:nvSpPr>
          <p:cNvPr id="19" name="Text 17"/>
          <p:cNvSpPr txBox="1"/>
          <p:nvPr/>
        </p:nvSpPr>
        <p:spPr>
          <a:xfrm>
            <a:off x="4782312" y="1033272"/>
            <a:ext cx="1737360" cy="292608"/>
          </a:xfrm>
          <a:prstGeom prst="rect">
            <a:avLst/>
          </a:prstGeom>
          <a:noFill/>
          <a:ln/>
        </p:spPr>
        <p:txBody>
          <a:bodyPr wrap="square" lIns="0" tIns="0" rIns="0" bIns="0" rtlCol="0" anchor="t"/>
          <a:lstStyle/>
          <a:p>
            <a:pPr indent="0" marL="0">
              <a:buNone/>
            </a:pPr>
            <a:r>
              <a:rPr lang="en-US" sz="1600" b="1" dirty="0">
                <a:solidFill>
                  <a:schemeClr val="accent2"/>
                </a:solidFill>
              </a:rPr>
              <a:t>Lab 4</a:t>
            </a:r>
            <a:endParaRPr lang="en-US" sz="1600" dirty="0"/>
          </a:p>
        </p:txBody>
      </p:sp>
      <p:sp>
        <p:nvSpPr>
          <p:cNvPr id="20" name="Text 18"/>
          <p:cNvSpPr txBox="1"/>
          <p:nvPr/>
        </p:nvSpPr>
        <p:spPr>
          <a:xfrm>
            <a:off x="4782312" y="1325880"/>
            <a:ext cx="1737360" cy="411480"/>
          </a:xfrm>
          <a:prstGeom prst="rect">
            <a:avLst/>
          </a:prstGeom>
          <a:noFill/>
          <a:ln/>
        </p:spPr>
        <p:txBody>
          <a:bodyPr wrap="square" lIns="0" tIns="0" rIns="0" bIns="0" rtlCol="0" anchor="t"/>
          <a:lstStyle/>
          <a:p>
            <a:pPr indent="0" marL="0">
              <a:buNone/>
            </a:pPr>
            <a:r>
              <a:rPr lang="en-US" sz="1100" b="1" dirty="0">
                <a:solidFill>
                  <a:schemeClr val="tx1"/>
                </a:solidFill>
              </a:rPr>
              <a:t>Serving, monitoring, drift</a:t>
            </a:r>
            <a:endParaRPr lang="en-US" sz="1100" dirty="0"/>
          </a:p>
        </p:txBody>
      </p:sp>
      <p:sp>
        <p:nvSpPr>
          <p:cNvPr id="21" name="Text 19"/>
          <p:cNvSpPr txBox="1"/>
          <p:nvPr/>
        </p:nvSpPr>
        <p:spPr>
          <a:xfrm>
            <a:off x="4782312" y="1755648"/>
            <a:ext cx="1737360" cy="1325880"/>
          </a:xfrm>
          <a:prstGeom prst="rect">
            <a:avLst/>
          </a:prstGeom>
          <a:noFill/>
          <a:ln/>
        </p:spPr>
        <p:txBody>
          <a:bodyPr wrap="square" lIns="0" tIns="0" rIns="0" bIns="0" rtlCol="0" anchor="t"/>
          <a:lstStyle/>
          <a:p>
            <a:pPr indent="0" marL="0">
              <a:buNone/>
            </a:pPr>
            <a:r>
              <a:rPr lang="en-US" sz="1000" dirty="0">
                <a:solidFill>
                  <a:schemeClr val="tx1"/>
                </a:solidFill>
              </a:rPr>
              <a:t>API and model images on Minikube with health probes; nightly Evidently; Grafana. Drift replay: the 2023-08 taxonomy change and the credit-reporting surge.</a:t>
            </a:r>
            <a:endParaRPr lang="en-US" sz="1000" dirty="0"/>
          </a:p>
        </p:txBody>
      </p:sp>
      <p:sp>
        <p:nvSpPr>
          <p:cNvPr id="22" name="Text 20"/>
          <p:cNvSpPr txBox="1"/>
          <p:nvPr/>
        </p:nvSpPr>
        <p:spPr>
          <a:xfrm>
            <a:off x="4782312" y="3108960"/>
            <a:ext cx="1737360" cy="201168"/>
          </a:xfrm>
          <a:prstGeom prst="rect">
            <a:avLst/>
          </a:prstGeom>
          <a:noFill/>
          <a:ln/>
        </p:spPr>
        <p:txBody>
          <a:bodyPr wrap="square" lIns="0" tIns="0" rIns="0" bIns="0" rtlCol="0" anchor="t"/>
          <a:lstStyle/>
          <a:p>
            <a:pPr indent="0" marL="0">
              <a:buNone/>
            </a:pPr>
            <a:r>
              <a:rPr lang="en-US" sz="1000" b="1" dirty="0">
                <a:solidFill>
                  <a:schemeClr val="accent4"/>
                </a:solidFill>
              </a:rPr>
              <a:t>Proves</a:t>
            </a:r>
            <a:endParaRPr lang="en-US" sz="1000" dirty="0"/>
          </a:p>
        </p:txBody>
      </p:sp>
      <p:sp>
        <p:nvSpPr>
          <p:cNvPr id="23" name="Text 21"/>
          <p:cNvSpPr txBox="1"/>
          <p:nvPr/>
        </p:nvSpPr>
        <p:spPr>
          <a:xfrm>
            <a:off x="4782312" y="3310128"/>
            <a:ext cx="1737360" cy="914400"/>
          </a:xfrm>
          <a:prstGeom prst="rect">
            <a:avLst/>
          </a:prstGeom>
          <a:noFill/>
          <a:ln/>
        </p:spPr>
        <p:txBody>
          <a:bodyPr wrap="square" lIns="0" tIns="0" rIns="0" bIns="0" rtlCol="0" anchor="t"/>
          <a:lstStyle/>
          <a:p>
            <a:pPr indent="0" marL="0">
              <a:buNone/>
            </a:pPr>
            <a:r>
              <a:rPr lang="en-US" sz="1000" dirty="0">
                <a:solidFill>
                  <a:schemeClr val="tx1"/>
                </a:solidFill>
              </a:rPr>
              <a:t>Services containerized · health contracts · monitoring scheduled · drift alert reaches a human · one-command start</a:t>
            </a:r>
            <a:endParaRPr lang="en-US" sz="1000" dirty="0"/>
          </a:p>
        </p:txBody>
      </p:sp>
      <p:sp>
        <p:nvSpPr>
          <p:cNvPr id="24" name="Text 22"/>
          <p:cNvSpPr txBox="1"/>
          <p:nvPr/>
        </p:nvSpPr>
        <p:spPr>
          <a:xfrm>
            <a:off x="4782312" y="4279392"/>
            <a:ext cx="1737360" cy="228600"/>
          </a:xfrm>
          <a:prstGeom prst="rect">
            <a:avLst/>
          </a:prstGeom>
          <a:noFill/>
          <a:ln/>
        </p:spPr>
        <p:txBody>
          <a:bodyPr wrap="square" lIns="0" tIns="0" rIns="0" bIns="0" rtlCol="0" anchor="t"/>
          <a:lstStyle/>
          <a:p>
            <a:pPr indent="0" marL="0">
              <a:buNone/>
            </a:pPr>
            <a:r>
              <a:rPr lang="en-US" sz="900" i="1" dirty="0">
                <a:solidFill>
                  <a:schemeClr val="accent5"/>
                </a:solidFill>
              </a:rPr>
              <a:t>Revises §6.1 6.3 6.6 7.3</a:t>
            </a:r>
            <a:endParaRPr lang="en-US" sz="900" dirty="0"/>
          </a:p>
        </p:txBody>
      </p:sp>
      <p:sp>
        <p:nvSpPr>
          <p:cNvPr id="25" name="Shape 23"/>
          <p:cNvSpPr/>
          <p:nvPr/>
        </p:nvSpPr>
        <p:spPr>
          <a:xfrm>
            <a:off x="6766560" y="960120"/>
            <a:ext cx="1965960" cy="3611880"/>
          </a:xfrm>
          <a:prstGeom prst="roundRect">
            <a:avLst>
              <a:gd name="adj" fmla="val 2791"/>
            </a:avLst>
          </a:prstGeom>
          <a:solidFill>
            <a:schemeClr val="bg2"/>
          </a:solidFill>
          <a:ln w="9525">
            <a:solidFill>
              <a:schemeClr val="bg2"/>
            </a:solidFill>
            <a:prstDash val="solid"/>
          </a:ln>
        </p:spPr>
      </p:sp>
      <p:sp>
        <p:nvSpPr>
          <p:cNvPr id="26" name="Text 24"/>
          <p:cNvSpPr txBox="1"/>
          <p:nvPr/>
        </p:nvSpPr>
        <p:spPr>
          <a:xfrm>
            <a:off x="6885432" y="1033272"/>
            <a:ext cx="1737360" cy="292608"/>
          </a:xfrm>
          <a:prstGeom prst="rect">
            <a:avLst/>
          </a:prstGeom>
          <a:noFill/>
          <a:ln/>
        </p:spPr>
        <p:txBody>
          <a:bodyPr wrap="square" lIns="0" tIns="0" rIns="0" bIns="0" rtlCol="0" anchor="t"/>
          <a:lstStyle/>
          <a:p>
            <a:pPr indent="0" marL="0">
              <a:buNone/>
            </a:pPr>
            <a:r>
              <a:rPr lang="en-US" sz="1600" b="1" dirty="0">
                <a:solidFill>
                  <a:schemeClr val="accent2"/>
                </a:solidFill>
              </a:rPr>
              <a:t>Lab 5</a:t>
            </a:r>
            <a:endParaRPr lang="en-US" sz="1600" dirty="0"/>
          </a:p>
        </p:txBody>
      </p:sp>
      <p:sp>
        <p:nvSpPr>
          <p:cNvPr id="27" name="Text 25"/>
          <p:cNvSpPr txBox="1"/>
          <p:nvPr/>
        </p:nvSpPr>
        <p:spPr>
          <a:xfrm>
            <a:off x="6885432" y="1325880"/>
            <a:ext cx="1737360" cy="411480"/>
          </a:xfrm>
          <a:prstGeom prst="rect">
            <a:avLst/>
          </a:prstGeom>
          <a:noFill/>
          <a:ln/>
        </p:spPr>
        <p:txBody>
          <a:bodyPr wrap="square" lIns="0" tIns="0" rIns="0" bIns="0" rtlCol="0" anchor="t"/>
          <a:lstStyle/>
          <a:p>
            <a:pPr indent="0" marL="0">
              <a:buNone/>
            </a:pPr>
            <a:r>
              <a:rPr lang="en-US" sz="1100" b="1" dirty="0">
                <a:solidFill>
                  <a:schemeClr val="tx1"/>
                </a:solidFill>
              </a:rPr>
              <a:t>Agentic extension</a:t>
            </a:r>
            <a:endParaRPr lang="en-US" sz="1100" dirty="0"/>
          </a:p>
        </p:txBody>
      </p:sp>
      <p:sp>
        <p:nvSpPr>
          <p:cNvPr id="28" name="Text 26"/>
          <p:cNvSpPr txBox="1"/>
          <p:nvPr/>
        </p:nvSpPr>
        <p:spPr>
          <a:xfrm>
            <a:off x="6885432" y="1755648"/>
            <a:ext cx="1737360" cy="1325880"/>
          </a:xfrm>
          <a:prstGeom prst="rect">
            <a:avLst/>
          </a:prstGeom>
          <a:noFill/>
          <a:ln/>
        </p:spPr>
        <p:txBody>
          <a:bodyPr wrap="square" lIns="0" tIns="0" rIns="0" bIns="0" rtlCol="0" anchor="t"/>
          <a:lstStyle/>
          <a:p>
            <a:pPr indent="0" marL="0">
              <a:buNone/>
            </a:pPr>
            <a:r>
              <a:rPr lang="en-US" sz="1000" dirty="0">
                <a:solidFill>
                  <a:schemeClr val="tx1"/>
                </a:solidFill>
              </a:rPr>
              <a:t>An agent reads drift reports, compares @challenger with @champion by the §5.4 rule and drafts the promotion note; a human approves.</a:t>
            </a:r>
            <a:endParaRPr lang="en-US" sz="1000" dirty="0"/>
          </a:p>
        </p:txBody>
      </p:sp>
      <p:sp>
        <p:nvSpPr>
          <p:cNvPr id="29" name="Text 27"/>
          <p:cNvSpPr txBox="1"/>
          <p:nvPr/>
        </p:nvSpPr>
        <p:spPr>
          <a:xfrm>
            <a:off x="6885432" y="3108960"/>
            <a:ext cx="1737360" cy="201168"/>
          </a:xfrm>
          <a:prstGeom prst="rect">
            <a:avLst/>
          </a:prstGeom>
          <a:noFill/>
          <a:ln/>
        </p:spPr>
        <p:txBody>
          <a:bodyPr wrap="square" lIns="0" tIns="0" rIns="0" bIns="0" rtlCol="0" anchor="t"/>
          <a:lstStyle/>
          <a:p>
            <a:pPr indent="0" marL="0">
              <a:buNone/>
            </a:pPr>
            <a:r>
              <a:rPr lang="en-US" sz="1000" b="1" dirty="0">
                <a:solidFill>
                  <a:schemeClr val="accent4"/>
                </a:solidFill>
              </a:rPr>
              <a:t>Proves</a:t>
            </a:r>
            <a:endParaRPr lang="en-US" sz="1000" dirty="0"/>
          </a:p>
        </p:txBody>
      </p:sp>
      <p:sp>
        <p:nvSpPr>
          <p:cNvPr id="30" name="Text 28"/>
          <p:cNvSpPr txBox="1"/>
          <p:nvPr/>
        </p:nvSpPr>
        <p:spPr>
          <a:xfrm>
            <a:off x="6885432" y="3310128"/>
            <a:ext cx="1737360" cy="914400"/>
          </a:xfrm>
          <a:prstGeom prst="rect">
            <a:avLst/>
          </a:prstGeom>
          <a:noFill/>
          <a:ln/>
        </p:spPr>
        <p:txBody>
          <a:bodyPr wrap="square" lIns="0" tIns="0" rIns="0" bIns="0" rtlCol="0" anchor="t"/>
          <a:lstStyle/>
          <a:p>
            <a:pPr indent="0" marL="0">
              <a:buNone/>
            </a:pPr>
            <a:r>
              <a:rPr lang="en-US" sz="1000" dirty="0">
                <a:solidFill>
                  <a:schemeClr val="tx1"/>
                </a:solidFill>
              </a:rPr>
              <a:t>Agent traced and evaluated: ten tasks, run twice</a:t>
            </a:r>
            <a:endParaRPr lang="en-US" sz="1000" dirty="0"/>
          </a:p>
        </p:txBody>
      </p:sp>
      <p:sp>
        <p:nvSpPr>
          <p:cNvPr id="31" name="Text 29"/>
          <p:cNvSpPr txBox="1"/>
          <p:nvPr/>
        </p:nvSpPr>
        <p:spPr>
          <a:xfrm>
            <a:off x="6885432" y="4279392"/>
            <a:ext cx="1737360" cy="228600"/>
          </a:xfrm>
          <a:prstGeom prst="rect">
            <a:avLst/>
          </a:prstGeom>
          <a:noFill/>
          <a:ln/>
        </p:spPr>
        <p:txBody>
          <a:bodyPr wrap="square" lIns="0" tIns="0" rIns="0" bIns="0" rtlCol="0" anchor="t"/>
          <a:lstStyle/>
          <a:p>
            <a:pPr indent="0" marL="0">
              <a:buNone/>
            </a:pPr>
            <a:r>
              <a:rPr lang="en-US" sz="900" i="1" dirty="0">
                <a:solidFill>
                  <a:schemeClr val="accent5"/>
                </a:solidFill>
              </a:rPr>
              <a:t>Revises §6.8 7.4</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01168"/>
            <a:ext cx="8229600" cy="411480"/>
          </a:xfrm>
          <a:prstGeom prst="rect">
            <a:avLst/>
          </a:prstGeom>
          <a:noFill/>
          <a:ln/>
        </p:spPr>
        <p:txBody>
          <a:bodyPr wrap="square" lIns="0" tIns="0" rIns="0" bIns="0" rtlCol="0" anchor="t"/>
          <a:lstStyle/>
          <a:p>
            <a:pPr algn="l" indent="0" marL="0">
              <a:buNone/>
            </a:pPr>
            <a:r>
              <a:rPr lang="en-US" sz="2400" b="1" dirty="0">
                <a:solidFill>
                  <a:schemeClr val="tx1"/>
                </a:solidFill>
              </a:rPr>
              <a:t>Where to find everything</a:t>
            </a:r>
            <a:endParaRPr lang="en-US" sz="2400" dirty="0"/>
          </a:p>
        </p:txBody>
      </p:sp>
      <p:sp>
        <p:nvSpPr>
          <p:cNvPr id="3" name="Text 0"/>
          <p:cNvSpPr/>
          <p:nvPr>
            <p:ph idx="101" type="body" hasCustomPrompt="1"/>
          </p:nvPr>
        </p:nvSpPr>
        <p:spPr>
          <a:xfrm>
            <a:off x="457200" y="603504"/>
            <a:ext cx="8229600" cy="274320"/>
          </a:xfrm>
          <a:prstGeom prst="rect">
            <a:avLst/>
          </a:prstGeom>
          <a:noFill/>
          <a:ln/>
        </p:spPr>
        <p:txBody>
          <a:bodyPr wrap="square" lIns="0" tIns="0" rIns="0" bIns="0" rtlCol="0" anchor="t"/>
          <a:lstStyle/>
          <a:p>
            <a:pPr algn="l" indent="0" marL="0">
              <a:buNone/>
            </a:pPr>
            <a:r>
              <a:rPr lang="en-US" sz="1200" i="1" dirty="0">
                <a:solidFill>
                  <a:schemeClr val="accent5"/>
                </a:solidFill>
              </a:rPr>
              <a:t>Everything here can be checked and reproduced from github.com/goodfrog33/kse-mlops-complaint-router (tag lab-1).</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394960" cy="914400"/>
        </p:xfrm>
        <a:graphic>
          <a:graphicData uri="http://schemas.openxmlformats.org/drawingml/2006/table">
            <a:tbl>
              <a:tblPr/>
              <a:tblGrid>
                <a:gridCol w="2788920"/>
                <a:gridCol w="2606040"/>
              </a:tblGrid>
              <a:tr h="0">
                <a:tc>
                  <a:txBody>
                    <a:bodyPr/>
                    <a:lstStyle/>
                    <a:p>
                      <a:pPr indent="0" marL="0">
                        <a:buNone/>
                      </a:pPr>
                      <a:r>
                        <a:rPr lang="en-US" sz="1000" b="1" dirty="0">
                          <a:solidFill>
                            <a:schemeClr val="bg1"/>
                          </a:solidFill>
                        </a:rPr>
                        <a:t>Path</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rPr>
                        <a:t>What it is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solidFill>
                      <a:schemeClr val="accent2"/>
                    </a:solidFill>
                  </a:tcPr>
                </a:tc>
              </a:tr>
              <a:tr h="0">
                <a:tc>
                  <a:txBody>
                    <a:bodyPr/>
                    <a:lstStyle/>
                    <a:p>
                      <a:pPr indent="0" marL="0">
                        <a:buNone/>
                      </a:pPr>
                      <a:r>
                        <a:rPr lang="en-US" sz="1000" b="1" dirty="0">
                          <a:solidFill>
                            <a:schemeClr val="tx1"/>
                          </a:solidFill>
                        </a:rPr>
                        <a:t>docs/design.md</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Design document, sections 1–7.4, with the three diagrams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docs/data-profile.md</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All data numbers in this deck, by year, month, product and class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scripts/profile_data.py</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Recomputes the profile and the sample from the raw files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data/sample/complaints_sample.csv</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200 real complaints, 20 per class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configs/taxonomy_map.csv</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20 CFPB product names → 10 classes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pyproject.toml, uv.lock, Makefile</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Pinned environment; make setup, make lint</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r h="0">
                <a:tc>
                  <a:txBody>
                    <a:bodyPr/>
                    <a:lstStyle/>
                    <a:p>
                      <a:pPr indent="0" marL="0">
                        <a:buNone/>
                      </a:pPr>
                      <a:r>
                        <a:rPr lang="en-US" sz="1000" b="1" dirty="0">
                          <a:solidFill>
                            <a:schemeClr val="tx1"/>
                          </a:solidFill>
                        </a:rPr>
                        <a:t>.pre-commit-config.yaml, .github/workflows/</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c>
                  <a:txBody>
                    <a:bodyPr/>
                    <a:lstStyle/>
                    <a:p>
                      <a:pPr indent="0" marL="0">
                        <a:buNone/>
                      </a:pPr>
                      <a:r>
                        <a:rPr lang="en-US" sz="1000" dirty="0">
                          <a:solidFill>
                            <a:schemeClr val="tx1"/>
                          </a:solidFill>
                        </a:rPr>
                        <a:t>The same linter on every commit and push</a:t>
                      </a:r>
                      <a:endParaRPr lang="en-US" sz="1000" dirty="0"/>
                    </a:p>
                  </a:txBody>
                  <a:tcPr marL="45720" marR="45720" marT="45720" marB="45720" anchor="ctr">
                    <a:lnL w="6350" cap="flat" cmpd="sng" algn="ctr">
                      <a:solidFill>
                        <a:srgbClr val="D3DAE2"/>
                      </a:solidFill>
                      <a:prstDash val="solid"/>
                      <a:round/>
                      <a:headEnd type="none" w="med" len="med"/>
                      <a:tailEnd type="none" w="med" len="med"/>
                    </a:lnL>
                    <a:lnR w="6350" cap="flat" cmpd="sng" algn="ctr">
                      <a:solidFill>
                        <a:srgbClr val="D3DAE2"/>
                      </a:solidFill>
                      <a:prstDash val="solid"/>
                      <a:round/>
                      <a:headEnd type="none" w="med" len="med"/>
                      <a:tailEnd type="none" w="med" len="med"/>
                    </a:lnR>
                    <a:lnT w="6350" cap="flat" cmpd="sng" algn="ctr">
                      <a:solidFill>
                        <a:srgbClr val="D3DAE2"/>
                      </a:solidFill>
                      <a:prstDash val="solid"/>
                      <a:round/>
                      <a:headEnd type="none" w="med" len="med"/>
                      <a:tailEnd type="none" w="med" len="med"/>
                    </a:lnT>
                    <a:lnB w="6350" cap="flat" cmpd="sng" algn="ctr">
                      <a:solidFill>
                        <a:srgbClr val="D3DAE2"/>
                      </a:solidFill>
                      <a:prstDash val="solid"/>
                      <a:round/>
                      <a:headEnd type="none" w="med" len="med"/>
                      <a:tailEnd type="none" w="med" len="med"/>
                    </a:lnB>
                  </a:tcPr>
                </a:tc>
              </a:tr>
            </a:tbl>
          </a:graphicData>
        </a:graphic>
      </p:graphicFrame>
      <p:sp>
        <p:nvSpPr>
          <p:cNvPr id="5" name="Shape 2"/>
          <p:cNvSpPr/>
          <p:nvPr/>
        </p:nvSpPr>
        <p:spPr>
          <a:xfrm>
            <a:off x="6080760" y="960120"/>
            <a:ext cx="2606040" cy="3611880"/>
          </a:xfrm>
          <a:prstGeom prst="roundRect">
            <a:avLst>
              <a:gd name="adj" fmla="val 2105"/>
            </a:avLst>
          </a:prstGeom>
          <a:solidFill>
            <a:srgbClr val="E4EEF3"/>
          </a:solidFill>
          <a:ln w="9525">
            <a:solidFill>
              <a:srgbClr val="E4EEF3"/>
            </a:solidFill>
            <a:prstDash val="solid"/>
          </a:ln>
        </p:spPr>
      </p:sp>
      <p:sp>
        <p:nvSpPr>
          <p:cNvPr id="6" name="Text 3"/>
          <p:cNvSpPr txBox="1"/>
          <p:nvPr/>
        </p:nvSpPr>
        <p:spPr>
          <a:xfrm>
            <a:off x="6217920" y="1051560"/>
            <a:ext cx="2377440" cy="274320"/>
          </a:xfrm>
          <a:prstGeom prst="rect">
            <a:avLst/>
          </a:prstGeom>
          <a:noFill/>
          <a:ln/>
        </p:spPr>
        <p:txBody>
          <a:bodyPr wrap="square" lIns="0" tIns="0" rIns="0" bIns="0" rtlCol="0" anchor="t"/>
          <a:lstStyle/>
          <a:p>
            <a:pPr indent="0" marL="0">
              <a:buNone/>
            </a:pPr>
            <a:r>
              <a:rPr lang="en-US" sz="1400" b="1" dirty="0">
                <a:solidFill>
                  <a:schemeClr val="accent2"/>
                </a:solidFill>
              </a:rPr>
              <a:t>Check it</a:t>
            </a:r>
            <a:endParaRPr lang="en-US" sz="1400" dirty="0"/>
          </a:p>
        </p:txBody>
      </p:sp>
      <p:sp>
        <p:nvSpPr>
          <p:cNvPr id="7" name="Text 4"/>
          <p:cNvSpPr txBox="1"/>
          <p:nvPr/>
        </p:nvSpPr>
        <p:spPr>
          <a:xfrm>
            <a:off x="6217920" y="1371600"/>
            <a:ext cx="2377440" cy="73152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git clone …</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make setup</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make lint</a:t>
            </a:r>
            <a:endParaRPr lang="en-US" sz="1100" dirty="0"/>
          </a:p>
        </p:txBody>
      </p:sp>
      <p:sp>
        <p:nvSpPr>
          <p:cNvPr id="8" name="Text 5"/>
          <p:cNvSpPr txBox="1"/>
          <p:nvPr/>
        </p:nvSpPr>
        <p:spPr>
          <a:xfrm>
            <a:off x="6217920" y="2148840"/>
            <a:ext cx="2377440" cy="548640"/>
          </a:xfrm>
          <a:prstGeom prst="rect">
            <a:avLst/>
          </a:prstGeom>
          <a:noFill/>
          <a:ln/>
        </p:spPr>
        <p:txBody>
          <a:bodyPr wrap="square" lIns="0" tIns="0" rIns="0" bIns="0" rtlCol="0" anchor="t"/>
          <a:lstStyle/>
          <a:p>
            <a:pPr indent="0" marL="0">
              <a:buNone/>
            </a:pPr>
            <a:r>
              <a:rPr lang="en-US" sz="1100" dirty="0">
                <a:solidFill>
                  <a:schemeClr val="tx1"/>
                </a:solidFill>
              </a:rPr>
              <a:t>Both pass on a clean clone; CI runs make lint on every push.</a:t>
            </a:r>
            <a:endParaRPr lang="en-US" sz="1100" dirty="0"/>
          </a:p>
        </p:txBody>
      </p:sp>
      <p:sp>
        <p:nvSpPr>
          <p:cNvPr id="9" name="Text 6"/>
          <p:cNvSpPr txBox="1"/>
          <p:nvPr/>
        </p:nvSpPr>
        <p:spPr>
          <a:xfrm>
            <a:off x="6217920" y="2788920"/>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Reproduce the data numbers</a:t>
            </a:r>
            <a:endParaRPr lang="en-US" sz="1200" dirty="0"/>
          </a:p>
        </p:txBody>
      </p:sp>
      <p:sp>
        <p:nvSpPr>
          <p:cNvPr id="10" name="Text 7"/>
          <p:cNvSpPr txBox="1"/>
          <p:nvPr/>
        </p:nvSpPr>
        <p:spPr>
          <a:xfrm>
            <a:off x="6217920" y="3090672"/>
            <a:ext cx="2377440" cy="914400"/>
          </a:xfrm>
          <a:prstGeom prst="rect">
            <a:avLst/>
          </a:prstGeom>
          <a:noFill/>
          <a:ln/>
        </p:spPr>
        <p:txBody>
          <a:bodyPr wrap="square" lIns="0" tIns="0" rIns="0" bIns="0" rtlCol="0" anchor="t"/>
          <a:lstStyle/>
          <a:p>
            <a:pPr indent="0" marL="0">
              <a:buNone/>
            </a:pPr>
            <a:r>
              <a:rPr lang="en-US" sz="1100" dirty="0">
                <a:solidFill>
                  <a:schemeClr val="tx1"/>
                </a:solidFill>
              </a:rPr>
              <a:t>Download steps in docs/data-profile.md, then</a:t>
            </a:r>
            <a:endParaRPr lang="en-US" sz="1100" dirty="0"/>
          </a:p>
          <a:p>
            <a:pPr indent="0" marL="0">
              <a:buNone/>
            </a:pPr>
            <a:r>
              <a:rPr lang="en-US" sz="1100" dirty="0">
                <a:solidFill>
                  <a:schemeClr val="tx1"/>
                </a:solidFill>
              </a:rPr>
              <a:t>uv run python scripts/profile_data.py</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6B7785"/>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Complaint Router">
  <a:themeElements>
    <a:clrScheme name="Complaint Router">
      <a:dk1>
        <a:srgbClr val="1C2733"/>
      </a:dk1>
      <a:lt1>
        <a:srgbClr val="FFFFFF"/>
      </a:lt1>
      <a:dk2>
        <a:srgbClr val="2A3B4D"/>
      </a:dk2>
      <a:lt2>
        <a:srgbClr val="F1F4F7"/>
      </a:lt2>
      <a:accent1>
        <a:srgbClr val="C9741F"/>
      </a:accent1>
      <a:accent2>
        <a:srgbClr val="2F6F8F"/>
      </a:accent2>
      <a:accent3>
        <a:srgbClr val="B3261E"/>
      </a:accent3>
      <a:accent4>
        <a:srgbClr val="3F7D4E"/>
      </a:accent4>
      <a:accent5>
        <a:srgbClr val="6B7785"/>
      </a:accent5>
      <a:accent6>
        <a:srgbClr val="6E5A8C"/>
      </a:accent6>
      <a:hlink>
        <a:srgbClr val="2F6F8F"/>
      </a:hlink>
      <a:folHlink>
        <a:srgbClr val="6E5A8C"/>
      </a:folHlink>
    </a:clrScheme>
    <a:fontScheme name="Complaint 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complaint-router: Lab 1 use case and system design</dc:title>
  <dc:subject>PptxGenJS Presentation</dc:subject>
  <dc:creator>Zakhar Staryk</dc:creator>
  <cp:lastModifiedBy>Zakhar Staryk</cp:lastModifiedBy>
  <cp:revision>1</cp:revision>
  <dcterms:created xsi:type="dcterms:W3CDTF">2026-10-17T18:02:55Z</dcterms:created>
  <dcterms:modified xsi:type="dcterms:W3CDTF">2026-10-17T18:02:55Z</dcterms:modified>
</cp:coreProperties>
</file>