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c4fbc84-31cd-eda0-9078-8c99181033b1}">
          <p14:sldIdLst>
            <p14:sldId id="256"/>
            <p14:sldId id="257"/>
          </p14:sldIdLst>
        </p14:section>
        <p14:section name="Data" id="{dcf8dced-264c-f65d-00f1-0fcfaee98785}">
          <p14:sldIdLst>
            <p14:sldId id="258"/>
          </p14:sldIdLst>
        </p14:section>
        <p14:section name="Pipeline" id="{8c692aa1-8c07-1dce-2c81-dfeb4b31d1a4}">
          <p14:sldIdLst>
            <p14:sldId id="259"/>
            <p14:sldId id="260"/>
            <p14:sldId id="261"/>
          </p14:sldIdLst>
        </p14:section>
        <p14:section name="Model" id="{945ea358-51ac-7b06-cfcf-6cc3e9201ae4}">
          <p14:sldIdLst>
            <p14:sldId id="262"/>
            <p14:sldId id="263"/>
          </p14:sldIdLst>
        </p14:section>
        <p14:section name="Evidence" id="{8e678a62-aa20-7d27-dd25-c11b730a1dae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733"/>
                </a:solidFill>
                <a:latin typeface="+mn-lt"/>
              </a:rPr>
              <a:t>For real: text share per month vs gate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share, %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38.9</c:v>
                </c:pt>
                <c:pt idx="1">
                  <c:v>26.8</c:v>
                </c:pt>
                <c:pt idx="2">
                  <c:v>26.9</c:v>
                </c:pt>
                <c:pt idx="3">
                  <c:v>24.6</c:v>
                </c:pt>
                <c:pt idx="4">
                  <c:v>26.7</c:v>
                </c:pt>
                <c:pt idx="5">
                  <c:v>27.9</c:v>
                </c:pt>
                <c:pt idx="6">
                  <c:v>27.1</c:v>
                </c:pt>
                <c:pt idx="7">
                  <c:v>21.1</c:v>
                </c:pt>
                <c:pt idx="8">
                  <c:v>16.2</c:v>
                </c:pt>
                <c:pt idx="9">
                  <c:v>14.4</c:v>
                </c:pt>
                <c:pt idx="10">
                  <c:v>15.8</c:v>
                </c:pt>
                <c:pt idx="11">
                  <c:v>10</c:v>
                </c:pt>
                <c:pt idx="12">
                  <c:v>3.6</c:v>
                </c:pt>
                <c:pt idx="13">
                  <c:v>2.8</c:v>
                </c:pt>
                <c:pt idx="14">
                  <c:v>3</c:v>
                </c:pt>
                <c:pt idx="15">
                  <c:v>3.8</c:v>
                </c:pt>
                <c:pt idx="16">
                  <c:v>1</c:v>
                </c:pt>
                <c:pt idx="17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Gate 13%</c:v>
                </c:pt>
              </c:strCache>
            </c:strRef>
          </c:tx>
          <c:spPr>
            <a:solidFill>
              <a:srgbClr val="B3261E"/>
            </a:solidFill>
            <a:ln w="25400" cap="flat">
              <a:solidFill>
                <a:srgbClr val="B326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13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13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7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733"/>
                </a:solidFill>
                <a:latin typeface="+mn-lt"/>
              </a:rPr>
              <a:t>Test macro-F1, 2025-07 → 2025-09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macro-F1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Majority class</c:v>
                  </c:pt>
                  <c:pt idx="1">
                    <c:v>Keyword rule</c:v>
                  </c:pt>
                  <c:pt idx="2">
                    <c:v>TF-IDF + LogReg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0.089</c:v>
                </c:pt>
                <c:pt idx="1">
                  <c:v>0.384</c:v>
                </c:pt>
                <c:pt idx="2">
                  <c:v>0.638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C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vervie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OVERVIEW  ·  complaint-router  ·  KSE MLOps Lab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DATA  ·  complaint-router  ·  KSE MLOps Lab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p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PIPELINE  ·  complaint-router  ·  KSE MLOps Lab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od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MODEL  ·  complaint-router  ·  KSE MLOps Lab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Evid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EVIDENCE  ·  complaint-router  ·  KSE MLOps Lab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complaint-router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11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Lab 2: data pipeline, versioning, baseline and MLflow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KSE MLOps · Lab 2 · Zakhar Staryk · github.com/goodfrog33/kse-mlops-complaint-router · tag lab-2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monthly batches through Airflow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0.638 vs 0.384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macro-F1, model vs rule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0.0000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reproduce difference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Data versioned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117,000 complaints, 39 months, DVC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MinIO remote + public read-only mirror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Pipeline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Airflow 3.3.1, six tasks, one month per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Reruns leave identical rows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Quality gate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Fails on purpose (fault injection)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Fails for real: 2025-12 → 2026-06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Model and lineage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TF-IDF 0.638 vs keyword rule 0.384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MLflow v2 @champion, reproduced exactly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Raw data is versioned with DVC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94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39 monthly CSVs × 3,000 complaints (66 MB)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Drawn by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hash of complaint_id: uniform, byte-identical reruns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version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0319edfe2ad83a39d4d8241602a462f8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Remotes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MinIO s3://dvc · public HTTP mirror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Pull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make data · make data-public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Checksum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0bba9005abf7d408af110f7a192fc13a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89320" y="914400"/>
            <a:ext cx="269748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39 CSV files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data/raw/ccdb_sample/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33488" y="1572768"/>
            <a:ext cx="0" cy="21031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989320" y="1783080"/>
            <a:ext cx="269748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.dvc file in Git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hash 0319edfe…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33488" y="2441448"/>
            <a:ext cx="0" cy="21031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989320" y="265176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E4EEF3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MinIO remote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make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33488" y="3310128"/>
            <a:ext cx="0" cy="210312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989320" y="3520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E4EEF3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Public mirror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make data-public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Airflow run per month, never the clock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extract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210312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56232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44952" y="1417320"/>
            <a:ext cx="210312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55264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43984" y="1417320"/>
            <a:ext cx="210312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54296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43016" y="1417320"/>
            <a:ext cx="210312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53328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build_features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42048" y="1417320"/>
            <a:ext cx="210312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1143000"/>
            <a:ext cx="118872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quality_check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26060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084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Batch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data_interval_start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011680"/>
            <a:ext cx="26060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2084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Schedule (@monthly)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CronDataIntervalTimetable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011680"/>
            <a:ext cx="26060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084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Concurrency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months at once: 39 in 113 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260604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raw.complaints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 published, text columns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3675888"/>
            <a:ext cx="18288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46120" y="3246120"/>
            <a:ext cx="260604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55848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dwh.complaints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355848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typed, mapped, PII-masked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52160" y="3675888"/>
            <a:ext cx="18288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3246120"/>
            <a:ext cx="260604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44768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features.complaint_features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144768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feature_version, data_version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PostgreSQL warehouse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Rerunning a month leaves identical rows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24231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Run 1 · 2024-06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raw.complaints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dwh.complaints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checks passed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 /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960120"/>
          <a:ext cx="24231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Run 2 · 2024-06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raw.complaints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dwh.complaints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checks passed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 /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806440" y="960120"/>
            <a:ext cx="2880360" cy="2286000"/>
          </a:xfrm>
          <a:prstGeom prst="roundRect">
            <a:avLst>
              <a:gd name="adj" fmla="val 2400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8932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Content hash, before and after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98932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e15aa30f…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989320" y="201168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8932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IDENTICAL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989320" y="2423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md5 of every feature row of the month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Why: every load deletes the month, then inserts it, in one transaction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&lt;table&gt; where batch_month = %s;  copy &lt;table&gt; from stdin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quality gate fails when it should</a:t>
            </a:r>
            <a:endParaRPr lang="en-US" sz="2400" dirty="0"/>
          </a:p>
        </p:txBody>
      </p:sp>
      <p:pic>
        <p:nvPicPr>
          <p:cNvPr id="3" name="Image 0" descr="/Users/zakharstaryk/PycharmProjects/kse-mlops-complaint-router/docs/img/quality_gate_fai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206240" cy="23682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42900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FBEDEC"/>
          </a:solidFill>
          <a:ln w="9525">
            <a:solidFill>
              <a:srgbClr val="FBED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 purpose: FAULT=null_narratives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text_share=0 (want &gt;= 0.13); feature_rows=0 (want &gt; 0)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868680"/>
          <a:ext cx="3931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Every feature has a serving-time source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Serving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dwh narrative, clean_text_expr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request, clean_text (tested equal)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submitted_via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CFPB field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request; missing → unknown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CFPB field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request; missing → unknown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company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normalized 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dropped: sources differ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914400"/>
            <a:ext cx="3063240" cy="3657600"/>
          </a:xfrm>
          <a:prstGeom prst="roundRect">
            <a:avLst>
              <a:gd name="adj" fmla="val 1791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Feast: point-in-time join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Complaint on 2024-07-15; feature rows at 07-01 and 08-01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011680"/>
          <a:ext cx="26974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4864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Company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Ally Financial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American Express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Affirm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06440" y="3749040"/>
            <a:ext cx="2697480" cy="256032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06440" y="3749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EARLIER ROW EVERY TIME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4114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feast-demo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model beats the rule on every split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4389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1440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Backtest month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2025-07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0.652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0.374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2025-08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0.682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0.377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2025-09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0.405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mean ± std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0.684 ± 0.026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0.385 ± 0.014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29200" y="3200400"/>
            <a:ext cx="365760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212080" y="3319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Random split: 0.591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212080" y="36850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inflation on this uniform 0.5% sample; time split kept because it matches use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Every run carries its data version and commit</a:t>
            </a:r>
            <a:endParaRPr lang="en-US" sz="2400" dirty="0"/>
          </a:p>
        </p:txBody>
      </p:sp>
      <p:pic>
        <p:nvPicPr>
          <p:cNvPr id="3" name="Image 0" descr="/Users/zakharstaryk/PycharmProjects/kse-mlops-complaint-router/docs/img/mlflow_model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120640" cy="2880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06440" y="914400"/>
            <a:ext cx="28803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Server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MLflow 3.16.1 · Postgres backend · MinIO artifacts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901952"/>
            <a:ext cx="28803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Registered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2677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complaint-router v2 · @champion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6440" y="2889504"/>
            <a:ext cx="28803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Lineage tags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255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data_version · git_commit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 baselines, backtest folds and the random-split check are logged with the same tags.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command reproduces the champion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745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Read tags from registry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371600"/>
            <a:ext cx="22860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005840"/>
            <a:ext cx="18745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git worktree at commit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22860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18745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dvc pull + hash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371600"/>
            <a:ext cx="22860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005840"/>
            <a:ext cx="18745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4. Rebuild features, retrain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1417320"/>
          </a:xfrm>
          <a:prstGeom prst="rect">
            <a:avLst/>
          </a:prstGeom>
          <a:solidFill>
            <a:srgbClr val="1C2733"/>
          </a:solidFill>
          <a:ln w="6350">
            <a:solidFill>
              <a:srgbClr val="1C27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194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3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reproduce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2: commit 45cb4224fe, data 0319edfe…, test_macro_f1 0.6378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0.6378  reproduced 0.6378  |diff| 0.0000  tolerance 0.005  -&gt; OK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0.0000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difference on the same platform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0.005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tolerance: BLAS and thread differences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Lab 2 rows of the maturity scorecard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Data versioned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make data-public restores 39 files, checksum 0bba9005…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Pipeline idempotent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2024-06 twice: 3000 / 3000 / 1013, same hash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Quality gate present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fault fails quality_check; 2025-12 → 2026-06 fail for real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Experiments tracked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every run: params, metrics, data_version, git_commit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Model registered with lineage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v2 @champion; make reproduce → diff 0.0000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91440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Run it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data-seed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backfill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train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reproduce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CI: lint, unit and pipeline tests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laint Router">
  <a:themeElements>
    <a:clrScheme name="Complaint Router">
      <a:dk1>
        <a:srgbClr val="1C2733"/>
      </a:dk1>
      <a:lt1>
        <a:srgbClr val="FFFFFF"/>
      </a:lt1>
      <a:dk2>
        <a:srgbClr val="2A3B4D"/>
      </a:dk2>
      <a:lt2>
        <a:srgbClr val="F1F4F7"/>
      </a:lt2>
      <a:accent1>
        <a:srgbClr val="C9741F"/>
      </a:accent1>
      <a:accent2>
        <a:srgbClr val="2F6F8F"/>
      </a:accent2>
      <a:accent3>
        <a:srgbClr val="B3261E"/>
      </a:accent3>
      <a:accent4>
        <a:srgbClr val="3F7D4E"/>
      </a:accent4>
      <a:accent5>
        <a:srgbClr val="6B7785"/>
      </a:accent5>
      <a:accent6>
        <a:srgbClr val="6E5A8C"/>
      </a:accent6>
      <a:hlink>
        <a:srgbClr val="2F6F8F"/>
      </a:hlink>
      <a:folHlink>
        <a:srgbClr val="6E5A8C"/>
      </a:folHlink>
    </a:clrScheme>
    <a:fontScheme name="Complaint Rou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complaint-router: Lab 2 data pipeline, versioning, baseline and MLflow</dc:title>
  <dc:subject>PptxGenJS Presentation</dc:subject>
  <dc:creator>Zakhar Staryk</dc:creator>
  <cp:lastModifiedBy>Zakhar Staryk</cp:lastModifiedBy>
  <cp:revision>1</cp:revision>
  <dcterms:created xsi:type="dcterms:W3CDTF">2026-10-22T22:56:25Z</dcterms:created>
  <dcterms:modified xsi:type="dcterms:W3CDTF">2026-10-22T22:56:25Z</dcterms:modified>
</cp:coreProperties>
</file>