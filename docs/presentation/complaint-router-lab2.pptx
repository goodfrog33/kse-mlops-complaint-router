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522357b4-7560-d8eb-42c5-a5f24a8d63a5}">
          <p14:sldIdLst>
            <p14:sldId id="256"/>
            <p14:sldId id="257"/>
          </p14:sldIdLst>
        </p14:section>
        <p14:section name="Data" id="{e4a85df7-8974-524d-432f-5a0125407fb9}">
          <p14:sldIdLst>
            <p14:sldId id="258"/>
          </p14:sldIdLst>
        </p14:section>
        <p14:section name="Pipeline" id="{7414acdf-47bb-debc-63f5-57ca18ad64e3}">
          <p14:sldIdLst>
            <p14:sldId id="259"/>
            <p14:sldId id="260"/>
            <p14:sldId id="261"/>
          </p14:sldIdLst>
        </p14:section>
        <p14:section name="Model" id="{f8732e87-5439-1fcf-4a6d-5860343cd455}">
          <p14:sldIdLst>
            <p14:sldId id="262"/>
            <p14:sldId id="263"/>
          </p14:sldIdLst>
        </p14:section>
        <p14:section name="Evidence" id="{8f4ed84e-e586-81e3-4801-9b35d23b83ca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7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733"/>
                </a:solidFill>
                <a:latin typeface="+mn-lt"/>
              </a:rPr>
              <a:t>For real: text share per month vs gate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Text share, %</c:v>
                </c:pt>
              </c:strCache>
            </c:strRef>
          </c:tx>
          <c:spPr>
            <a:solidFill>
              <a:srgbClr val="2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7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25-01</c:v>
                  </c:pt>
                  <c:pt idx="1">
                    <c:v>25-02</c:v>
                  </c:pt>
                  <c:pt idx="2">
                    <c:v>25-03</c:v>
                  </c:pt>
                  <c:pt idx="3">
                    <c:v>25-04</c:v>
                  </c:pt>
                  <c:pt idx="4">
                    <c:v>25-05</c:v>
                  </c:pt>
                  <c:pt idx="5">
                    <c:v>25-06</c:v>
                  </c:pt>
                  <c:pt idx="6">
                    <c:v>25-07</c:v>
                  </c:pt>
                  <c:pt idx="7">
                    <c:v>25-08</c:v>
                  </c:pt>
                  <c:pt idx="8">
                    <c:v>25-09</c:v>
                  </c:pt>
                  <c:pt idx="9">
                    <c:v>25-10</c:v>
                  </c:pt>
                  <c:pt idx="10">
                    <c:v>25-11</c:v>
                  </c:pt>
                  <c:pt idx="11">
                    <c:v>25-12</c:v>
                  </c:pt>
                  <c:pt idx="12">
                    <c:v>26-01</c:v>
                  </c:pt>
                  <c:pt idx="13">
                    <c:v>26-02</c:v>
                  </c:pt>
                  <c:pt idx="14">
                    <c:v>26-03</c:v>
                  </c:pt>
                  <c:pt idx="15">
                    <c:v>26-04</c:v>
                  </c:pt>
                  <c:pt idx="16">
                    <c:v>26-05</c:v>
                  </c:pt>
                  <c:pt idx="17">
                    <c:v>26-06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37.5</c:v>
                </c:pt>
                <c:pt idx="1">
                  <c:v>27.3</c:v>
                </c:pt>
                <c:pt idx="2">
                  <c:v>26.5</c:v>
                </c:pt>
                <c:pt idx="3">
                  <c:v>25.4</c:v>
                </c:pt>
                <c:pt idx="4">
                  <c:v>26.2</c:v>
                </c:pt>
                <c:pt idx="5">
                  <c:v>28.4</c:v>
                </c:pt>
                <c:pt idx="6">
                  <c:v>27.2</c:v>
                </c:pt>
                <c:pt idx="7">
                  <c:v>22.1</c:v>
                </c:pt>
                <c:pt idx="8">
                  <c:v>15.9</c:v>
                </c:pt>
                <c:pt idx="9">
                  <c:v>14.4</c:v>
                </c:pt>
                <c:pt idx="10">
                  <c:v>16</c:v>
                </c:pt>
                <c:pt idx="11">
                  <c:v>11</c:v>
                </c:pt>
                <c:pt idx="12">
                  <c:v>3.9</c:v>
                </c:pt>
                <c:pt idx="13">
                  <c:v>2.7</c:v>
                </c:pt>
                <c:pt idx="14">
                  <c:v>3.2</c:v>
                </c:pt>
                <c:pt idx="15">
                  <c:v>3.5</c:v>
                </c:pt>
                <c:pt idx="16">
                  <c:v>1</c:v>
                </c:pt>
                <c:pt idx="17">
                  <c:v>0.2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27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Gate 13%</c:v>
                </c:pt>
              </c:strCache>
            </c:strRef>
          </c:tx>
          <c:spPr>
            <a:solidFill>
              <a:srgbClr val="B3261E"/>
            </a:solidFill>
            <a:ln w="25400" cap="flat">
              <a:solidFill>
                <a:srgbClr val="B3261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7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3261E"/>
              </a:solidFill>
              <a:ln w="9525" cap="flat">
                <a:solidFill>
                  <a:srgbClr val="B3261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25-01</c:v>
                  </c:pt>
                  <c:pt idx="1">
                    <c:v>25-02</c:v>
                  </c:pt>
                  <c:pt idx="2">
                    <c:v>25-03</c:v>
                  </c:pt>
                  <c:pt idx="3">
                    <c:v>25-04</c:v>
                  </c:pt>
                  <c:pt idx="4">
                    <c:v>25-05</c:v>
                  </c:pt>
                  <c:pt idx="5">
                    <c:v>25-06</c:v>
                  </c:pt>
                  <c:pt idx="6">
                    <c:v>25-07</c:v>
                  </c:pt>
                  <c:pt idx="7">
                    <c:v>25-08</c:v>
                  </c:pt>
                  <c:pt idx="8">
                    <c:v>25-09</c:v>
                  </c:pt>
                  <c:pt idx="9">
                    <c:v>25-10</c:v>
                  </c:pt>
                  <c:pt idx="10">
                    <c:v>25-11</c:v>
                  </c:pt>
                  <c:pt idx="11">
                    <c:v>25-12</c:v>
                  </c:pt>
                  <c:pt idx="12">
                    <c:v>26-01</c:v>
                  </c:pt>
                  <c:pt idx="13">
                    <c:v>26-02</c:v>
                  </c:pt>
                  <c:pt idx="14">
                    <c:v>26-03</c:v>
                  </c:pt>
                  <c:pt idx="15">
                    <c:v>26-04</c:v>
                  </c:pt>
                  <c:pt idx="16">
                    <c:v>26-05</c:v>
                  </c:pt>
                  <c:pt idx="17">
                    <c:v>26-06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13</c:v>
                </c:pt>
                <c:pt idx="1">
                  <c:v>13</c:v>
                </c:pt>
                <c:pt idx="2">
                  <c:v>13</c:v>
                </c:pt>
                <c:pt idx="3">
                  <c:v>13</c:v>
                </c:pt>
                <c:pt idx="4">
                  <c:v>13</c:v>
                </c:pt>
                <c:pt idx="5">
                  <c:v>13</c:v>
                </c:pt>
                <c:pt idx="6">
                  <c:v>13</c:v>
                </c:pt>
                <c:pt idx="7">
                  <c:v>13</c:v>
                </c:pt>
                <c:pt idx="8">
                  <c:v>13</c:v>
                </c:pt>
                <c:pt idx="9">
                  <c:v>13</c:v>
                </c:pt>
                <c:pt idx="10">
                  <c:v>13</c:v>
                </c:pt>
                <c:pt idx="11">
                  <c:v>13</c:v>
                </c:pt>
                <c:pt idx="12">
                  <c:v>13</c:v>
                </c:pt>
                <c:pt idx="13">
                  <c:v>13</c:v>
                </c:pt>
                <c:pt idx="14">
                  <c:v>13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27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700000"/>
          <a:lstStyle/>
          <a:p>
            <a:pPr>
              <a:defRPr sz="900" b="0" i="0" u="none" strike="noStrike">
                <a:solidFill>
                  <a:srgbClr val="5B67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77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7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733"/>
                </a:solidFill>
                <a:latin typeface="+mn-lt"/>
              </a:rPr>
              <a:t>Test macro-F1, 2025-07 → 2025-09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macro-F1</c:v>
                </c:pt>
              </c:strCache>
            </c:strRef>
          </c:tx>
          <c:spPr>
            <a:solidFill>
              <a:srgbClr val="2F6F8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Majority class</c:v>
                  </c:pt>
                  <c:pt idx="1">
                    <c:v>Keyword rule</c:v>
                  </c:pt>
                  <c:pt idx="2">
                    <c:v>TF-IDF ensemble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0.088</c:v>
                </c:pt>
                <c:pt idx="1">
                  <c:v>0.38</c:v>
                </c:pt>
                <c:pt idx="2">
                  <c:v>0.633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1C2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8ED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C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0584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011680"/>
            <a:ext cx="7863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Overvie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OVERVIEW  ·  complaint-router  ·  KSE MLOps Lab 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t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DATA  ·  complaint-router  ·  KSE MLOps Lab 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Pip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PIPELINE  ·  complaint-router  ·  KSE MLOps Lab 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Mod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MODEL  ·  complaint-router  ·  KSE MLOps Lab 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Evidenc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EVIDENCE  ·  complaint-router  ·  KSE MLOps Lab 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oodfrog33/kse-mlops-complaint-router/tree/lab-2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oodfrog33/kse-mlops-complaint-router/tree/lab-2" TargetMode="Externa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058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complaint-router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0116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Lab 2: data pipeline, versioning, baseline and MLflow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KSE MLOps · Lab 2 · Zakhar Staryk · </a:t>
            </a:r>
            <a:pPr indent="0" marL="0">
              <a:buNone/>
            </a:pPr>
            <a:r>
              <a:rPr lang="en-US" sz="1200" u="sng" dirty="0">
                <a:solidFill>
                  <a:srgbClr val="9CC3E6"/>
                </a:solidFill>
                <a:hlinkClick r:id="rId1" invalidUrl="" action="" tgtFrame="" tooltip="Repository at tag lab-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github.com/goodfrog33/kse-mlops-complaint-router (tag lab-2)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661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39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41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monthly batches through Airflow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35661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0.633 vs 0.380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3246120" y="4041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macro-F1, model vs rule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35661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0.0000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4041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reproduce difference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At a glance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Data versioned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087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312,000 complaints, 39 months, DVC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MinIO remote + public read-only mirror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Pipeline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087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Airflow 3.3.1, six tasks, one month per run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Reruns leave identical rows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Quality gate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37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Fails on purpose (fault injection)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Fails for real: 2025-12 → 2026-06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Model and lineage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337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TF-IDF ensemble 0.633 vs keyword rule 0.380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MLflow v4 @champion, reproduced exactly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Raw data is versioned with DVC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1206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794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Sample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 monthly CSVs × 8,000 complaints (168 MB)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Drawn by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hash of complaint_id: uniform, byte-identical reruns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Data version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6b6bda8b4c8ece9715a5c9127a47dc8e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Remotes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MinIO s3://dvc · public HTTP mirror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Pull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make data · make data-public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Checksum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872e979f783b101ff87505a5a74b5838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989320" y="914400"/>
            <a:ext cx="269748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0" y="9875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39 CSV files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280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data/raw/ccdb_sample/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333488" y="1572768"/>
            <a:ext cx="0" cy="210312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5989320" y="1783080"/>
            <a:ext cx="269748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126480" y="18562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.dvc file in Git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21488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hash 6b6bda8b…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33488" y="2441448"/>
            <a:ext cx="0" cy="210312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989320" y="2651760"/>
            <a:ext cx="2697480" cy="658368"/>
          </a:xfrm>
          <a:prstGeom prst="roundRect">
            <a:avLst>
              <a:gd name="adj" fmla="val 8333"/>
            </a:avLst>
          </a:prstGeom>
          <a:solidFill>
            <a:srgbClr val="E4EEF3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126480" y="27249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MinIO remote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126480" y="30175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make data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333488" y="3310128"/>
            <a:ext cx="0" cy="210312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989320" y="3520440"/>
            <a:ext cx="2697480" cy="658368"/>
          </a:xfrm>
          <a:prstGeom prst="roundRect">
            <a:avLst>
              <a:gd name="adj" fmla="val 8333"/>
            </a:avLst>
          </a:prstGeom>
          <a:solidFill>
            <a:srgbClr val="E4EEF3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26480" y="3593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Public mirror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126480" y="3886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make data-public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One Airflow run per month, never the clock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88720" cy="54864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extract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645920" y="1417320"/>
            <a:ext cx="210312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1856232" y="1143000"/>
            <a:ext cx="1188720" cy="54864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56232" y="11430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validate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44952" y="1417320"/>
            <a:ext cx="210312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55264" y="1143000"/>
            <a:ext cx="1188720" cy="54864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55264" y="11430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transform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43984" y="1417320"/>
            <a:ext cx="210312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654296" y="1143000"/>
            <a:ext cx="1188720" cy="54864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54296" y="11430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load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43016" y="1417320"/>
            <a:ext cx="210312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053328" y="1143000"/>
            <a:ext cx="1188720" cy="54864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53328" y="11430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build_features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42048" y="1417320"/>
            <a:ext cx="210312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452360" y="1143000"/>
            <a:ext cx="1188720" cy="54864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52360" y="11430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quality_check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011680"/>
            <a:ext cx="260604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08483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Batch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3591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data_interval_start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011680"/>
            <a:ext cx="260604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383280" y="208483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Schedule (@monthly)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23591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CronDataIntervalTimetable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35040" y="2011680"/>
            <a:ext cx="260604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72200" y="208483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Concurrency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23591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 months at once: 39 in 174 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3246120"/>
            <a:ext cx="2606040" cy="868680"/>
          </a:xfrm>
          <a:prstGeom prst="rect">
            <a:avLst/>
          </a:prstGeom>
          <a:solidFill>
            <a:schemeClr val="bg1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raw.complaints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36576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as published, text columns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063240" y="3675888"/>
            <a:ext cx="182880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246120" y="3246120"/>
            <a:ext cx="2606040" cy="868680"/>
          </a:xfrm>
          <a:prstGeom prst="rect">
            <a:avLst/>
          </a:prstGeom>
          <a:solidFill>
            <a:schemeClr val="bg1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55848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dwh.complaints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3355848" y="36576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typed, mapped, PII-masked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852160" y="3675888"/>
            <a:ext cx="182880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035040" y="3246120"/>
            <a:ext cx="2606040" cy="868680"/>
          </a:xfrm>
          <a:prstGeom prst="rect">
            <a:avLst/>
          </a:prstGeom>
          <a:solidFill>
            <a:schemeClr val="bg1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144768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features.complaint_features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6144768" y="36576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feature_version, data_version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PostgreSQL warehouse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Rerunning a month leaves identical rows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24231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22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Run 1 · 2024-06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rows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raw.complaints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8000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dwh.complaints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8000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features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2683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checks passed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63240" y="960120"/>
          <a:ext cx="24231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22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Run 2 · 2024-06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rows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raw.complaints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8000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dwh.complaints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8000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features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2683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checks passed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806440" y="960120"/>
            <a:ext cx="2880360" cy="2286000"/>
          </a:xfrm>
          <a:prstGeom prst="roundRect">
            <a:avLst>
              <a:gd name="adj" fmla="val 2400"/>
            </a:avLst>
          </a:prstGeom>
          <a:solidFill>
            <a:srgbClr val="E4EEF3"/>
          </a:solidFill>
          <a:ln w="9525">
            <a:solidFill>
              <a:srgbClr val="E4EEF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989320" y="1097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Content hash, before and after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989320" y="1417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30048bcc…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5989320" y="2011680"/>
            <a:ext cx="1280160" cy="256032"/>
          </a:xfrm>
          <a:prstGeom prst="roundRect">
            <a:avLst>
              <a:gd name="adj" fmla="val 50000"/>
            </a:avLst>
          </a:prstGeom>
          <a:solidFill>
            <a:srgbClr val="3F7D4E"/>
          </a:solidFill>
          <a:ln w="6350">
            <a:solidFill>
              <a:srgbClr val="3F7D4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89320" y="20116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IDENTICAL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5989320" y="24231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md5 of every feature row of the month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3474720"/>
            <a:ext cx="8229600" cy="10972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Why: every load deletes the month, then inserts it, in one transaction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3931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from &lt;table&gt; where batch_month = %s;  copy &lt;table&gt; from stdin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The quality gate fails when it should</a:t>
            </a:r>
            <a:endParaRPr lang="en-US" sz="2400" dirty="0"/>
          </a:p>
        </p:txBody>
      </p:sp>
      <p:pic>
        <p:nvPicPr>
          <p:cNvPr id="3" name="Image 0" descr="/Users/zakharstaryk/PycharmProjects/kse-mlops-complaint-router/docs/img/quality_gate_fai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4206240" cy="23682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3429000"/>
            <a:ext cx="4206240" cy="1143000"/>
          </a:xfrm>
          <a:prstGeom prst="roundRect">
            <a:avLst>
              <a:gd name="adj" fmla="val 4800"/>
            </a:avLst>
          </a:prstGeom>
          <a:solidFill>
            <a:srgbClr val="FBEDEC"/>
          </a:solidFill>
          <a:ln w="9525">
            <a:solidFill>
              <a:srgbClr val="FBED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3520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On purpose: FAULT=null_narratives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8862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text_share=0 (want &gt;= 0.13); feature_rows=0 (want &gt; 0)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846320" y="868680"/>
          <a:ext cx="39319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Every feature has a serving-time source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49377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82880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Feature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Training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Serving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dwh narrative, clean_text_expr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request, clean_text (tested equal)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submitted_via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CFPB field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request; missing → unknown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CFPB field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request; missing → unknown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company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normalized name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dropped: sources differ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623560" y="914400"/>
            <a:ext cx="3063240" cy="3657600"/>
          </a:xfrm>
          <a:prstGeom prst="roundRect">
            <a:avLst>
              <a:gd name="adj" fmla="val 1791"/>
            </a:avLst>
          </a:prstGeom>
          <a:solidFill>
            <a:srgbClr val="E4EEF3"/>
          </a:solidFill>
          <a:ln w="9525">
            <a:solidFill>
              <a:srgbClr val="E4EEF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06440" y="1051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Feast: point-in-time join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806440" y="1417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Complaint on 2024-07-15; feature rows at 07-01 and 08-01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011680"/>
          <a:ext cx="26974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548640"/>
                <a:gridCol w="640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Company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Got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Later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Acima Credit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Ally Financial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American Express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22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806440" y="3749040"/>
            <a:ext cx="2697480" cy="256032"/>
          </a:xfrm>
          <a:prstGeom prst="roundRect">
            <a:avLst>
              <a:gd name="adj" fmla="val 50000"/>
            </a:avLst>
          </a:prstGeom>
          <a:solidFill>
            <a:srgbClr val="3F7D4E"/>
          </a:solidFill>
          <a:ln w="6350">
            <a:solidFill>
              <a:srgbClr val="3F7D4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806440" y="374904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EARLIER ROW EVERY TIME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5806440" y="41148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feast-demo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The model beats the rule on every split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868680"/>
          <a:ext cx="43891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914400"/>
          <a:ext cx="3657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0058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Backtest month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Rule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2025-07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0.615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0.386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2025-08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0.714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0.381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2025-09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0.618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0.375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mean ± std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0.649 ± 0.046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0.381 ± 0.004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029200" y="3200400"/>
            <a:ext cx="3657600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212080" y="33192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Random split: 0.688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212080" y="368503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+0.055 too optimistic: it trains on months after the test. Time split matches use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Every run carries its data version and commit</a:t>
            </a:r>
            <a:endParaRPr lang="en-US" sz="2400" dirty="0"/>
          </a:p>
        </p:txBody>
      </p:sp>
      <p:pic>
        <p:nvPicPr>
          <p:cNvPr id="3" name="Image 0" descr="/Users/zakharstaryk/PycharmProjects/kse-mlops-complaint-router/docs/img/mlflow_model_champ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120640" cy="2880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806440" y="914400"/>
            <a:ext cx="28803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0" y="1005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Server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280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MLflow 3.16.1 · Postgres backend · MinIO artifacts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806440" y="1901952"/>
            <a:ext cx="28803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0" y="1993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Registered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26771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complaint-router v4 · @champion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806440" y="2889504"/>
            <a:ext cx="28803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0" y="298094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Lineage tags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25526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data_version · git_commit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Rule baselines, backtest folds and the random-split check are logged with the same tags.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One command reproduces the champion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745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1. Read tags from registry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31720" y="1371600"/>
            <a:ext cx="228600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60320" y="1005840"/>
            <a:ext cx="18745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5176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2. git worktree at commit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34840" y="1371600"/>
            <a:ext cx="228600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63440" y="1005840"/>
            <a:ext cx="18745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5488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3. dvc pull + hash check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37960" y="1371600"/>
            <a:ext cx="228600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766560" y="1005840"/>
            <a:ext cx="18745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4. Rebuild features, retrain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057400"/>
            <a:ext cx="8229600" cy="1417320"/>
          </a:xfrm>
          <a:prstGeom prst="rect">
            <a:avLst/>
          </a:prstGeom>
          <a:solidFill>
            <a:srgbClr val="1C2733"/>
          </a:solidFill>
          <a:ln w="6350">
            <a:solidFill>
              <a:srgbClr val="1C27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19456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C9D3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reproduce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 4: commit 5185a3a51b, data 6b6bda8b…, test_macro_f1 0.6325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FD1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registered 0.6325  reproduced 0.6325  |diff| 0.0000  tolerance 0.005  -&gt; OK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</a:rPr>
              <a:t>0.0000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1605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difference on the same platform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36576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0.005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41605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tolerance: BLAS and thread differences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Lab 2 rows of the maturity scorecard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Property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Data versioned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make data-public restores 39 files, checksum 872e979f…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Pipeline idempotent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2024-06 twice: 8000 / 8000 / 2683, same hash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Quality gate present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fault fails quality_check; 2025-12 → 2026-06 fail for real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Experiments tracked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every run: params, metrics, data_version, git_commit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Model registered with lineage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v4 @champion; make reproduce → diff 0.0000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172200" y="914400"/>
            <a:ext cx="2514600" cy="3337560"/>
          </a:xfrm>
          <a:prstGeom prst="roundRect">
            <a:avLst>
              <a:gd name="adj" fmla="val 2182"/>
            </a:avLst>
          </a:prstGeom>
          <a:solidFill>
            <a:srgbClr val="E4EEF3"/>
          </a:solidFill>
          <a:ln w="9525">
            <a:solidFill>
              <a:srgbClr val="E4EEF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Run it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355080" y="141732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setup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data-seed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backfill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train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reproduce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3657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CI: lint, unit and pipeline tests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Repository: </a:t>
            </a:r>
            <a:pPr indent="0" marL="0">
              <a:buNone/>
            </a:pPr>
            <a:r>
              <a:rPr lang="en-US" sz="1200" u="sng" dirty="0">
                <a:solidFill>
                  <a:schemeClr val="accent2"/>
                </a:solidFill>
                <a:hlinkClick r:id="rId1" invalidUrl="" action="" tgtFrame="" tooltip="Repository at tag lab-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github.com/goodfrog33/kse-mlops-complaint-router/tree/lab-2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laint Router">
  <a:themeElements>
    <a:clrScheme name="Complaint Router">
      <a:dk1>
        <a:srgbClr val="1C2733"/>
      </a:dk1>
      <a:lt1>
        <a:srgbClr val="FFFFFF"/>
      </a:lt1>
      <a:dk2>
        <a:srgbClr val="2A3B4D"/>
      </a:dk2>
      <a:lt2>
        <a:srgbClr val="F1F4F7"/>
      </a:lt2>
      <a:accent1>
        <a:srgbClr val="C9741F"/>
      </a:accent1>
      <a:accent2>
        <a:srgbClr val="2F6F8F"/>
      </a:accent2>
      <a:accent3>
        <a:srgbClr val="B3261E"/>
      </a:accent3>
      <a:accent4>
        <a:srgbClr val="3F7D4E"/>
      </a:accent4>
      <a:accent5>
        <a:srgbClr val="6B7785"/>
      </a:accent5>
      <a:accent6>
        <a:srgbClr val="6E5A8C"/>
      </a:accent6>
      <a:hlink>
        <a:srgbClr val="2F6F8F"/>
      </a:hlink>
      <a:folHlink>
        <a:srgbClr val="6E5A8C"/>
      </a:folHlink>
    </a:clrScheme>
    <a:fontScheme name="Complaint Rout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complaint-router: Lab 2 data pipeline, versioning, baseline and MLflow</dc:title>
  <dc:subject>PptxGenJS Presentation</dc:subject>
  <dc:creator>Zakhar Staryk</dc:creator>
  <cp:lastModifiedBy>Zakhar Staryk</cp:lastModifiedBy>
  <cp:revision>1</cp:revision>
  <dcterms:created xsi:type="dcterms:W3CDTF">2026-10-26T14:46:04Z</dcterms:created>
  <dcterms:modified xsi:type="dcterms:W3CDTF">2026-10-26T14:46:04Z</dcterms:modified>
</cp:coreProperties>
</file>